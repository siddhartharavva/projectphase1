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sldIdLst>
    <p:sldId id="298" r:id="rId2"/>
    <p:sldId id="297" r:id="rId3"/>
    <p:sldId id="257" r:id="rId4"/>
    <p:sldId id="259" r:id="rId5"/>
    <p:sldId id="300" r:id="rId6"/>
    <p:sldId id="270" r:id="rId7"/>
    <p:sldId id="295" r:id="rId8"/>
    <p:sldId id="296" r:id="rId9"/>
    <p:sldId id="287" r:id="rId10"/>
    <p:sldId id="289" r:id="rId11"/>
    <p:sldId id="294" r:id="rId12"/>
    <p:sldId id="284" r:id="rId13"/>
    <p:sldId id="264" r:id="rId14"/>
    <p:sldId id="301" r:id="rId15"/>
    <p:sldId id="302" r:id="rId16"/>
    <p:sldId id="303" r:id="rId17"/>
    <p:sldId id="293" r:id="rId1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DA611-AA66-AB74-9241-9E84A2F130C0}" v="68" dt="2026-02-18T11:46:06.550"/>
    <p1510:client id="{0939B5B8-E3CF-16EF-AA2B-E1E16363EC1B}" v="43" dt="2026-02-18T14:22:05.478"/>
    <p1510:client id="{2B04F8EC-0CC4-C4C1-86F6-D6C58D07610F}" v="3" dt="2026-02-18T05:21:53.901"/>
    <p1510:client id="{46641C1E-D412-78A4-3849-07D023CEC302}" v="5" dt="2026-02-18T02:56:38.694"/>
    <p1510:client id="{548B45DF-9C0F-7BF7-FABB-318CE84FCD94}" v="277" dt="2026-02-18T02:57:38.162"/>
    <p1510:client id="{58FAC8E0-94FF-F1EC-29AB-5DE271D24525}" v="8" dt="2026-02-18T01:56:59.629"/>
    <p1510:client id="{5DB6DFB8-DD27-46FF-ACEE-8B87A84BBE9E}" v="314" dt="2026-02-18T15:15:01.995"/>
    <p1510:client id="{631FBC0D-B913-AA67-7454-7D0F146BEA91}" v="15" dt="2026-02-18T06:20:23.134"/>
    <p1510:client id="{69E032E1-EAC8-BED0-8187-62ABD8AFC2D0}" v="10" dt="2026-02-18T05:17:50.182"/>
    <p1510:client id="{7AFC11E9-3455-CB83-B415-8DD431A15168}" v="548" dt="2026-02-18T14:11:58.405"/>
    <p1510:client id="{80FA6CC4-C380-C7D1-FFA0-F6CC1830B4CC}" v="212" dt="2026-02-18T14:19:55.647"/>
    <p1510:client id="{F2D32E85-01F0-F755-750D-1E6D4B5430F7}" v="1" dt="2026-02-18T08:21:40.306"/>
    <p1510:client id="{F7D173BA-42BC-CBC9-D085-4148998014C8}" v="58" dt="2026-02-18T15:17:04.55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Literature </a:t>
          </a:r>
          <a:r>
            <a:rPr lang="en-US" sz="1800">
              <a:solidFill>
                <a:schemeClr val="tx1"/>
              </a:solidFill>
              <a:latin typeface="Helvetica"/>
              <a:cs typeface="Helvetica"/>
            </a:rPr>
            <a:t>Survey</a:t>
          </a:r>
          <a:r>
            <a:rPr lang="en-US" sz="1450">
              <a:solidFill>
                <a:schemeClr val="tx1"/>
              </a:solidFill>
              <a:latin typeface="Helvetica"/>
              <a:cs typeface="Helvetica"/>
            </a:rPr>
            <a:t> </a:t>
          </a:r>
          <a:endParaRPr lang="en-US" sz="1800" dirty="0">
            <a:solidFill>
              <a:schemeClr val="tx1"/>
            </a:solidFill>
            <a:latin typeface="Helvetica"/>
            <a:cs typeface="Helvetica"/>
          </a:endParaRP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/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/>
        </a:p>
      </dgm:t>
    </dgm:pt>
    <dgm:pt modelId="{63672145-F932-0941-9207-6FD21631945F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System Architecture Design </a:t>
          </a:r>
          <a:r>
            <a:rPr lang="en-US" sz="1500">
              <a:solidFill>
                <a:schemeClr val="tx1"/>
              </a:solidFill>
              <a:latin typeface="Helvetica"/>
              <a:cs typeface="Helvetica"/>
            </a:rPr>
            <a:t>Finalization</a:t>
          </a:r>
          <a:endParaRPr lang="en-US" sz="1800" dirty="0">
            <a:solidFill>
              <a:schemeClr val="tx1"/>
            </a:solidFill>
            <a:latin typeface="Helvetica"/>
            <a:cs typeface="Helvetica"/>
          </a:endParaRP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/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/>
        </a:p>
      </dgm:t>
    </dgm:pt>
    <dgm:pt modelId="{26B4761A-8722-154A-9A4E-6B2E8309550C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Abstract </a:t>
          </a:r>
          <a:r>
            <a:rPr lang="en-US" sz="1800">
              <a:solidFill>
                <a:schemeClr val="tx1"/>
              </a:solidFill>
              <a:latin typeface="Helvetica"/>
              <a:cs typeface="Helvetica"/>
            </a:rPr>
            <a:t>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/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/>
        </a:p>
      </dgm:t>
    </dgm:pt>
    <dgm:pt modelId="{F6E18BD8-FA92-46ED-ACE3-508AC7FC1910}">
      <dgm:prSet phldr="0"/>
      <dgm:spPr/>
      <dgm:t>
        <a:bodyPr/>
        <a:lstStyle/>
        <a:p>
          <a:pPr algn="l" rtl="0"/>
          <a:r>
            <a:rPr lang="en-US">
              <a:solidFill>
                <a:schemeClr val="tx1"/>
              </a:solidFill>
            </a:rPr>
            <a:t>Embedding Model Integration and Vector Database </a:t>
          </a:r>
          <a:r>
            <a:rPr lang="en-US" sz="1500">
              <a:solidFill>
                <a:schemeClr val="tx1"/>
              </a:solidFill>
              <a:latin typeface="Helvetica"/>
              <a:cs typeface="Helvetica"/>
            </a:rPr>
            <a:t>Setup</a:t>
          </a:r>
          <a:endParaRPr lang="en-US" sz="1800" dirty="0">
            <a:solidFill>
              <a:schemeClr val="tx1"/>
            </a:solidFill>
            <a:latin typeface="Helvetica"/>
            <a:cs typeface="Helvetica"/>
          </a:endParaRPr>
        </a:p>
      </dgm:t>
    </dgm:pt>
    <dgm:pt modelId="{4C7D9CC6-4D52-4E8D-AF0F-E18BEA8D46B8}" type="parTrans" cxnId="{9980A314-DE29-462A-8497-D94C1234A921}">
      <dgm:prSet/>
      <dgm:spPr/>
    </dgm:pt>
    <dgm:pt modelId="{F765F7F9-2CCF-4B9E-9349-6BB582E43B7F}" type="sibTrans" cxnId="{9980A314-DE29-462A-8497-D94C1234A921}">
      <dgm:prSet/>
      <dgm:spPr/>
    </dgm:pt>
    <dgm:pt modelId="{46042CE0-0782-4FC6-BBB6-3EDFCC574D00}">
      <dgm:prSet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Basic Retrieval Pipeline </a:t>
          </a:r>
          <a:r>
            <a:rPr lang="en-US" sz="1800">
              <a:solidFill>
                <a:schemeClr val="tx1"/>
              </a:solidFill>
              <a:latin typeface="Helvetica"/>
              <a:ea typeface="Calibri"/>
              <a:cs typeface="Helvetica"/>
            </a:rPr>
            <a:t>Implementation</a:t>
          </a:r>
        </a:p>
      </dgm:t>
    </dgm:pt>
    <dgm:pt modelId="{EC5B82EB-CF90-499E-9C53-B4D5111552AB}" type="parTrans" cxnId="{504E4BE6-C3B1-4347-A378-B885F53F9708}">
      <dgm:prSet/>
      <dgm:spPr/>
    </dgm:pt>
    <dgm:pt modelId="{55640279-B007-4BD8-9695-5A35E22BA8FC}" type="sibTrans" cxnId="{504E4BE6-C3B1-4347-A378-B885F53F9708}">
      <dgm:prSet/>
      <dgm:spPr/>
    </dgm:pt>
    <dgm:pt modelId="{2CAC936A-0ED8-4F2D-9624-21963182CA68}">
      <dgm:prSet phldr="0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</a:rPr>
            <a:t>Implementation of </a:t>
          </a:r>
          <a:r>
            <a:rPr lang="en-US" sz="1100" dirty="0">
              <a:solidFill>
                <a:schemeClr val="tx1"/>
              </a:solidFill>
              <a:latin typeface="Calibri"/>
              <a:ea typeface="Calibri"/>
              <a:cs typeface="Calibri"/>
            </a:rPr>
            <a:t>Retrieval Similarity Score </a:t>
          </a:r>
          <a:r>
            <a:rPr lang="en-US" sz="1800" dirty="0">
              <a:solidFill>
                <a:schemeClr val="tx1"/>
              </a:solidFill>
              <a:latin typeface="Helvetica"/>
              <a:cs typeface="Helvetica"/>
            </a:rPr>
            <a:t>and Top-K</a:t>
          </a:r>
          <a:r>
            <a:rPr lang="en-US" sz="1800" dirty="0">
              <a:solidFill>
                <a:schemeClr val="tx1"/>
              </a:solidFill>
            </a:rPr>
            <a:t> Similarity Consistency </a:t>
          </a:r>
          <a:r>
            <a:rPr lang="en-US" sz="1800" dirty="0">
              <a:solidFill>
                <a:schemeClr val="tx1"/>
              </a:solidFill>
              <a:latin typeface="Helvetica"/>
              <a:cs typeface="Helvetica"/>
            </a:rPr>
            <a:t>Signal</a:t>
          </a:r>
        </a:p>
      </dgm:t>
    </dgm:pt>
    <dgm:pt modelId="{ED661815-8DD0-4943-BCEE-94BC93832497}" type="parTrans" cxnId="{0D5FBDCB-17DD-41FA-8573-E287EB5980FD}">
      <dgm:prSet/>
      <dgm:spPr/>
    </dgm:pt>
    <dgm:pt modelId="{B6729776-ED2F-4B13-BC86-165E653FD919}" type="sibTrans" cxnId="{0D5FBDCB-17DD-41FA-8573-E287EB5980FD}">
      <dgm:prSet/>
      <dgm:spPr/>
    </dgm:pt>
    <dgm:pt modelId="{89CB4FE3-00B2-4166-8A31-F74F7A035A1C}">
      <dgm:prSet phldr="0"/>
      <dgm:spPr/>
      <dgm:t>
        <a:bodyPr/>
        <a:lstStyle/>
        <a:p>
          <a:pPr algn="l" rtl="0"/>
          <a:r>
            <a:rPr lang="en-US" sz="1800" dirty="0">
              <a:solidFill>
                <a:schemeClr val="tx1"/>
              </a:solidFill>
            </a:rPr>
            <a:t>Implementation of Retrieval Agreement </a:t>
          </a:r>
          <a:r>
            <a:rPr lang="en-US" sz="1800" dirty="0">
              <a:solidFill>
                <a:schemeClr val="tx1"/>
              </a:solidFill>
              <a:latin typeface="Helvetica"/>
              <a:cs typeface="Helvetica"/>
            </a:rPr>
            <a:t>Signal</a:t>
          </a:r>
        </a:p>
      </dgm:t>
    </dgm:pt>
    <dgm:pt modelId="{C6A856DE-DF6E-4F25-A130-2504BAF7EB3E}" type="parTrans" cxnId="{A210AE16-2A00-4E94-8BB2-4455D4FAA1A7}">
      <dgm:prSet/>
      <dgm:spPr/>
    </dgm:pt>
    <dgm:pt modelId="{04C8E9C1-D36A-4CCF-B36A-43A5892617B8}" type="sibTrans" cxnId="{A210AE16-2A00-4E94-8BB2-4455D4FAA1A7}">
      <dgm:prSet/>
      <dgm:spPr/>
    </dgm:pt>
    <dgm:pt modelId="{532C9419-89A5-47D1-B7B0-C4FA210283E4}">
      <dgm:prSet phldr="0"/>
      <dgm:spPr/>
      <dgm:t>
        <a:bodyPr/>
        <a:lstStyle/>
        <a:p>
          <a:r>
            <a:rPr lang="en-US" sz="1400" dirty="0">
              <a:solidFill>
                <a:schemeClr val="tx1"/>
              </a:solidFill>
              <a:latin typeface="Helvetica"/>
              <a:cs typeface="Helvetica"/>
            </a:rPr>
            <a:t>15/4/2026</a:t>
          </a:r>
          <a:endParaRPr lang="en-GB" sz="1400" dirty="0">
            <a:solidFill>
              <a:schemeClr val="tx1"/>
            </a:solidFill>
          </a:endParaRPr>
        </a:p>
      </dgm:t>
    </dgm:pt>
    <dgm:pt modelId="{08673F42-A13B-40F2-80EB-66ED5D0834F5}" type="parTrans" cxnId="{58F12CC4-C432-4374-8095-B2434D5BDC57}">
      <dgm:prSet/>
      <dgm:spPr/>
    </dgm:pt>
    <dgm:pt modelId="{29AF4AA1-D2EA-4044-B3EA-8C7121CBFE99}" type="sibTrans" cxnId="{58F12CC4-C432-4374-8095-B2434D5BDC57}">
      <dgm:prSet/>
      <dgm:spPr/>
    </dgm:pt>
    <dgm:pt modelId="{7DE5C05D-6AF7-490A-B4DB-7057CA292C6B}">
      <dgm:prSet phldr="0"/>
      <dgm:spPr/>
      <dgm:t>
        <a:bodyPr/>
        <a:lstStyle/>
        <a:p>
          <a:r>
            <a:rPr lang="en-US" sz="1100">
              <a:solidFill>
                <a:schemeClr val="tx1"/>
              </a:solidFill>
              <a:latin typeface="Calibri"/>
              <a:ea typeface="Calibri"/>
              <a:cs typeface="Calibri"/>
            </a:rPr>
            <a:t>5/4/2026</a:t>
          </a:r>
          <a:endParaRPr lang="en-GB">
            <a:solidFill>
              <a:schemeClr val="tx1"/>
            </a:solidFill>
          </a:endParaRPr>
        </a:p>
      </dgm:t>
    </dgm:pt>
    <dgm:pt modelId="{FC5FA83A-C143-4D38-A334-002FCF0CC8A7}" type="parTrans" cxnId="{512F078C-DA12-4A9B-B722-DAA8A1D3BE5F}">
      <dgm:prSet/>
      <dgm:spPr/>
    </dgm:pt>
    <dgm:pt modelId="{DBD9CF94-AC1F-483A-BDE4-EF8DD31C1214}" type="sibTrans" cxnId="{512F078C-DA12-4A9B-B722-DAA8A1D3BE5F}">
      <dgm:prSet/>
      <dgm:spPr/>
    </dgm:pt>
    <dgm:pt modelId="{E018A755-8949-4F9A-B0D2-F0833215D239}">
      <dgm:prSet phldr="0"/>
      <dgm:spPr/>
      <dgm:t>
        <a:bodyPr/>
        <a:lstStyle/>
        <a:p>
          <a:r>
            <a:rPr lang="en-US" sz="1000">
              <a:solidFill>
                <a:schemeClr val="tx1"/>
              </a:solidFill>
              <a:latin typeface="Helvetica"/>
              <a:cs typeface="Helvetica"/>
            </a:rPr>
            <a:t>5/2/2026</a:t>
          </a:r>
          <a:endParaRPr lang="en-GB">
            <a:solidFill>
              <a:schemeClr val="tx1"/>
            </a:solidFill>
          </a:endParaRPr>
        </a:p>
      </dgm:t>
    </dgm:pt>
    <dgm:pt modelId="{6C75584D-59F0-438B-A6D4-699EEB014950}" type="parTrans" cxnId="{9B825CD5-BE19-46AD-B923-D8A26773D268}">
      <dgm:prSet/>
      <dgm:spPr/>
    </dgm:pt>
    <dgm:pt modelId="{39190DB5-F71D-4655-9230-5C7976B9970C}" type="sibTrans" cxnId="{9B825CD5-BE19-46AD-B923-D8A26773D268}">
      <dgm:prSet/>
      <dgm:spPr/>
    </dgm:pt>
    <dgm:pt modelId="{8428BAD4-D090-45FA-9E12-7D0C472CF3DA}">
      <dgm:prSet phldr="0"/>
      <dgm:spPr/>
      <dgm:t>
        <a:bodyPr/>
        <a:lstStyle/>
        <a:p>
          <a:r>
            <a:rPr lang="en-US" sz="1100">
              <a:solidFill>
                <a:schemeClr val="tx1"/>
              </a:solidFill>
              <a:latin typeface="Helvetica"/>
              <a:cs typeface="Helvetica"/>
            </a:rPr>
            <a:t>20/3/2026</a:t>
          </a:r>
          <a:endParaRPr lang="en-GB" sz="1100">
            <a:solidFill>
              <a:schemeClr val="tx1"/>
            </a:solidFill>
          </a:endParaRPr>
        </a:p>
      </dgm:t>
    </dgm:pt>
    <dgm:pt modelId="{3FF03E71-42CF-459D-B816-3B0259B11A97}" type="parTrans" cxnId="{D29EFF02-102D-4FEF-8F95-91B4E03611E6}">
      <dgm:prSet/>
      <dgm:spPr/>
    </dgm:pt>
    <dgm:pt modelId="{A066A0C6-CBA4-4AC8-B32D-A9FFDB871821}" type="sibTrans" cxnId="{D29EFF02-102D-4FEF-8F95-91B4E03611E6}">
      <dgm:prSet/>
      <dgm:spPr/>
    </dgm:pt>
    <dgm:pt modelId="{1AA56DC0-CD0E-4990-A3F8-FA3178065B2D}">
      <dgm:prSet phldr="0"/>
      <dgm:spPr/>
      <dgm:t>
        <a:bodyPr/>
        <a:lstStyle/>
        <a:p>
          <a:r>
            <a:rPr lang="en-US" sz="1100">
              <a:solidFill>
                <a:schemeClr val="tx1"/>
              </a:solidFill>
              <a:latin typeface="Helvetica"/>
              <a:cs typeface="Helvetica"/>
            </a:rPr>
            <a:t>5/3/2026</a:t>
          </a:r>
          <a:endParaRPr lang="en-US" sz="1100">
            <a:solidFill>
              <a:schemeClr val="tx1"/>
            </a:solidFill>
          </a:endParaRPr>
        </a:p>
      </dgm:t>
    </dgm:pt>
    <dgm:pt modelId="{52D28680-9F5F-46EA-BCF4-D2E7DF3F07D0}" type="parTrans" cxnId="{A84120ED-7040-4482-9EF8-450BFDE9E848}">
      <dgm:prSet/>
      <dgm:spPr/>
    </dgm:pt>
    <dgm:pt modelId="{8A3102EA-A5CB-49FA-A919-BFE3775AA2D5}" type="sibTrans" cxnId="{A84120ED-7040-4482-9EF8-450BFDE9E848}">
      <dgm:prSet/>
      <dgm:spPr/>
    </dgm:pt>
    <dgm:pt modelId="{8F53A4FE-C5A3-4C33-AF06-6AF74E6DBC4E}">
      <dgm:prSet phldr="0"/>
      <dgm:spPr/>
      <dgm:t>
        <a:bodyPr/>
        <a:lstStyle/>
        <a:p>
          <a:r>
            <a:rPr lang="en-US" sz="1050">
              <a:solidFill>
                <a:schemeClr val="tx1"/>
              </a:solidFill>
              <a:latin typeface="Helvetica"/>
              <a:cs typeface="Helvetica"/>
            </a:rPr>
            <a:t>17/2/2026</a:t>
          </a:r>
          <a:endParaRPr lang="en-GB" sz="1050">
            <a:solidFill>
              <a:schemeClr val="tx1"/>
            </a:solidFill>
          </a:endParaRPr>
        </a:p>
      </dgm:t>
    </dgm:pt>
    <dgm:pt modelId="{2EA8E022-C9A2-4C0F-B890-CD1AE9377D8D}" type="parTrans" cxnId="{08327375-54EA-41F9-B9BC-1C67D10AB60A}">
      <dgm:prSet/>
      <dgm:spPr/>
    </dgm:pt>
    <dgm:pt modelId="{D2E08E89-3629-4521-BC63-47B2156AC0AF}" type="sibTrans" cxnId="{08327375-54EA-41F9-B9BC-1C67D10AB60A}">
      <dgm:prSet/>
      <dgm:spPr/>
    </dgm:pt>
    <dgm:pt modelId="{772914AD-E1CA-4B7C-A6C8-D10AF805CABC}">
      <dgm:prSet phldr="0"/>
      <dgm:spPr/>
      <dgm:t>
        <a:bodyPr/>
        <a:lstStyle/>
        <a:p>
          <a:r>
            <a:rPr lang="en-US" sz="1400" dirty="0">
              <a:solidFill>
                <a:schemeClr val="tx1"/>
              </a:solidFill>
              <a:latin typeface="Helvetica"/>
              <a:cs typeface="Helvetica"/>
            </a:rPr>
            <a:t>30/4/2026</a:t>
          </a:r>
          <a:endParaRPr lang="en-GB" sz="1400" dirty="0">
            <a:solidFill>
              <a:schemeClr val="tx1"/>
            </a:solidFill>
          </a:endParaRPr>
        </a:p>
      </dgm:t>
    </dgm:pt>
    <dgm:pt modelId="{201AC4F2-14EF-4EAA-B31F-E1A16A423E30}" type="parTrans" cxnId="{C93F75B6-BBF3-4FA0-A2CF-6B3E82D6E103}">
      <dgm:prSet/>
      <dgm:spPr/>
    </dgm:pt>
    <dgm:pt modelId="{C96A918B-6664-4CC3-8718-85CE2BB5C463}" type="sibTrans" cxnId="{C93F75B6-BBF3-4FA0-A2CF-6B3E82D6E103}">
      <dgm:prSet/>
      <dgm:spPr/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6"/>
      <dgm:spPr/>
    </dgm:pt>
    <dgm:pt modelId="{1A27501D-E342-BE40-9448-5C65451E51A0}" type="pres">
      <dgm:prSet presAssocID="{26B4761A-8722-154A-9A4E-6B2E8309550C}" presName="ParentText" presStyleLbl="node1" presStyleIdx="0" presStyleCnt="7">
        <dgm:presLayoutVars>
          <dgm:chMax val="1"/>
          <dgm:chPref val="1"/>
          <dgm:bulletEnabled val="1"/>
        </dgm:presLayoutVars>
      </dgm:prSet>
      <dgm:spPr/>
    </dgm:pt>
    <dgm:pt modelId="{13263DF5-F771-E44D-A3A6-7359AB5A694B}" type="pres">
      <dgm:prSet presAssocID="{26B4761A-8722-154A-9A4E-6B2E8309550C}" presName="ChildText" presStyleLbl="revTx" presStyleIdx="0" presStyleCnt="7" custScaleX="199197" custLinFactNeighborX="55604" custLinFactNeighborY="-1554">
        <dgm:presLayoutVars>
          <dgm:chMax val="0"/>
          <dgm:chPref val="0"/>
          <dgm:bulletEnabled val="1"/>
        </dgm:presLayoutVars>
      </dgm:prSet>
      <dgm:spPr/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6"/>
      <dgm:spPr/>
    </dgm:pt>
    <dgm:pt modelId="{7176A5BC-3282-044F-8AE1-17BEE6013828}" type="pres">
      <dgm:prSet presAssocID="{16F9E631-8BA3-154F-A6E6-07CA57FBC2DB}" presName="ParentText" presStyleLbl="node1" presStyleIdx="1" presStyleCnt="7">
        <dgm:presLayoutVars>
          <dgm:chMax val="1"/>
          <dgm:chPref val="1"/>
          <dgm:bulletEnabled val="1"/>
        </dgm:presLayoutVars>
      </dgm:prSet>
      <dgm:spPr/>
    </dgm:pt>
    <dgm:pt modelId="{849E87F9-77C2-E148-A125-B75B32BAE82F}" type="pres">
      <dgm:prSet presAssocID="{16F9E631-8BA3-154F-A6E6-07CA57FBC2DB}" presName="ChildText" presStyleLbl="revTx" presStyleIdx="1" presStyleCnt="7" custScaleX="244962" custLinFactNeighborX="71475" custLinFactNeighborY="-1554">
        <dgm:presLayoutVars>
          <dgm:chMax val="0"/>
          <dgm:chPref val="0"/>
          <dgm:bulletEnabled val="1"/>
        </dgm:presLayoutVars>
      </dgm:prSet>
      <dgm:spPr/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6"/>
      <dgm:spPr/>
    </dgm:pt>
    <dgm:pt modelId="{8AD4400A-F79C-8A4B-829B-0D720ED8FB8C}" type="pres">
      <dgm:prSet presAssocID="{63672145-F932-0941-9207-6FD21631945F}" presName="ParentText" presStyleLbl="node1" presStyleIdx="2" presStyleCnt="7">
        <dgm:presLayoutVars>
          <dgm:chMax val="1"/>
          <dgm:chPref val="1"/>
          <dgm:bulletEnabled val="1"/>
        </dgm:presLayoutVars>
      </dgm:prSet>
      <dgm:spPr/>
    </dgm:pt>
    <dgm:pt modelId="{383D977E-49FE-154D-8370-6E0B15881094}" type="pres">
      <dgm:prSet presAssocID="{63672145-F932-0941-9207-6FD21631945F}" presName="ChildText" presStyleLbl="revTx" presStyleIdx="2" presStyleCnt="7" custScaleX="223363" custLinFactNeighborX="61177">
        <dgm:presLayoutVars>
          <dgm:chMax val="0"/>
          <dgm:chPref val="0"/>
          <dgm:bulletEnabled val="1"/>
        </dgm:presLayoutVars>
      </dgm:prSet>
      <dgm:spPr/>
    </dgm:pt>
    <dgm:pt modelId="{51D4CC9D-D22F-A045-9B1F-02AFD777BA4F}" type="pres">
      <dgm:prSet presAssocID="{EE4E87B9-A6F7-D040-A8C9-2B94C61F8F15}" presName="sibTrans" presStyleCnt="0"/>
      <dgm:spPr/>
    </dgm:pt>
    <dgm:pt modelId="{125B8518-D3E2-4DD3-815B-459E6072CB6F}" type="pres">
      <dgm:prSet presAssocID="{F6E18BD8-FA92-46ED-ACE3-508AC7FC1910}" presName="composite" presStyleCnt="0"/>
      <dgm:spPr/>
    </dgm:pt>
    <dgm:pt modelId="{D01766D3-B8AC-40AE-A9BF-B1F1216958C4}" type="pres">
      <dgm:prSet presAssocID="{F6E18BD8-FA92-46ED-ACE3-508AC7FC1910}" presName="bentUpArrow1" presStyleLbl="alignImgPlace1" presStyleIdx="3" presStyleCnt="6"/>
      <dgm:spPr/>
    </dgm:pt>
    <dgm:pt modelId="{FAC4AA9C-9692-4E9D-93B9-26FF72E25C8B}" type="pres">
      <dgm:prSet presAssocID="{F6E18BD8-FA92-46ED-ACE3-508AC7FC1910}" presName="ParentText" presStyleLbl="node1" presStyleIdx="3" presStyleCnt="7">
        <dgm:presLayoutVars>
          <dgm:chMax val="1"/>
          <dgm:chPref val="1"/>
          <dgm:bulletEnabled val="1"/>
        </dgm:presLayoutVars>
      </dgm:prSet>
      <dgm:spPr/>
    </dgm:pt>
    <dgm:pt modelId="{140E9372-6C7F-491F-A95F-1C11ACEDA75F}" type="pres">
      <dgm:prSet presAssocID="{F6E18BD8-FA92-46ED-ACE3-508AC7FC1910}" presName="Child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E4AA6643-0BF6-4558-A18B-4F78D85F8F52}" type="pres">
      <dgm:prSet presAssocID="{F765F7F9-2CCF-4B9E-9349-6BB582E43B7F}" presName="sibTrans" presStyleCnt="0"/>
      <dgm:spPr/>
    </dgm:pt>
    <dgm:pt modelId="{D021219F-AF05-4B80-8185-A9D4D3F8B89A}" type="pres">
      <dgm:prSet presAssocID="{46042CE0-0782-4FC6-BBB6-3EDFCC574D00}" presName="composite" presStyleCnt="0"/>
      <dgm:spPr/>
    </dgm:pt>
    <dgm:pt modelId="{71D10C85-0479-4DA5-BD0B-CDD2941D500C}" type="pres">
      <dgm:prSet presAssocID="{46042CE0-0782-4FC6-BBB6-3EDFCC574D00}" presName="bentUpArrow1" presStyleLbl="alignImgPlace1" presStyleIdx="4" presStyleCnt="6"/>
      <dgm:spPr/>
    </dgm:pt>
    <dgm:pt modelId="{4C8C4C14-C4B8-4834-ADB6-B761027E1862}" type="pres">
      <dgm:prSet presAssocID="{46042CE0-0782-4FC6-BBB6-3EDFCC574D00}" presName="ParentText" presStyleLbl="node1" presStyleIdx="4" presStyleCnt="7">
        <dgm:presLayoutVars>
          <dgm:chMax val="1"/>
          <dgm:chPref val="1"/>
          <dgm:bulletEnabled val="1"/>
        </dgm:presLayoutVars>
      </dgm:prSet>
      <dgm:spPr/>
    </dgm:pt>
    <dgm:pt modelId="{7AECE551-01D5-4D58-A415-A2352AA814AE}" type="pres">
      <dgm:prSet presAssocID="{46042CE0-0782-4FC6-BBB6-3EDFCC574D00}" presName="Child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B232D52B-AEA3-4C23-855B-6DF4C4BD1F98}" type="pres">
      <dgm:prSet presAssocID="{55640279-B007-4BD8-9695-5A35E22BA8FC}" presName="sibTrans" presStyleCnt="0"/>
      <dgm:spPr/>
    </dgm:pt>
    <dgm:pt modelId="{5F9A87F9-2E18-4013-9707-3326A27C1816}" type="pres">
      <dgm:prSet presAssocID="{2CAC936A-0ED8-4F2D-9624-21963182CA68}" presName="composite" presStyleCnt="0"/>
      <dgm:spPr/>
    </dgm:pt>
    <dgm:pt modelId="{B663201F-E2E5-46E4-A17A-0D64F3AC7217}" type="pres">
      <dgm:prSet presAssocID="{2CAC936A-0ED8-4F2D-9624-21963182CA68}" presName="bentUpArrow1" presStyleLbl="alignImgPlace1" presStyleIdx="5" presStyleCnt="6"/>
      <dgm:spPr/>
    </dgm:pt>
    <dgm:pt modelId="{C6CAC55B-0D3A-4D17-A868-EF875A9F0C24}" type="pres">
      <dgm:prSet presAssocID="{2CAC936A-0ED8-4F2D-9624-21963182CA68}" presName="ParentText" presStyleLbl="node1" presStyleIdx="5" presStyleCnt="7">
        <dgm:presLayoutVars>
          <dgm:chMax val="1"/>
          <dgm:chPref val="1"/>
          <dgm:bulletEnabled val="1"/>
        </dgm:presLayoutVars>
      </dgm:prSet>
      <dgm:spPr/>
    </dgm:pt>
    <dgm:pt modelId="{5161BC2F-79DB-4DF9-B23A-9D77B90BEC0D}" type="pres">
      <dgm:prSet presAssocID="{2CAC936A-0ED8-4F2D-9624-21963182CA68}" presName="Child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4CBA3B00-8187-4976-97A3-1414324C061E}" type="pres">
      <dgm:prSet presAssocID="{B6729776-ED2F-4B13-BC86-165E653FD919}" presName="sibTrans" presStyleCnt="0"/>
      <dgm:spPr/>
    </dgm:pt>
    <dgm:pt modelId="{1B3E25CC-407C-4A22-8D65-FFF948CE37BE}" type="pres">
      <dgm:prSet presAssocID="{89CB4FE3-00B2-4166-8A31-F74F7A035A1C}" presName="composite" presStyleCnt="0"/>
      <dgm:spPr/>
    </dgm:pt>
    <dgm:pt modelId="{0B192962-F126-4105-9DE7-3F76F6985362}" type="pres">
      <dgm:prSet presAssocID="{89CB4FE3-00B2-4166-8A31-F74F7A035A1C}" presName="ParentText" presStyleLbl="node1" presStyleIdx="6" presStyleCnt="7">
        <dgm:presLayoutVars>
          <dgm:chMax val="1"/>
          <dgm:chPref val="1"/>
          <dgm:bulletEnabled val="1"/>
        </dgm:presLayoutVars>
      </dgm:prSet>
      <dgm:spPr/>
    </dgm:pt>
    <dgm:pt modelId="{5142CE3B-4F36-4DB7-ADF8-E30C7FE5A55C}" type="pres">
      <dgm:prSet presAssocID="{89CB4FE3-00B2-4166-8A31-F74F7A035A1C}" presName="FinalChild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9664DD01-71DA-426D-A877-8B26C141AE46}" type="presOf" srcId="{1AA56DC0-CD0E-4990-A3F8-FA3178065B2D}" destId="{383D977E-49FE-154D-8370-6E0B15881094}" srcOrd="0" destOrd="0" presId="urn:microsoft.com/office/officeart/2005/8/layout/StepDownProcess"/>
    <dgm:cxn modelId="{D29EFF02-102D-4FEF-8F95-91B4E03611E6}" srcId="{F6E18BD8-FA92-46ED-ACE3-508AC7FC1910}" destId="{8428BAD4-D090-45FA-9E12-7D0C472CF3DA}" srcOrd="0" destOrd="0" parTransId="{3FF03E71-42CF-459D-B816-3B0259B11A97}" sibTransId="{A066A0C6-CBA4-4AC8-B32D-A9FFDB871821}"/>
    <dgm:cxn modelId="{85175305-CBA6-42DE-B929-7F3A8BBF5984}" type="presOf" srcId="{46042CE0-0782-4FC6-BBB6-3EDFCC574D00}" destId="{4C8C4C14-C4B8-4834-ADB6-B761027E1862}" srcOrd="0" destOrd="0" presId="urn:microsoft.com/office/officeart/2005/8/layout/StepDownProcess"/>
    <dgm:cxn modelId="{9980A314-DE29-462A-8497-D94C1234A921}" srcId="{92AF2611-4B58-ED43-AC9F-B952F610F406}" destId="{F6E18BD8-FA92-46ED-ACE3-508AC7FC1910}" srcOrd="3" destOrd="0" parTransId="{4C7D9CC6-4D52-4E8D-AF0F-E18BEA8D46B8}" sibTransId="{F765F7F9-2CCF-4B9E-9349-6BB582E43B7F}"/>
    <dgm:cxn modelId="{6920D014-50D8-47A9-8714-3719D2EE4F8F}" type="presOf" srcId="{16F9E631-8BA3-154F-A6E6-07CA57FBC2DB}" destId="{7176A5BC-3282-044F-8AE1-17BEE6013828}" srcOrd="0" destOrd="0" presId="urn:microsoft.com/office/officeart/2005/8/layout/StepDownProcess"/>
    <dgm:cxn modelId="{A210AE16-2A00-4E94-8BB2-4455D4FAA1A7}" srcId="{92AF2611-4B58-ED43-AC9F-B952F610F406}" destId="{89CB4FE3-00B2-4166-8A31-F74F7A035A1C}" srcOrd="6" destOrd="0" parTransId="{C6A856DE-DF6E-4F25-A130-2504BAF7EB3E}" sibTransId="{04C8E9C1-D36A-4CCF-B36A-43A5892617B8}"/>
    <dgm:cxn modelId="{52390A18-37D1-4A65-B1D1-BDB386DA2A41}" type="presOf" srcId="{F6E18BD8-FA92-46ED-ACE3-508AC7FC1910}" destId="{FAC4AA9C-9692-4E9D-93B9-26FF72E25C8B}" srcOrd="0" destOrd="0" presId="urn:microsoft.com/office/officeart/2005/8/layout/StepDownProcess"/>
    <dgm:cxn modelId="{5AB1E41B-0BFB-4E84-BEDC-7DD19A0762D6}" type="presOf" srcId="{772914AD-E1CA-4B7C-A6C8-D10AF805CABC}" destId="{5142CE3B-4F36-4DB7-ADF8-E30C7FE5A55C}" srcOrd="0" destOrd="0" presId="urn:microsoft.com/office/officeart/2005/8/layout/StepDownProcess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33E20055-74B2-4EF7-8D28-2EA6D4C2FFBC}" type="presOf" srcId="{8F53A4FE-C5A3-4C33-AF06-6AF74E6DBC4E}" destId="{849E87F9-77C2-E148-A125-B75B32BAE82F}" srcOrd="0" destOrd="0" presId="urn:microsoft.com/office/officeart/2005/8/layout/StepDownProcess"/>
    <dgm:cxn modelId="{7D0FA06F-E777-4B71-A3D0-D3BBD0FDD086}" type="presOf" srcId="{E018A755-8949-4F9A-B0D2-F0833215D239}" destId="{13263DF5-F771-E44D-A3A6-7359AB5A694B}" srcOrd="0" destOrd="0" presId="urn:microsoft.com/office/officeart/2005/8/layout/StepDownProcess"/>
    <dgm:cxn modelId="{08327375-54EA-41F9-B9BC-1C67D10AB60A}" srcId="{16F9E631-8BA3-154F-A6E6-07CA57FBC2DB}" destId="{8F53A4FE-C5A3-4C33-AF06-6AF74E6DBC4E}" srcOrd="0" destOrd="0" parTransId="{2EA8E022-C9A2-4C0F-B890-CD1AE9377D8D}" sibTransId="{D2E08E89-3629-4521-BC63-47B2156AC0AF}"/>
    <dgm:cxn modelId="{1B2A8B79-1A2C-43BC-B7AB-FE10354E6E74}" type="presOf" srcId="{7DE5C05D-6AF7-490A-B4DB-7057CA292C6B}" destId="{7AECE551-01D5-4D58-A415-A2352AA814AE}" srcOrd="0" destOrd="0" presId="urn:microsoft.com/office/officeart/2005/8/layout/StepDownProcess"/>
    <dgm:cxn modelId="{59D5F782-4478-430A-B101-2AB081A3D8AC}" type="presOf" srcId="{26B4761A-8722-154A-9A4E-6B2E8309550C}" destId="{1A27501D-E342-BE40-9448-5C65451E51A0}" srcOrd="0" destOrd="0" presId="urn:microsoft.com/office/officeart/2005/8/layout/StepDownProcess"/>
    <dgm:cxn modelId="{512F078C-DA12-4A9B-B722-DAA8A1D3BE5F}" srcId="{46042CE0-0782-4FC6-BBB6-3EDFCC574D00}" destId="{7DE5C05D-6AF7-490A-B4DB-7057CA292C6B}" srcOrd="0" destOrd="0" parTransId="{FC5FA83A-C143-4D38-A334-002FCF0CC8A7}" sibTransId="{DBD9CF94-AC1F-483A-BDE4-EF8DD31C1214}"/>
    <dgm:cxn modelId="{C93F75B6-BBF3-4FA0-A2CF-6B3E82D6E103}" srcId="{89CB4FE3-00B2-4166-8A31-F74F7A035A1C}" destId="{772914AD-E1CA-4B7C-A6C8-D10AF805CABC}" srcOrd="0" destOrd="0" parTransId="{201AC4F2-14EF-4EAA-B31F-E1A16A423E30}" sibTransId="{C96A918B-6664-4CC3-8718-85CE2BB5C463}"/>
    <dgm:cxn modelId="{D7089DB7-03A0-4778-B865-60EE586F4732}" type="presOf" srcId="{8428BAD4-D090-45FA-9E12-7D0C472CF3DA}" destId="{140E9372-6C7F-491F-A95F-1C11ACEDA75F}" srcOrd="0" destOrd="0" presId="urn:microsoft.com/office/officeart/2005/8/layout/StepDownProcess"/>
    <dgm:cxn modelId="{76E4B1BB-A7F1-4438-887B-3EDD6250C83F}" type="presOf" srcId="{89CB4FE3-00B2-4166-8A31-F74F7A035A1C}" destId="{0B192962-F126-4105-9DE7-3F76F6985362}" srcOrd="0" destOrd="0" presId="urn:microsoft.com/office/officeart/2005/8/layout/StepDownProcess"/>
    <dgm:cxn modelId="{B39CDFBB-454E-48E1-8AFF-FB6D47CE2F2D}" type="presOf" srcId="{532C9419-89A5-47D1-B7B0-C4FA210283E4}" destId="{5161BC2F-79DB-4DF9-B23A-9D77B90BEC0D}" srcOrd="0" destOrd="0" presId="urn:microsoft.com/office/officeart/2005/8/layout/StepDownProcess"/>
    <dgm:cxn modelId="{58F12CC4-C432-4374-8095-B2434D5BDC57}" srcId="{2CAC936A-0ED8-4F2D-9624-21963182CA68}" destId="{532C9419-89A5-47D1-B7B0-C4FA210283E4}" srcOrd="0" destOrd="0" parTransId="{08673F42-A13B-40F2-80EB-66ED5D0834F5}" sibTransId="{29AF4AA1-D2EA-4044-B3EA-8C7121CBFE99}"/>
    <dgm:cxn modelId="{ED80CDC4-FBE8-47B7-93BD-E0E640B9D494}" type="presOf" srcId="{2CAC936A-0ED8-4F2D-9624-21963182CA68}" destId="{C6CAC55B-0D3A-4D17-A868-EF875A9F0C24}" srcOrd="0" destOrd="0" presId="urn:microsoft.com/office/officeart/2005/8/layout/StepDownProcess"/>
    <dgm:cxn modelId="{0D5FBDCB-17DD-41FA-8573-E287EB5980FD}" srcId="{92AF2611-4B58-ED43-AC9F-B952F610F406}" destId="{2CAC936A-0ED8-4F2D-9624-21963182CA68}" srcOrd="5" destOrd="0" parTransId="{ED661815-8DD0-4943-BCEE-94BC93832497}" sibTransId="{B6729776-ED2F-4B13-BC86-165E653FD919}"/>
    <dgm:cxn modelId="{9B825CD5-BE19-46AD-B923-D8A26773D268}" srcId="{26B4761A-8722-154A-9A4E-6B2E8309550C}" destId="{E018A755-8949-4F9A-B0D2-F0833215D239}" srcOrd="0" destOrd="0" parTransId="{6C75584D-59F0-438B-A6D4-699EEB014950}" sibTransId="{39190DB5-F71D-4655-9230-5C7976B9970C}"/>
    <dgm:cxn modelId="{468C22D9-9496-41F2-8E8B-D6AEE23D48CC}" type="presOf" srcId="{63672145-F932-0941-9207-6FD21631945F}" destId="{8AD4400A-F79C-8A4B-829B-0D720ED8FB8C}" srcOrd="0" destOrd="0" presId="urn:microsoft.com/office/officeart/2005/8/layout/StepDownProcess"/>
    <dgm:cxn modelId="{504E4BE6-C3B1-4347-A378-B885F53F9708}" srcId="{92AF2611-4B58-ED43-AC9F-B952F610F406}" destId="{46042CE0-0782-4FC6-BBB6-3EDFCC574D00}" srcOrd="4" destOrd="0" parTransId="{EC5B82EB-CF90-499E-9C53-B4D5111552AB}" sibTransId="{55640279-B007-4BD8-9695-5A35E22BA8FC}"/>
    <dgm:cxn modelId="{A84120ED-7040-4482-9EF8-450BFDE9E848}" srcId="{63672145-F932-0941-9207-6FD21631945F}" destId="{1AA56DC0-CD0E-4990-A3F8-FA3178065B2D}" srcOrd="0" destOrd="0" parTransId="{52D28680-9F5F-46EA-BCF4-D2E7DF3F07D0}" sibTransId="{8A3102EA-A5CB-49FA-A919-BFE3775AA2D5}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2933E92A-CB2C-46DA-B352-D4F36BCE19BC}" type="presParOf" srcId="{49E2B0A6-6F15-3D4D-BF88-D0B2483CB55B}" destId="{E975EE4B-D42E-E84D-8A4A-2906A98D9890}" srcOrd="0" destOrd="0" presId="urn:microsoft.com/office/officeart/2005/8/layout/StepDownProcess"/>
    <dgm:cxn modelId="{26B34808-210A-4EE9-9D22-F0E1B0387060}" type="presParOf" srcId="{E975EE4B-D42E-E84D-8A4A-2906A98D9890}" destId="{FC8198D2-B811-F543-848D-08253013A363}" srcOrd="0" destOrd="0" presId="urn:microsoft.com/office/officeart/2005/8/layout/StepDownProcess"/>
    <dgm:cxn modelId="{68DEC3CC-F8D8-4906-9489-7D863CFE3F52}" type="presParOf" srcId="{E975EE4B-D42E-E84D-8A4A-2906A98D9890}" destId="{1A27501D-E342-BE40-9448-5C65451E51A0}" srcOrd="1" destOrd="0" presId="urn:microsoft.com/office/officeart/2005/8/layout/StepDownProcess"/>
    <dgm:cxn modelId="{4B855089-776A-4A68-887F-DB9C1A7E7774}" type="presParOf" srcId="{E975EE4B-D42E-E84D-8A4A-2906A98D9890}" destId="{13263DF5-F771-E44D-A3A6-7359AB5A694B}" srcOrd="2" destOrd="0" presId="urn:microsoft.com/office/officeart/2005/8/layout/StepDownProcess"/>
    <dgm:cxn modelId="{18CA2B38-B424-4DE3-9CB0-AEC45AC0DE73}" type="presParOf" srcId="{49E2B0A6-6F15-3D4D-BF88-D0B2483CB55B}" destId="{1405AD88-5681-5740-8B0F-785D5C4C54E3}" srcOrd="1" destOrd="0" presId="urn:microsoft.com/office/officeart/2005/8/layout/StepDownProcess"/>
    <dgm:cxn modelId="{62ABBE9B-1AB9-408F-AE2F-064F98B4C3B1}" type="presParOf" srcId="{49E2B0A6-6F15-3D4D-BF88-D0B2483CB55B}" destId="{876C9C10-85C7-794D-BECA-7E6B3040BD5B}" srcOrd="2" destOrd="0" presId="urn:microsoft.com/office/officeart/2005/8/layout/StepDownProcess"/>
    <dgm:cxn modelId="{B6E95B09-A2A3-4D75-A230-3A951A69D90B}" type="presParOf" srcId="{876C9C10-85C7-794D-BECA-7E6B3040BD5B}" destId="{7249723C-E4C0-8E4E-9876-FECBD8EB4088}" srcOrd="0" destOrd="0" presId="urn:microsoft.com/office/officeart/2005/8/layout/StepDownProcess"/>
    <dgm:cxn modelId="{9C042237-A3D8-429B-B4AD-CC1D1B5E1301}" type="presParOf" srcId="{876C9C10-85C7-794D-BECA-7E6B3040BD5B}" destId="{7176A5BC-3282-044F-8AE1-17BEE6013828}" srcOrd="1" destOrd="0" presId="urn:microsoft.com/office/officeart/2005/8/layout/StepDownProcess"/>
    <dgm:cxn modelId="{535105DE-A7E6-4E6F-8377-B3D1025E8F7B}" type="presParOf" srcId="{876C9C10-85C7-794D-BECA-7E6B3040BD5B}" destId="{849E87F9-77C2-E148-A125-B75B32BAE82F}" srcOrd="2" destOrd="0" presId="urn:microsoft.com/office/officeart/2005/8/layout/StepDownProcess"/>
    <dgm:cxn modelId="{5FE6E8BE-D118-4F18-B4C6-4BCD8CC14680}" type="presParOf" srcId="{49E2B0A6-6F15-3D4D-BF88-D0B2483CB55B}" destId="{A7334212-A42F-5947-B178-28EE2431D98C}" srcOrd="3" destOrd="0" presId="urn:microsoft.com/office/officeart/2005/8/layout/StepDownProcess"/>
    <dgm:cxn modelId="{7D3305C5-66C0-41DD-8771-30282CBB7217}" type="presParOf" srcId="{49E2B0A6-6F15-3D4D-BF88-D0B2483CB55B}" destId="{797595AA-82E7-9A45-818A-CBFC19FC01B4}" srcOrd="4" destOrd="0" presId="urn:microsoft.com/office/officeart/2005/8/layout/StepDownProcess"/>
    <dgm:cxn modelId="{EC00BD9F-FDE3-4F6D-893F-00F4F2AE1DE4}" type="presParOf" srcId="{797595AA-82E7-9A45-818A-CBFC19FC01B4}" destId="{582A57C3-E208-4C4D-8464-8F41E2B621E9}" srcOrd="0" destOrd="0" presId="urn:microsoft.com/office/officeart/2005/8/layout/StepDownProcess"/>
    <dgm:cxn modelId="{383B12D3-E3F5-4639-97BC-4831C11D41C7}" type="presParOf" srcId="{797595AA-82E7-9A45-818A-CBFC19FC01B4}" destId="{8AD4400A-F79C-8A4B-829B-0D720ED8FB8C}" srcOrd="1" destOrd="0" presId="urn:microsoft.com/office/officeart/2005/8/layout/StepDownProcess"/>
    <dgm:cxn modelId="{0FDE1ECB-DCBF-4CB1-A7E0-8970826B3A01}" type="presParOf" srcId="{797595AA-82E7-9A45-818A-CBFC19FC01B4}" destId="{383D977E-49FE-154D-8370-6E0B15881094}" srcOrd="2" destOrd="0" presId="urn:microsoft.com/office/officeart/2005/8/layout/StepDownProcess"/>
    <dgm:cxn modelId="{0CA8C124-C339-491C-8DBF-817E32508B64}" type="presParOf" srcId="{49E2B0A6-6F15-3D4D-BF88-D0B2483CB55B}" destId="{51D4CC9D-D22F-A045-9B1F-02AFD777BA4F}" srcOrd="5" destOrd="0" presId="urn:microsoft.com/office/officeart/2005/8/layout/StepDownProcess"/>
    <dgm:cxn modelId="{D5C063DA-1FE7-4853-841F-2F5A97AB14CC}" type="presParOf" srcId="{49E2B0A6-6F15-3D4D-BF88-D0B2483CB55B}" destId="{125B8518-D3E2-4DD3-815B-459E6072CB6F}" srcOrd="6" destOrd="0" presId="urn:microsoft.com/office/officeart/2005/8/layout/StepDownProcess"/>
    <dgm:cxn modelId="{FEAFBF19-D651-4327-955D-9E453440308B}" type="presParOf" srcId="{125B8518-D3E2-4DD3-815B-459E6072CB6F}" destId="{D01766D3-B8AC-40AE-A9BF-B1F1216958C4}" srcOrd="0" destOrd="0" presId="urn:microsoft.com/office/officeart/2005/8/layout/StepDownProcess"/>
    <dgm:cxn modelId="{F3C9E784-4769-4AC3-9CB3-A0A1CE61278B}" type="presParOf" srcId="{125B8518-D3E2-4DD3-815B-459E6072CB6F}" destId="{FAC4AA9C-9692-4E9D-93B9-26FF72E25C8B}" srcOrd="1" destOrd="0" presId="urn:microsoft.com/office/officeart/2005/8/layout/StepDownProcess"/>
    <dgm:cxn modelId="{DA449D78-AF19-459B-9BA0-31D62230DE97}" type="presParOf" srcId="{125B8518-D3E2-4DD3-815B-459E6072CB6F}" destId="{140E9372-6C7F-491F-A95F-1C11ACEDA75F}" srcOrd="2" destOrd="0" presId="urn:microsoft.com/office/officeart/2005/8/layout/StepDownProcess"/>
    <dgm:cxn modelId="{C4F2C153-69CD-48D5-A2CF-F79C4DD4D423}" type="presParOf" srcId="{49E2B0A6-6F15-3D4D-BF88-D0B2483CB55B}" destId="{E4AA6643-0BF6-4558-A18B-4F78D85F8F52}" srcOrd="7" destOrd="0" presId="urn:microsoft.com/office/officeart/2005/8/layout/StepDownProcess"/>
    <dgm:cxn modelId="{B2EE21AA-E7F3-4183-AFAC-2F13D7226112}" type="presParOf" srcId="{49E2B0A6-6F15-3D4D-BF88-D0B2483CB55B}" destId="{D021219F-AF05-4B80-8185-A9D4D3F8B89A}" srcOrd="8" destOrd="0" presId="urn:microsoft.com/office/officeart/2005/8/layout/StepDownProcess"/>
    <dgm:cxn modelId="{A65E7663-FE17-4F24-B214-B094E0E7A31E}" type="presParOf" srcId="{D021219F-AF05-4B80-8185-A9D4D3F8B89A}" destId="{71D10C85-0479-4DA5-BD0B-CDD2941D500C}" srcOrd="0" destOrd="0" presId="urn:microsoft.com/office/officeart/2005/8/layout/StepDownProcess"/>
    <dgm:cxn modelId="{735DCB48-D7AF-4D1C-8A3F-DD98EF0798FD}" type="presParOf" srcId="{D021219F-AF05-4B80-8185-A9D4D3F8B89A}" destId="{4C8C4C14-C4B8-4834-ADB6-B761027E1862}" srcOrd="1" destOrd="0" presId="urn:microsoft.com/office/officeart/2005/8/layout/StepDownProcess"/>
    <dgm:cxn modelId="{590ED988-27F9-44C7-A398-E080EA92B703}" type="presParOf" srcId="{D021219F-AF05-4B80-8185-A9D4D3F8B89A}" destId="{7AECE551-01D5-4D58-A415-A2352AA814AE}" srcOrd="2" destOrd="0" presId="urn:microsoft.com/office/officeart/2005/8/layout/StepDownProcess"/>
    <dgm:cxn modelId="{3800D427-E636-4C87-BAEF-5BDD29673F31}" type="presParOf" srcId="{49E2B0A6-6F15-3D4D-BF88-D0B2483CB55B}" destId="{B232D52B-AEA3-4C23-855B-6DF4C4BD1F98}" srcOrd="9" destOrd="0" presId="urn:microsoft.com/office/officeart/2005/8/layout/StepDownProcess"/>
    <dgm:cxn modelId="{372B86F4-FAC2-4899-AD37-6B6F5FDEDAD2}" type="presParOf" srcId="{49E2B0A6-6F15-3D4D-BF88-D0B2483CB55B}" destId="{5F9A87F9-2E18-4013-9707-3326A27C1816}" srcOrd="10" destOrd="0" presId="urn:microsoft.com/office/officeart/2005/8/layout/StepDownProcess"/>
    <dgm:cxn modelId="{A3BA70C8-779B-4C1E-84AE-6EF52FA17AB6}" type="presParOf" srcId="{5F9A87F9-2E18-4013-9707-3326A27C1816}" destId="{B663201F-E2E5-46E4-A17A-0D64F3AC7217}" srcOrd="0" destOrd="0" presId="urn:microsoft.com/office/officeart/2005/8/layout/StepDownProcess"/>
    <dgm:cxn modelId="{0B1ACDF6-7EA7-4774-9896-F96EE6DC5887}" type="presParOf" srcId="{5F9A87F9-2E18-4013-9707-3326A27C1816}" destId="{C6CAC55B-0D3A-4D17-A868-EF875A9F0C24}" srcOrd="1" destOrd="0" presId="urn:microsoft.com/office/officeart/2005/8/layout/StepDownProcess"/>
    <dgm:cxn modelId="{59054450-3595-4CCA-9B53-1E2379FD2338}" type="presParOf" srcId="{5F9A87F9-2E18-4013-9707-3326A27C1816}" destId="{5161BC2F-79DB-4DF9-B23A-9D77B90BEC0D}" srcOrd="2" destOrd="0" presId="urn:microsoft.com/office/officeart/2005/8/layout/StepDownProcess"/>
    <dgm:cxn modelId="{7E83DAE3-1B82-4F22-AB83-0D786A731A51}" type="presParOf" srcId="{49E2B0A6-6F15-3D4D-BF88-D0B2483CB55B}" destId="{4CBA3B00-8187-4976-97A3-1414324C061E}" srcOrd="11" destOrd="0" presId="urn:microsoft.com/office/officeart/2005/8/layout/StepDownProcess"/>
    <dgm:cxn modelId="{46FFD028-7ED1-469F-84C5-5F6716B55B94}" type="presParOf" srcId="{49E2B0A6-6F15-3D4D-BF88-D0B2483CB55B}" destId="{1B3E25CC-407C-4A22-8D65-FFF948CE37BE}" srcOrd="12" destOrd="0" presId="urn:microsoft.com/office/officeart/2005/8/layout/StepDownProcess"/>
    <dgm:cxn modelId="{C87CC13D-FF7D-4F0F-B6B6-2683FD69059B}" type="presParOf" srcId="{1B3E25CC-407C-4A22-8D65-FFF948CE37BE}" destId="{0B192962-F126-4105-9DE7-3F76F6985362}" srcOrd="0" destOrd="0" presId="urn:microsoft.com/office/officeart/2005/8/layout/StepDownProcess"/>
    <dgm:cxn modelId="{3BC0E612-4906-4F34-9C4B-1E253684A754}" type="presParOf" srcId="{1B3E25CC-407C-4A22-8D65-FFF948CE37BE}" destId="{5142CE3B-4F36-4DB7-ADF8-E30C7FE5A55C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163281" y="60778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1026208" y="34265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>
              <a:solidFill>
                <a:schemeClr val="tx1"/>
              </a:solidFill>
            </a:rPr>
            <a:t>Abstract </a:t>
          </a:r>
          <a:r>
            <a:rPr lang="en-US" sz="700" kern="1200">
              <a:solidFill>
                <a:schemeClr val="tx1"/>
              </a:solidFill>
              <a:latin typeface="Helvetica"/>
              <a:cs typeface="Helvetica"/>
            </a:rPr>
            <a:t>Submission</a:t>
          </a:r>
        </a:p>
      </dsp:txBody>
      <dsp:txXfrm>
        <a:off x="1055974" y="64031"/>
        <a:ext cx="811426" cy="550110"/>
      </dsp:txXfrm>
    </dsp:sp>
    <dsp:sp modelId="{13263DF5-F771-E44D-A3A6-7359AB5A694B}">
      <dsp:nvSpPr>
        <dsp:cNvPr id="0" name=""/>
        <dsp:cNvSpPr/>
      </dsp:nvSpPr>
      <dsp:spPr>
        <a:xfrm>
          <a:off x="1935208" y="84751"/>
          <a:ext cx="1261817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>
              <a:solidFill>
                <a:schemeClr val="tx1"/>
              </a:solidFill>
              <a:latin typeface="Helvetica"/>
              <a:cs typeface="Helvetica"/>
            </a:rPr>
            <a:t>5/2/2026</a:t>
          </a:r>
          <a:endParaRPr lang="en-GB" sz="500" kern="1200">
            <a:solidFill>
              <a:schemeClr val="tx1"/>
            </a:solidFill>
          </a:endParaRPr>
        </a:p>
      </dsp:txBody>
      <dsp:txXfrm>
        <a:off x="1935208" y="84751"/>
        <a:ext cx="1261817" cy="492740"/>
      </dsp:txXfrm>
    </dsp:sp>
    <dsp:sp modelId="{7249723C-E4C0-8E4E-9876-FECBD8EB4088}">
      <dsp:nvSpPr>
        <dsp:cNvPr id="0" name=""/>
        <dsp:cNvSpPr/>
      </dsp:nvSpPr>
      <dsp:spPr>
        <a:xfrm rot="5400000">
          <a:off x="2036206" y="129261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1899133" y="71909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>
              <a:solidFill>
                <a:schemeClr val="tx1"/>
              </a:solidFill>
            </a:rPr>
            <a:t>Literature </a:t>
          </a:r>
          <a:r>
            <a:rPr lang="en-US" sz="700" kern="1200">
              <a:solidFill>
                <a:schemeClr val="tx1"/>
              </a:solidFill>
              <a:latin typeface="Helvetica"/>
              <a:cs typeface="Helvetica"/>
            </a:rPr>
            <a:t>Survey </a:t>
          </a:r>
          <a:endParaRPr lang="en-US" sz="700" kern="1200" dirty="0">
            <a:solidFill>
              <a:schemeClr val="tx1"/>
            </a:solidFill>
            <a:latin typeface="Helvetica"/>
            <a:cs typeface="Helvetica"/>
          </a:endParaRPr>
        </a:p>
      </dsp:txBody>
      <dsp:txXfrm>
        <a:off x="1928899" y="748860"/>
        <a:ext cx="811426" cy="550110"/>
      </dsp:txXfrm>
    </dsp:sp>
    <dsp:sp modelId="{849E87F9-77C2-E148-A125-B75B32BAE82F}">
      <dsp:nvSpPr>
        <dsp:cNvPr id="0" name=""/>
        <dsp:cNvSpPr/>
      </dsp:nvSpPr>
      <dsp:spPr>
        <a:xfrm>
          <a:off x="2763718" y="769581"/>
          <a:ext cx="1551717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>
              <a:solidFill>
                <a:schemeClr val="tx1"/>
              </a:solidFill>
              <a:latin typeface="Helvetica"/>
              <a:cs typeface="Helvetica"/>
            </a:rPr>
            <a:t>17/2/2026</a:t>
          </a:r>
          <a:endParaRPr lang="en-GB" sz="500" kern="1200">
            <a:solidFill>
              <a:schemeClr val="tx1"/>
            </a:solidFill>
          </a:endParaRPr>
        </a:p>
      </dsp:txBody>
      <dsp:txXfrm>
        <a:off x="2763718" y="769581"/>
        <a:ext cx="1551717" cy="492740"/>
      </dsp:txXfrm>
    </dsp:sp>
    <dsp:sp modelId="{582A57C3-E208-4C4D-8464-8F41E2B621E9}">
      <dsp:nvSpPr>
        <dsp:cNvPr id="0" name=""/>
        <dsp:cNvSpPr/>
      </dsp:nvSpPr>
      <dsp:spPr>
        <a:xfrm rot="5400000">
          <a:off x="2909131" y="197744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2772057" y="140392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>
              <a:solidFill>
                <a:schemeClr val="tx1"/>
              </a:solidFill>
            </a:rPr>
            <a:t>System Architecture Design </a:t>
          </a:r>
          <a:r>
            <a:rPr lang="en-US" sz="700" kern="1200">
              <a:solidFill>
                <a:schemeClr val="tx1"/>
              </a:solidFill>
              <a:latin typeface="Helvetica"/>
              <a:cs typeface="Helvetica"/>
            </a:rPr>
            <a:t>Finalization</a:t>
          </a:r>
          <a:endParaRPr lang="en-US" sz="700" kern="1200" dirty="0">
            <a:solidFill>
              <a:schemeClr val="tx1"/>
            </a:solidFill>
            <a:latin typeface="Helvetica"/>
            <a:cs typeface="Helvetica"/>
          </a:endParaRPr>
        </a:p>
      </dsp:txBody>
      <dsp:txXfrm>
        <a:off x="2801823" y="1433690"/>
        <a:ext cx="811426" cy="550110"/>
      </dsp:txXfrm>
    </dsp:sp>
    <dsp:sp modelId="{383D977E-49FE-154D-8370-6E0B15881094}">
      <dsp:nvSpPr>
        <dsp:cNvPr id="0" name=""/>
        <dsp:cNvSpPr/>
      </dsp:nvSpPr>
      <dsp:spPr>
        <a:xfrm>
          <a:off x="3639820" y="1462068"/>
          <a:ext cx="1414897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>
              <a:solidFill>
                <a:schemeClr val="tx1"/>
              </a:solidFill>
              <a:latin typeface="Helvetica"/>
              <a:cs typeface="Helvetica"/>
            </a:rPr>
            <a:t>5/3/2026</a:t>
          </a:r>
          <a:endParaRPr lang="en-US" sz="500" kern="1200">
            <a:solidFill>
              <a:schemeClr val="tx1"/>
            </a:solidFill>
          </a:endParaRPr>
        </a:p>
      </dsp:txBody>
      <dsp:txXfrm>
        <a:off x="3639820" y="1462068"/>
        <a:ext cx="1414897" cy="492740"/>
      </dsp:txXfrm>
    </dsp:sp>
    <dsp:sp modelId="{D01766D3-B8AC-40AE-A9BF-B1F1216958C4}">
      <dsp:nvSpPr>
        <dsp:cNvPr id="0" name=""/>
        <dsp:cNvSpPr/>
      </dsp:nvSpPr>
      <dsp:spPr>
        <a:xfrm rot="5400000">
          <a:off x="3782056" y="266227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4AA9C-9692-4E9D-93B9-26FF72E25C8B}">
      <dsp:nvSpPr>
        <dsp:cNvPr id="0" name=""/>
        <dsp:cNvSpPr/>
      </dsp:nvSpPr>
      <dsp:spPr>
        <a:xfrm>
          <a:off x="3644982" y="208875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>
              <a:solidFill>
                <a:schemeClr val="tx1"/>
              </a:solidFill>
            </a:rPr>
            <a:t>Embedding Model Integration and Vector Database </a:t>
          </a:r>
          <a:r>
            <a:rPr lang="en-US" sz="700" kern="1200">
              <a:solidFill>
                <a:schemeClr val="tx1"/>
              </a:solidFill>
              <a:latin typeface="Helvetica"/>
              <a:cs typeface="Helvetica"/>
            </a:rPr>
            <a:t>Setup</a:t>
          </a:r>
          <a:endParaRPr lang="en-US" sz="700" kern="1200" dirty="0">
            <a:solidFill>
              <a:schemeClr val="tx1"/>
            </a:solidFill>
            <a:latin typeface="Helvetica"/>
            <a:cs typeface="Helvetica"/>
          </a:endParaRPr>
        </a:p>
      </dsp:txBody>
      <dsp:txXfrm>
        <a:off x="3674748" y="2118520"/>
        <a:ext cx="811426" cy="550110"/>
      </dsp:txXfrm>
    </dsp:sp>
    <dsp:sp modelId="{140E9372-6C7F-491F-A95F-1C11ACEDA75F}">
      <dsp:nvSpPr>
        <dsp:cNvPr id="0" name=""/>
        <dsp:cNvSpPr/>
      </dsp:nvSpPr>
      <dsp:spPr>
        <a:xfrm>
          <a:off x="4515941" y="2146898"/>
          <a:ext cx="633452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>
              <a:solidFill>
                <a:schemeClr val="tx1"/>
              </a:solidFill>
              <a:latin typeface="Helvetica"/>
              <a:cs typeface="Helvetica"/>
            </a:rPr>
            <a:t>20/3/2026</a:t>
          </a:r>
          <a:endParaRPr lang="en-GB" sz="500" kern="1200">
            <a:solidFill>
              <a:schemeClr val="tx1"/>
            </a:solidFill>
          </a:endParaRPr>
        </a:p>
      </dsp:txBody>
      <dsp:txXfrm>
        <a:off x="4515941" y="2146898"/>
        <a:ext cx="633452" cy="492740"/>
      </dsp:txXfrm>
    </dsp:sp>
    <dsp:sp modelId="{71D10C85-0479-4DA5-BD0B-CDD2941D500C}">
      <dsp:nvSpPr>
        <dsp:cNvPr id="0" name=""/>
        <dsp:cNvSpPr/>
      </dsp:nvSpPr>
      <dsp:spPr>
        <a:xfrm rot="5400000">
          <a:off x="4654981" y="334710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C4C14-C4B8-4834-ADB6-B761027E1862}">
      <dsp:nvSpPr>
        <dsp:cNvPr id="0" name=""/>
        <dsp:cNvSpPr/>
      </dsp:nvSpPr>
      <dsp:spPr>
        <a:xfrm>
          <a:off x="4517907" y="277358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>
              <a:solidFill>
                <a:schemeClr val="tx1"/>
              </a:solidFill>
            </a:rPr>
            <a:t>Basic Retrieval Pipeline </a:t>
          </a:r>
          <a:r>
            <a:rPr lang="en-US" sz="700" kern="1200">
              <a:solidFill>
                <a:schemeClr val="tx1"/>
              </a:solidFill>
              <a:latin typeface="Helvetica"/>
              <a:ea typeface="Calibri"/>
              <a:cs typeface="Helvetica"/>
            </a:rPr>
            <a:t>Implementation</a:t>
          </a:r>
        </a:p>
      </dsp:txBody>
      <dsp:txXfrm>
        <a:off x="4547673" y="2803350"/>
        <a:ext cx="811426" cy="550110"/>
      </dsp:txXfrm>
    </dsp:sp>
    <dsp:sp modelId="{7AECE551-01D5-4D58-A415-A2352AA814AE}">
      <dsp:nvSpPr>
        <dsp:cNvPr id="0" name=""/>
        <dsp:cNvSpPr/>
      </dsp:nvSpPr>
      <dsp:spPr>
        <a:xfrm>
          <a:off x="5388865" y="2831727"/>
          <a:ext cx="633452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>
              <a:solidFill>
                <a:schemeClr val="tx1"/>
              </a:solidFill>
              <a:latin typeface="Calibri"/>
              <a:ea typeface="Calibri"/>
              <a:cs typeface="Calibri"/>
            </a:rPr>
            <a:t>5/4/2026</a:t>
          </a:r>
          <a:endParaRPr lang="en-GB" sz="500" kern="1200">
            <a:solidFill>
              <a:schemeClr val="tx1"/>
            </a:solidFill>
          </a:endParaRPr>
        </a:p>
      </dsp:txBody>
      <dsp:txXfrm>
        <a:off x="5388865" y="2831727"/>
        <a:ext cx="633452" cy="492740"/>
      </dsp:txXfrm>
    </dsp:sp>
    <dsp:sp modelId="{B663201F-E2E5-46E4-A17A-0D64F3AC7217}">
      <dsp:nvSpPr>
        <dsp:cNvPr id="0" name=""/>
        <dsp:cNvSpPr/>
      </dsp:nvSpPr>
      <dsp:spPr>
        <a:xfrm rot="5400000">
          <a:off x="5527905" y="4031937"/>
          <a:ext cx="517377" cy="5890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AC55B-0D3A-4D17-A868-EF875A9F0C24}">
      <dsp:nvSpPr>
        <dsp:cNvPr id="0" name=""/>
        <dsp:cNvSpPr/>
      </dsp:nvSpPr>
      <dsp:spPr>
        <a:xfrm>
          <a:off x="5390832" y="345841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Implementation of </a:t>
          </a:r>
          <a:r>
            <a:rPr lang="en-US" sz="7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Retrieval Similarity Score </a:t>
          </a:r>
          <a:r>
            <a:rPr lang="en-US" sz="700" kern="1200" dirty="0">
              <a:solidFill>
                <a:schemeClr val="tx1"/>
              </a:solidFill>
              <a:latin typeface="Helvetica"/>
              <a:cs typeface="Helvetica"/>
            </a:rPr>
            <a:t>and Top-K</a:t>
          </a:r>
          <a:r>
            <a:rPr lang="en-US" sz="700" kern="1200" dirty="0">
              <a:solidFill>
                <a:schemeClr val="tx1"/>
              </a:solidFill>
            </a:rPr>
            <a:t> Similarity Consistency </a:t>
          </a:r>
          <a:r>
            <a:rPr lang="en-US" sz="700" kern="1200" dirty="0">
              <a:solidFill>
                <a:schemeClr val="tx1"/>
              </a:solidFill>
              <a:latin typeface="Helvetica"/>
              <a:cs typeface="Helvetica"/>
            </a:rPr>
            <a:t>Signal</a:t>
          </a:r>
        </a:p>
      </dsp:txBody>
      <dsp:txXfrm>
        <a:off x="5420598" y="3488180"/>
        <a:ext cx="811426" cy="550110"/>
      </dsp:txXfrm>
    </dsp:sp>
    <dsp:sp modelId="{5161BC2F-79DB-4DF9-B23A-9D77B90BEC0D}">
      <dsp:nvSpPr>
        <dsp:cNvPr id="0" name=""/>
        <dsp:cNvSpPr/>
      </dsp:nvSpPr>
      <dsp:spPr>
        <a:xfrm>
          <a:off x="6261790" y="3516557"/>
          <a:ext cx="633452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>
              <a:solidFill>
                <a:schemeClr val="tx1"/>
              </a:solidFill>
              <a:latin typeface="Helvetica"/>
              <a:cs typeface="Helvetica"/>
            </a:rPr>
            <a:t>15/4/2026</a:t>
          </a:r>
          <a:endParaRPr lang="en-GB" sz="500" kern="1200" dirty="0">
            <a:solidFill>
              <a:schemeClr val="tx1"/>
            </a:solidFill>
          </a:endParaRPr>
        </a:p>
      </dsp:txBody>
      <dsp:txXfrm>
        <a:off x="6261790" y="3516557"/>
        <a:ext cx="633452" cy="492740"/>
      </dsp:txXfrm>
    </dsp:sp>
    <dsp:sp modelId="{0B192962-F126-4105-9DE7-3F76F6985362}">
      <dsp:nvSpPr>
        <dsp:cNvPr id="0" name=""/>
        <dsp:cNvSpPr/>
      </dsp:nvSpPr>
      <dsp:spPr>
        <a:xfrm>
          <a:off x="6263757" y="4143244"/>
          <a:ext cx="870958" cy="60964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Implementation of Retrieval Agreement </a:t>
          </a:r>
          <a:r>
            <a:rPr lang="en-US" sz="700" kern="1200" dirty="0">
              <a:solidFill>
                <a:schemeClr val="tx1"/>
              </a:solidFill>
              <a:latin typeface="Helvetica"/>
              <a:cs typeface="Helvetica"/>
            </a:rPr>
            <a:t>Signal</a:t>
          </a:r>
        </a:p>
      </dsp:txBody>
      <dsp:txXfrm>
        <a:off x="6293523" y="4173010"/>
        <a:ext cx="811426" cy="550110"/>
      </dsp:txXfrm>
    </dsp:sp>
    <dsp:sp modelId="{5142CE3B-4F36-4DB7-ADF8-E30C7FE5A55C}">
      <dsp:nvSpPr>
        <dsp:cNvPr id="0" name=""/>
        <dsp:cNvSpPr/>
      </dsp:nvSpPr>
      <dsp:spPr>
        <a:xfrm>
          <a:off x="7134715" y="4201387"/>
          <a:ext cx="633452" cy="492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solidFill>
                <a:schemeClr val="tx1"/>
              </a:solidFill>
              <a:latin typeface="Helvetica"/>
              <a:cs typeface="Helvetica"/>
            </a:rPr>
            <a:t>30/4/2026</a:t>
          </a:r>
          <a:endParaRPr lang="en-GB" sz="800" kern="1200" dirty="0">
            <a:solidFill>
              <a:schemeClr val="tx1"/>
            </a:solidFill>
          </a:endParaRPr>
        </a:p>
      </dsp:txBody>
      <dsp:txXfrm>
        <a:off x="7134715" y="4201387"/>
        <a:ext cx="633452" cy="492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cs.washington.edu/triviaqa/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600" b="1"/>
              <a:t>Failure-Aware and Confidence-Calibrated Adaptive Retrieval-Augmented Generation System</a:t>
            </a:r>
            <a:br>
              <a:rPr lang="en-GB" sz="2600"/>
            </a:br>
            <a:r>
              <a:rPr lang="en-GB" sz="1800"/>
              <a:t>23CSE399 Project Phase 1 – Approval Presentation</a:t>
            </a:r>
            <a:br>
              <a:rPr lang="en-GB" sz="2600"/>
            </a:br>
            <a:br>
              <a:rPr lang="en-GB" sz="2600"/>
            </a:br>
            <a:r>
              <a:rPr lang="en-GB" sz="1800"/>
              <a:t>Team ID: 23UG031			Panel No.:20 </a:t>
            </a:r>
            <a:endParaRPr lang="en-GB" sz="2600" b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1701571754"/>
              </p:ext>
            </p:extLst>
          </p:nvPr>
        </p:nvGraphicFramePr>
        <p:xfrm>
          <a:off x="582654" y="3311645"/>
          <a:ext cx="7983372" cy="18730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</a:t>
                      </a: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EN.U4CSE23246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Siddhartha </a:t>
                      </a: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Ravva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BL.EN.U4CSE23206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Aman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Aggarwal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Harsh Vardhan Singh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U4CSE23043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Pratyush Swain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332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0638" y="5591102"/>
            <a:ext cx="482328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/>
              <a:t>Project </a:t>
            </a:r>
            <a:r>
              <a:rPr lang="en-US" sz="1800" b="1" err="1"/>
              <a:t>Guide:Dr</a:t>
            </a:r>
            <a:r>
              <a:rPr lang="en-US" sz="1800" b="1"/>
              <a:t>. </a:t>
            </a:r>
            <a:r>
              <a:rPr lang="en-US" sz="1800" b="1" err="1"/>
              <a:t>Sajitha</a:t>
            </a:r>
            <a:r>
              <a:rPr lang="en-US" sz="1800" b="1"/>
              <a:t> Krishnan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/>
              <a:t>	         Assistant Professor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158" y="2101627"/>
            <a:ext cx="8229600" cy="1508126"/>
          </a:xfrm>
        </p:spPr>
        <p:txBody>
          <a:bodyPr/>
          <a:lstStyle/>
          <a:p>
            <a:r>
              <a:rPr lang="en-IN"/>
              <a:t>Screenshot of your guides’ approval mail (to go ahead with the presentation)</a:t>
            </a:r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32122" y="952335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/>
              <a:t> Definition</a:t>
            </a:r>
            <a:endParaRPr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47E06-8B13-DD77-C1FA-027C139A91C1}"/>
              </a:ext>
            </a:extLst>
          </p:cNvPr>
          <p:cNvSpPr txBox="1"/>
          <p:nvPr/>
        </p:nvSpPr>
        <p:spPr>
          <a:xfrm>
            <a:off x="835572" y="2026642"/>
            <a:ext cx="7467600" cy="35548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500"/>
              <a:t>Retrieval-Augmented Generation (RAG) enhances the quality of responses by retrieving relevant documents from external sources based on the similarity of embeddings. </a:t>
            </a:r>
          </a:p>
          <a:p>
            <a:endParaRPr lang="en-IN" sz="1500"/>
          </a:p>
          <a:p>
            <a:r>
              <a:rPr lang="en-US" sz="1500"/>
              <a:t>However, the current RAG models rely only on the similarity scores for ranking documents and do not evaluate the reliability of the retrieved results or identify retrieval failure. </a:t>
            </a:r>
            <a:endParaRPr lang="en-IN" sz="1500"/>
          </a:p>
          <a:p>
            <a:endParaRPr lang="en-US" sz="1500"/>
          </a:p>
          <a:p>
            <a:r>
              <a:rPr lang="en-US" sz="1500"/>
              <a:t>This leads to the possibility of substandard, inconsistent, or irrelevant results being retrieved unnoticed, resulting in hallucinations and unreliable responses. </a:t>
            </a:r>
            <a:endParaRPr lang="en-IN" sz="1500"/>
          </a:p>
          <a:p>
            <a:endParaRPr lang="en-US" sz="1500"/>
          </a:p>
          <a:p>
            <a:r>
              <a:rPr lang="en-US" sz="1500"/>
              <a:t>There is a need for a framework for retrieval failure detection that represents retrieval failure signals such as similarity score, consistency of top-k similarity, and retrieval agreement. </a:t>
            </a:r>
            <a:endParaRPr lang="en-IN" sz="1500"/>
          </a:p>
          <a:p>
            <a:endParaRPr lang="en-IN" sz="1500"/>
          </a:p>
          <a:p>
            <a:endParaRPr lang="en-US" sz="1500"/>
          </a:p>
          <a:p>
            <a:r>
              <a:rPr lang="en-US" sz="1500"/>
              <a:t>This paper proposes the design of a retrieval failure signal estimation module to calculate</a:t>
            </a:r>
            <a:endParaRPr lang="en-IN" sz="1500"/>
          </a:p>
          <a:p>
            <a:r>
              <a:rPr lang="en-US" sz="1500"/>
              <a:t>retrieval reliability and retrieval failure. </a:t>
            </a:r>
            <a:endParaRPr lang="en-IN" sz="150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62829"/>
              </p:ext>
            </p:extLst>
          </p:nvPr>
        </p:nvGraphicFramePr>
        <p:xfrm>
          <a:off x="581352" y="1478016"/>
          <a:ext cx="7994215" cy="4297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39294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175112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20811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36229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22769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10437">
                <a:tc>
                  <a:txBody>
                    <a:bodyPr/>
                    <a:lstStyle/>
                    <a:p>
                      <a:pPr algn="ctr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38846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Hadi </a:t>
                      </a:r>
                      <a:r>
                        <a:rPr lang="en-IN" err="1">
                          <a:latin typeface="Times New Roman"/>
                          <a:cs typeface="Times New Roman"/>
                        </a:rPr>
                        <a:t>Soudani</a:t>
                      </a:r>
                      <a:r>
                        <a:rPr lang="en-IN">
                          <a:latin typeface="Times New Roman"/>
                          <a:cs typeface="Times New Roman"/>
                        </a:rPr>
                        <a:t>, François Yvon, et al.</a:t>
                      </a: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i="1">
                          <a:latin typeface="Times New Roman"/>
                          <a:cs typeface="Times New Roman"/>
                        </a:rPr>
                        <a:t>Why Uncertainty Estimation Methods Fall Short in Retrieval-Augmented Generation</a:t>
                      </a:r>
                      <a:r>
                        <a:rPr lang="en-IN">
                          <a:latin typeface="Times New Roman"/>
                          <a:cs typeface="Times New Roman"/>
                        </a:rPr>
                        <a:t>, 2025</a:t>
                      </a: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Traditional uncertainty estimation (UE) fails in RAG systems because it ignores non-parametric retrieved knowledge. The paper defines axiomatic constraints for reliable UE and shows that most existing methods violate them.</a:t>
                      </a:r>
                      <a:endParaRPr lang="en-IN" sz="140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Current UE methods rely only on model outputs and ignore retrieval quality, evidence consistency, and grounding. A retrieval-aware, calibrated uncertainty framework is needed for reliable RAG systems.</a:t>
                      </a:r>
                      <a:endParaRPr lang="en-US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357952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latin typeface="Times New Roman"/>
                          <a:cs typeface="Times New Roman"/>
                        </a:rPr>
                        <a:t>2</a:t>
                      </a: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Leandre </a:t>
                      </a:r>
                      <a:r>
                        <a:rPr lang="en-IN" sz="14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Ngartera</a:t>
                      </a: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, Ahmed Abdelaziz,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Bayesian RAG: Uncertainty-Aware Retrieval for Reliable Financial Question Answering</a:t>
                      </a: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, 2026</a:t>
                      </a:r>
                    </a:p>
                    <a:p>
                      <a:pPr lvl="0" algn="l">
                        <a:buNone/>
                      </a:pP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Bayesian RAG models retrieval uncertainty using Monte Carlo Dropout and probabilistic embeddings, improving calibration, and reducing hallucinations.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It ignores generation instability and adaptive control. A unified uncertainty framework is needed.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72AA-49EF-BC25-D70B-591DD37F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A0B71E34-7A8F-D95A-C0C3-0F7CF99794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C77FD611-AEAF-37F6-81DE-E702DC9DB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F7DDA8F-B897-4009-90A1-7C0A970D3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06637"/>
              </p:ext>
            </p:extLst>
          </p:nvPr>
        </p:nvGraphicFramePr>
        <p:xfrm>
          <a:off x="576940" y="1324098"/>
          <a:ext cx="7934909" cy="46465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26102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272134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876322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23312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037039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3497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270918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Michael </a:t>
                      </a: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Oehri</a:t>
                      </a:r>
                      <a:r>
                        <a:rPr lang="en-IN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Jannis</a:t>
                      </a:r>
                      <a:r>
                        <a:rPr lang="en-IN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Vamvas</a:t>
                      </a:r>
                      <a:r>
                        <a:rPr lang="en-IN" dirty="0">
                          <a:latin typeface="Times New Roman"/>
                          <a:cs typeface="Times New Roman"/>
                        </a:rPr>
                        <a:t>, et al.</a:t>
                      </a: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i="1">
                          <a:latin typeface="Times New Roman"/>
                          <a:cs typeface="Times New Roman"/>
                        </a:rPr>
                        <a:t>Trusted Uncertainty in Large Language Models: A Unified Framework for Confidence Calibration and Risk-Controlled Refusal</a:t>
                      </a:r>
                      <a:r>
                        <a:rPr lang="en-IN">
                          <a:latin typeface="Times New Roman"/>
                          <a:cs typeface="Times New Roman"/>
                        </a:rPr>
                        <a:t>, 2025</a:t>
                      </a: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This paper proposes a unified framework combining sequence likelihood, semantic entropy, and self-consistency to produce calibrated confidence scores, along with risk-controlled refusal mechanisms.</a:t>
                      </a:r>
                      <a:r>
                        <a:rPr lang="en-IN">
                          <a:latin typeface="Times New Roman"/>
                          <a:cs typeface="Times New Roman"/>
                        </a:rPr>
                        <a:t>.</a:t>
                      </a: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it does not incorporate retrieval-aware uncertainty or adaptive retrieval. A RAG system that dynamically adjusts retrieval, generation, and responses based on confidence is needed.</a:t>
                      </a:r>
                      <a:endParaRPr lang="en-US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65951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 dirty="0">
                          <a:latin typeface="Times New Roman"/>
                          <a:cs typeface="Times New Roman"/>
                        </a:rPr>
                        <a:t>Lewis, P., Perez, E., </a:t>
                      </a:r>
                      <a:r>
                        <a:rPr lang="en-IN" sz="1400" b="0" i="0" u="none" strike="noStrike" noProof="0" dirty="0" err="1">
                          <a:latin typeface="Times New Roman"/>
                          <a:cs typeface="Times New Roman"/>
                        </a:rPr>
                        <a:t>Piktus</a:t>
                      </a:r>
                      <a:r>
                        <a:rPr lang="en-IN" sz="1400" b="0" i="0" u="none" strike="noStrike" noProof="0" dirty="0">
                          <a:latin typeface="Times New Roman"/>
                          <a:cs typeface="Times New Roman"/>
                        </a:rPr>
                        <a:t>, A.,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Retrieval-Augmented Generation for Knowledge-Intensive NLP Tasks, 2020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the RAG framework that combines retrieval and generation to improve factual accuracy and reduce hallucinations in knowledge-intensive tasks.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provide calibrated confidence estimation or retrieval-aware uncertainty handling. Adaptive response control based on confidence is still needed.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0434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1143000" y="90257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Justification for the Proposed Problem</a:t>
            </a:r>
            <a:endParaRPr sz="3200"/>
          </a:p>
        </p:txBody>
      </p:sp>
      <p:sp>
        <p:nvSpPr>
          <p:cNvPr id="4" name="Group"/>
          <p:cNvSpPr/>
          <p:nvPr/>
        </p:nvSpPr>
        <p:spPr>
          <a:xfrm>
            <a:off x="685800" y="2069213"/>
            <a:ext cx="7755509" cy="3500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/>
          <a:lstStyle/>
          <a:p>
            <a:r>
              <a:rPr lang="en-US" sz="1500"/>
              <a:t>The current RAG models employ similarity scores for ranking but lack the ability to identify retrieval failure explicitly. </a:t>
            </a:r>
          </a:p>
          <a:p>
            <a:endParaRPr lang="en-US" sz="1500"/>
          </a:p>
          <a:p>
            <a:r>
              <a:rPr lang="en-US" sz="1500"/>
              <a:t>The recent models like Self-RAG and CRAG assess the quality of retrieval but lack the ability to compute retrieval reliability explicitly from measurable signals. </a:t>
            </a:r>
          </a:p>
          <a:p>
            <a:endParaRPr lang="en-US" sz="1500"/>
          </a:p>
          <a:p>
            <a:r>
              <a:rPr lang="en-US" sz="1500"/>
              <a:t>This results in the potential of poor retrieval going unnoticed, thereby causing unreliable responses. </a:t>
            </a:r>
          </a:p>
          <a:p>
            <a:endParaRPr lang="en-US" sz="1500"/>
          </a:p>
          <a:p>
            <a:r>
              <a:rPr lang="en-US" sz="1500"/>
              <a:t>There is a requirement for a system that computes the retrieval failure signal based on similarity score, top-k consistency, and retrieval agreement. </a:t>
            </a:r>
          </a:p>
          <a:p>
            <a:endParaRPr lang="en-US" sz="1500"/>
          </a:p>
          <a:p>
            <a:r>
              <a:rPr lang="en-US" sz="1500"/>
              <a:t>The plan for the implementation of the estimation of the retrieval failure signal for the identification of retrieval failures is proposed in this paper. 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7883" y="909948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8</a:t>
            </a:r>
          </a:p>
        </p:txBody>
      </p:sp>
      <p:pic>
        <p:nvPicPr>
          <p:cNvPr id="2" name="Picture 1" descr="A diagram of a computer system">
            <a:extLst>
              <a:ext uri="{FF2B5EF4-FFF2-40B4-BE49-F238E27FC236}">
                <a16:creationId xmlns:a16="http://schemas.microsoft.com/office/drawing/2014/main" id="{2701125C-ABFD-D5E8-38EE-504129F7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58" y="2039007"/>
            <a:ext cx="7505513" cy="362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C526-5B57-0192-D28A-0854D02C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A952378B-D46F-88F6-E6B5-A939B3714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90257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Functionalities of the Proposed System</a:t>
            </a:r>
            <a:endParaRPr sz="3200"/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8FC8B824-A607-F0BA-61F1-6F8A38484007}"/>
              </a:ext>
            </a:extLst>
          </p:cNvPr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/>
          <a:lstStyle/>
          <a:p>
            <a:r>
              <a:rPr lang="en-GB" sz="1600"/>
              <a:t>System capabilities: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 Retrieve documents using embedding similarity</a:t>
            </a:r>
            <a:endParaRPr lang="en-GB" sz="1600" dirty="0"/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 Compute query-document similarity scores</a:t>
            </a:r>
            <a:endParaRPr lang="en-GB" sz="1600" dirty="0"/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 dirty="0" err="1"/>
              <a:t>Analyze</a:t>
            </a:r>
            <a:r>
              <a:rPr lang="en-GB" sz="1600" dirty="0"/>
              <a:t> top-k similarity consistency</a:t>
            </a:r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Compute retrieval agreement signals</a:t>
            </a:r>
            <a:endParaRPr lang="en-GB" sz="1600" dirty="0"/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Estimate retrieval reliability score</a:t>
            </a:r>
            <a:endParaRPr lang="en-GB" sz="1600" dirty="0"/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Detect weak or unreliable retrieval</a:t>
            </a:r>
            <a:endParaRPr lang="en-GB" sz="1600" dirty="0"/>
          </a:p>
          <a:p>
            <a:pPr marL="182880" indent="-285750">
              <a:buFont typeface="Arial"/>
              <a:buChar char="•"/>
            </a:pPr>
            <a:endParaRPr lang="en-GB" sz="1600" dirty="0"/>
          </a:p>
          <a:p>
            <a:pPr marL="182880" indent="-285750">
              <a:buFont typeface="Arial"/>
              <a:buChar char="•"/>
            </a:pPr>
            <a:r>
              <a:rPr lang="en-GB" sz="1600"/>
              <a:t>Enable retrieval failure detection</a:t>
            </a:r>
            <a:endParaRPr lang="en-IN" sz="16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2D54671-AAB9-65C1-4E77-0685C97E73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827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75" y="831926"/>
            <a:ext cx="7315200" cy="887641"/>
          </a:xfrm>
        </p:spPr>
        <p:txBody>
          <a:bodyPr/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10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F543-D5EA-F2DB-982E-FA7241D57B82}"/>
              </a:ext>
            </a:extLst>
          </p:cNvPr>
          <p:cNvSpPr txBox="1"/>
          <p:nvPr/>
        </p:nvSpPr>
        <p:spPr>
          <a:xfrm>
            <a:off x="1901536" y="2220686"/>
            <a:ext cx="4572000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1800" b="1"/>
              <a:t>Programming Language: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IN" sz="1800"/>
              <a:t>Python</a:t>
            </a:r>
            <a:endParaRPr lang="en-US" sz="1800"/>
          </a:p>
          <a:p>
            <a:r>
              <a:rPr lang="en-IN" sz="1800" b="1"/>
              <a:t>Frameworks:</a:t>
            </a:r>
          </a:p>
          <a:p>
            <a:pPr marL="285750" indent="-285750">
              <a:buFont typeface="Arial"/>
              <a:buChar char="•"/>
            </a:pPr>
            <a:r>
              <a:rPr lang="en-IN" sz="1800" err="1"/>
              <a:t>HuggingFace</a:t>
            </a:r>
            <a:r>
              <a:rPr lang="en-IN" sz="1800" dirty="0"/>
              <a:t> Transformers</a:t>
            </a:r>
          </a:p>
          <a:p>
            <a:pPr marL="285750" indent="-285750">
              <a:buFont typeface="Arial"/>
              <a:buChar char="•"/>
            </a:pPr>
            <a:r>
              <a:rPr lang="en-IN" sz="1800"/>
              <a:t>Sentence-Transformers</a:t>
            </a:r>
            <a:endParaRPr lang="en-IN" sz="1800" dirty="0"/>
          </a:p>
          <a:p>
            <a:pPr marL="285750" indent="-285750">
              <a:buFont typeface="Arial"/>
              <a:buChar char="•"/>
            </a:pPr>
            <a:r>
              <a:rPr lang="en-IN" sz="1800" err="1"/>
              <a:t>LangChain</a:t>
            </a:r>
            <a:r>
              <a:rPr lang="en-IN" sz="1800" dirty="0"/>
              <a:t> / LlamaIndex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/>
              <a:t>FAISS / </a:t>
            </a:r>
            <a:r>
              <a:rPr lang="en-IN" sz="1800" dirty="0" err="1"/>
              <a:t>ChromaDB</a:t>
            </a:r>
            <a:endParaRPr lang="en-IN" sz="1800" dirty="0"/>
          </a:p>
          <a:p>
            <a:r>
              <a:rPr lang="en-IN" sz="1800" b="1"/>
              <a:t>Models:</a:t>
            </a:r>
          </a:p>
          <a:p>
            <a:pPr marL="285750" indent="-285750">
              <a:buFont typeface="Arial"/>
              <a:buChar char="•"/>
            </a:pPr>
            <a:r>
              <a:rPr lang="en-IN" sz="1800" dirty="0"/>
              <a:t>Embedding Model: BGE-large or </a:t>
            </a:r>
            <a:r>
              <a:rPr lang="en-IN" sz="1800" dirty="0" err="1"/>
              <a:t>MiniLM</a:t>
            </a:r>
            <a:endParaRPr lang="en-IN" sz="1800" dirty="0"/>
          </a:p>
          <a:p>
            <a:pPr marL="285750" indent="-285750">
              <a:buFont typeface="Arial"/>
              <a:buChar char="•"/>
            </a:pPr>
            <a:r>
              <a:rPr lang="en-IN" sz="1800"/>
              <a:t>Generator Model: Mistral-7B (future </a:t>
            </a:r>
            <a:r>
              <a:rPr lang="en-IN" sz="1800" dirty="0"/>
              <a:t>integration)</a:t>
            </a:r>
          </a:p>
          <a:p>
            <a:r>
              <a:rPr lang="en-IN" sz="1800" b="1"/>
              <a:t>Platform:</a:t>
            </a:r>
          </a:p>
          <a:p>
            <a:pPr marL="285750" indent="-285750">
              <a:buFont typeface="Arial"/>
              <a:buChar char="•"/>
            </a:pPr>
            <a:r>
              <a:rPr lang="en-IN" sz="1800"/>
              <a:t>Kaggle GPU Environment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830734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>
                <a:latin typeface="Times New Roman"/>
                <a:cs typeface="Times New Roman"/>
              </a:rPr>
              <a:t>Data Set </a:t>
            </a:r>
            <a:endParaRPr lang="en-I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017" y="1690289"/>
            <a:ext cx="7968343" cy="29854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dirty="0"/>
              <a:t>Source of data set: </a:t>
            </a:r>
          </a:p>
          <a:p>
            <a:r>
              <a:rPr lang="en-IN" sz="2400" dirty="0"/>
              <a:t>URL:</a:t>
            </a:r>
          </a:p>
          <a:p>
            <a:r>
              <a:rPr lang="en-IN" sz="20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https://nlp.cs.washington.edu/triviaqa/</a:t>
            </a:r>
            <a:endParaRPr lang="en-IN" dirty="0"/>
          </a:p>
          <a:p>
            <a:r>
              <a:rPr lang="en-IN" sz="2000" dirty="0">
                <a:solidFill>
                  <a:srgbClr val="FF0000"/>
                </a:solidFill>
              </a:rPr>
              <a:t>Description: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TriviaQA</a:t>
            </a:r>
            <a:r>
              <a:rPr lang="en-US" sz="2000" dirty="0">
                <a:solidFill>
                  <a:srgbClr val="FF0000"/>
                </a:solidFill>
              </a:rPr>
              <a:t> is a reading comprehension dataset containing over 650K question-answer-evidence triples. </a:t>
            </a:r>
            <a:r>
              <a:rPr lang="en-US" sz="2000" dirty="0" err="1">
                <a:solidFill>
                  <a:srgbClr val="FF0000"/>
                </a:solidFill>
              </a:rPr>
              <a:t>TriviaQA</a:t>
            </a:r>
            <a:r>
              <a:rPr lang="en-US" sz="2000" dirty="0">
                <a:solidFill>
                  <a:srgbClr val="FF0000"/>
                </a:solidFill>
              </a:rPr>
              <a:t> includes 95K question-answer pairs authored by trivia enthusiasts and independently gathered evidence documents, six per question on average, that provide high quality distant supervision for answering the questions.</a:t>
            </a:r>
            <a:endParaRPr lang="en-IN"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955885"/>
            <a:ext cx="8229600" cy="740439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765909"/>
              </p:ext>
            </p:extLst>
          </p:nvPr>
        </p:nvGraphicFramePr>
        <p:xfrm>
          <a:off x="143436" y="1532966"/>
          <a:ext cx="8794376" cy="478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29" y="810531"/>
            <a:ext cx="8229600" cy="1005206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</a:rPr>
              <a:t>Conclusion</a:t>
            </a:r>
            <a:endParaRPr lang="en-IN"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1CEA2-3F60-CCBD-0352-543935BA1F1B}"/>
              </a:ext>
            </a:extLst>
          </p:cNvPr>
          <p:cNvSpPr txBox="1"/>
          <p:nvPr/>
        </p:nvSpPr>
        <p:spPr>
          <a:xfrm>
            <a:off x="1396636" y="2416103"/>
            <a:ext cx="6324601" cy="3231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1800"/>
              <a:t>This work proposes a failure-aware RAG framework to improve system reliability.</a:t>
            </a:r>
            <a:br>
              <a:rPr lang="en-US" dirty="0"/>
            </a:br>
            <a:endParaRPr lang="en-US"/>
          </a:p>
          <a:p>
            <a:r>
              <a:rPr lang="en-IN" sz="1800"/>
              <a:t>This phase focuses on detecting retrieval failures using similarity score, top-k consistency, and retrieval agreement signals.</a:t>
            </a:r>
            <a:br>
              <a:rPr lang="en-US" dirty="0"/>
            </a:br>
            <a:endParaRPr lang="en-US"/>
          </a:p>
          <a:p>
            <a:r>
              <a:rPr lang="en-IN" sz="1800"/>
              <a:t>The system estimates retrieval reliability and enables early detection of weak retrieval.</a:t>
            </a:r>
            <a:endParaRPr lang="en-IN"/>
          </a:p>
          <a:p>
            <a:endParaRPr lang="en-US" dirty="0"/>
          </a:p>
          <a:p>
            <a:r>
              <a:rPr lang="en-IN" sz="1800"/>
              <a:t>This forms the foundation for future confidence estimation and adaptive RAG systems.</a:t>
            </a:r>
            <a:endParaRPr lang="en-IN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210" name="References"/>
          <p:cNvSpPr txBox="1">
            <a:spLocks noGrp="1"/>
          </p:cNvSpPr>
          <p:nvPr>
            <p:ph type="title"/>
          </p:nvPr>
        </p:nvSpPr>
        <p:spPr>
          <a:xfrm>
            <a:off x="1202759" y="901187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69E78-3C83-13C3-8700-6481BB45ACF0}"/>
              </a:ext>
            </a:extLst>
          </p:cNvPr>
          <p:cNvSpPr txBox="1"/>
          <p:nvPr/>
        </p:nvSpPr>
        <p:spPr>
          <a:xfrm>
            <a:off x="543683" y="1844358"/>
            <a:ext cx="8184776" cy="40164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700" b="0">
                <a:solidFill>
                  <a:srgbClr val="222222"/>
                </a:solidFill>
                <a:effectLst/>
              </a:rPr>
              <a:t>[1] </a:t>
            </a:r>
            <a:r>
              <a:rPr lang="en-GB" sz="1700" err="1">
                <a:solidFill>
                  <a:srgbClr val="222222"/>
                </a:solidFill>
              </a:rPr>
              <a:t>Ngartera</a:t>
            </a:r>
            <a:r>
              <a:rPr lang="en-GB" sz="1700">
                <a:solidFill>
                  <a:srgbClr val="222222"/>
                </a:solidFill>
              </a:rPr>
              <a:t>, </a:t>
            </a:r>
            <a:r>
              <a:rPr lang="en-GB" sz="1700" err="1">
                <a:solidFill>
                  <a:srgbClr val="222222"/>
                </a:solidFill>
              </a:rPr>
              <a:t>Lebede</a:t>
            </a:r>
            <a:r>
              <a:rPr lang="en-GB" sz="1700" b="0">
                <a:solidFill>
                  <a:srgbClr val="222222"/>
                </a:solidFill>
                <a:effectLst/>
              </a:rPr>
              <a:t>, </a:t>
            </a:r>
            <a:r>
              <a:rPr lang="en-GB" sz="1700" err="1">
                <a:solidFill>
                  <a:srgbClr val="222222"/>
                </a:solidFill>
              </a:rPr>
              <a:t>Saralees</a:t>
            </a:r>
            <a:r>
              <a:rPr lang="en-GB" sz="1700">
                <a:solidFill>
                  <a:srgbClr val="222222"/>
                </a:solidFill>
              </a:rPr>
              <a:t> Nadarajah</a:t>
            </a:r>
            <a:r>
              <a:rPr lang="en-GB" sz="1700" b="0">
                <a:solidFill>
                  <a:srgbClr val="222222"/>
                </a:solidFill>
                <a:effectLst/>
              </a:rPr>
              <a:t>, and </a:t>
            </a:r>
            <a:r>
              <a:rPr lang="en-GB" sz="1700" err="1">
                <a:solidFill>
                  <a:srgbClr val="222222"/>
                </a:solidFill>
              </a:rPr>
              <a:t>Rodoumta</a:t>
            </a:r>
            <a:r>
              <a:rPr lang="en-GB" sz="1700">
                <a:solidFill>
                  <a:srgbClr val="222222"/>
                </a:solidFill>
              </a:rPr>
              <a:t> </a:t>
            </a:r>
            <a:r>
              <a:rPr lang="en-GB" sz="1700" err="1">
                <a:solidFill>
                  <a:srgbClr val="222222"/>
                </a:solidFill>
              </a:rPr>
              <a:t>Koina</a:t>
            </a:r>
            <a:r>
              <a:rPr lang="en-GB" sz="1700" b="0">
                <a:solidFill>
                  <a:srgbClr val="222222"/>
                </a:solidFill>
                <a:effectLst/>
              </a:rPr>
              <a:t>. </a:t>
            </a:r>
            <a:r>
              <a:rPr lang="en-GB" sz="1700">
                <a:solidFill>
                  <a:srgbClr val="222222"/>
                </a:solidFill>
              </a:rPr>
              <a:t>"Bayesian RAG: uncertainty-aware retrieval </a:t>
            </a:r>
            <a:r>
              <a:rPr lang="en-GB" sz="1700" b="0">
                <a:solidFill>
                  <a:srgbClr val="222222"/>
                </a:solidFill>
                <a:effectLst/>
              </a:rPr>
              <a:t>for </a:t>
            </a:r>
            <a:r>
              <a:rPr lang="en-GB" sz="1700">
                <a:solidFill>
                  <a:srgbClr val="222222"/>
                </a:solidFill>
              </a:rPr>
              <a:t>reliable financial question answering." (2026).</a:t>
            </a:r>
            <a:endParaRPr lang="en-GB" sz="1600" b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>
                <a:solidFill>
                  <a:srgbClr val="222222"/>
                </a:solidFill>
              </a:rPr>
              <a:t>[2] H. Soudani, E. </a:t>
            </a:r>
            <a:r>
              <a:rPr lang="en-GB" sz="1700" err="1">
                <a:solidFill>
                  <a:srgbClr val="222222"/>
                </a:solidFill>
              </a:rPr>
              <a:t>Kanoulas</a:t>
            </a:r>
            <a:r>
              <a:rPr lang="en-GB" sz="1700">
                <a:solidFill>
                  <a:srgbClr val="222222"/>
                </a:solidFill>
              </a:rPr>
              <a:t>, and F. </a:t>
            </a:r>
            <a:r>
              <a:rPr lang="en-GB" sz="1700" err="1">
                <a:solidFill>
                  <a:srgbClr val="222222"/>
                </a:solidFill>
              </a:rPr>
              <a:t>Hasibi</a:t>
            </a:r>
            <a:r>
              <a:rPr lang="en-GB" sz="1700">
                <a:solidFill>
                  <a:srgbClr val="222222"/>
                </a:solidFill>
              </a:rPr>
              <a:t>, "Why Uncertainty Estimation Methods Fall Short in RAG: An Axiomatic Analysis", Findings of the Association for Computational Linguistics, ACL 2025, pp.: 16596–16616, 2025</a:t>
            </a:r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/>
              <a:t>[3] </a:t>
            </a:r>
            <a:r>
              <a:rPr lang="en-US" sz="1700" err="1"/>
              <a:t>Oehri</a:t>
            </a:r>
            <a:r>
              <a:rPr lang="en-US" sz="1700"/>
              <a:t>, M., Conti, G., Pather, K., Rossi, A., Serra, L., Parody, A., ... &amp; Krasniqi, A. (2025). Trusted Uncertainty in Large Language Models: A Unified Framework for Confidence Calibration and Risk-Controlled Refusal. </a:t>
            </a:r>
            <a:r>
              <a:rPr lang="en-US" sz="1700" i="1" err="1"/>
              <a:t>arXiv</a:t>
            </a:r>
            <a:r>
              <a:rPr lang="en-US" sz="1700" i="1"/>
              <a:t> preprint arXiv:2509.01455</a:t>
            </a:r>
            <a:r>
              <a:rPr lang="en-US" sz="1700"/>
              <a:t>.</a:t>
            </a:r>
          </a:p>
          <a:p>
            <a:pPr algn="just"/>
            <a:endParaRPr lang="en-US" sz="1700"/>
          </a:p>
          <a:p>
            <a:pPr algn="just"/>
            <a:r>
              <a:rPr lang="en-US" sz="1700"/>
              <a:t>[4] Lewis, P., Perez, E., </a:t>
            </a:r>
            <a:r>
              <a:rPr lang="en-US" sz="1700" err="1"/>
              <a:t>Piktus</a:t>
            </a:r>
            <a:r>
              <a:rPr lang="en-US" sz="1700"/>
              <a:t>, A., Petroni, F., </a:t>
            </a:r>
            <a:r>
              <a:rPr lang="en-US" sz="1700" err="1"/>
              <a:t>Karpukhin</a:t>
            </a:r>
            <a:r>
              <a:rPr lang="en-US" sz="1700"/>
              <a:t>, V., Goyal, N., </a:t>
            </a:r>
            <a:r>
              <a:rPr lang="en-US" sz="1700" err="1"/>
              <a:t>Küttler</a:t>
            </a:r>
            <a:r>
              <a:rPr lang="en-US" sz="1700"/>
              <a:t>, H., Lewis, M., Yih, W.T., </a:t>
            </a:r>
            <a:r>
              <a:rPr lang="en-US" sz="1700" err="1"/>
              <a:t>Rocktäschel</a:t>
            </a:r>
            <a:r>
              <a:rPr lang="en-US" sz="1700"/>
              <a:t>, T. and Riedel, S., 2020. Retrieval-augmented generation for knowledge-intensive </a:t>
            </a:r>
            <a:r>
              <a:rPr lang="en-US" sz="1700" err="1"/>
              <a:t>nlp</a:t>
            </a:r>
            <a:r>
              <a:rPr lang="en-US" sz="1700"/>
              <a:t> tasks. </a:t>
            </a:r>
            <a:r>
              <a:rPr lang="en-US" sz="1700" i="1"/>
              <a:t>Advances in neural information processing systems</a:t>
            </a:r>
            <a:r>
              <a:rPr lang="en-US" sz="1700"/>
              <a:t>, </a:t>
            </a:r>
            <a:r>
              <a:rPr lang="en-US" sz="1700" i="1"/>
              <a:t>33</a:t>
            </a:r>
            <a:r>
              <a:rPr lang="en-US" sz="1700"/>
              <a:t>, pp.9459-9474.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2732F4-3776-2105-4BA2-6551D57ADB5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C0D77-A6CA-F07E-14C3-8AC56AABD9FD}"/>
              </a:ext>
            </a:extLst>
          </p:cNvPr>
          <p:cNvSpPr txBox="1"/>
          <p:nvPr/>
        </p:nvSpPr>
        <p:spPr>
          <a:xfrm>
            <a:off x="543683" y="1844358"/>
            <a:ext cx="8184776" cy="3231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700">
                <a:solidFill>
                  <a:srgbClr val="222222"/>
                </a:solidFill>
              </a:rPr>
              <a:t>[5]</a:t>
            </a:r>
            <a:r>
              <a:rPr lang="en-GB" sz="1700" b="0">
                <a:solidFill>
                  <a:srgbClr val="222222"/>
                </a:solidFill>
                <a:effectLst/>
              </a:rPr>
              <a:t> </a:t>
            </a:r>
            <a:r>
              <a:rPr lang="en-GB" sz="1700">
                <a:solidFill>
                  <a:srgbClr val="222222"/>
                </a:solidFill>
              </a:rPr>
              <a:t>Gao, Y., Xiong, Y., Gao, X., Jia, K., Pan, J., Bi, Y., Dai, Y., Sun, J., Wang, H. and Wang, H., 2023. Retrieval-augmented generation for large language models: A survey. </a:t>
            </a:r>
            <a:r>
              <a:rPr lang="en-GB" sz="1700" i="1" err="1">
                <a:solidFill>
                  <a:srgbClr val="222222"/>
                </a:solidFill>
              </a:rPr>
              <a:t>arXiv</a:t>
            </a:r>
            <a:r>
              <a:rPr lang="en-GB" sz="1700" i="1">
                <a:solidFill>
                  <a:srgbClr val="222222"/>
                </a:solidFill>
              </a:rPr>
              <a:t> preprint arXiv:2312.10997</a:t>
            </a:r>
            <a:r>
              <a:rPr lang="en-GB" sz="1700">
                <a:solidFill>
                  <a:srgbClr val="222222"/>
                </a:solidFill>
              </a:rPr>
              <a:t>, </a:t>
            </a:r>
            <a:r>
              <a:rPr lang="en-GB" sz="1700" i="1">
                <a:solidFill>
                  <a:srgbClr val="222222"/>
                </a:solidFill>
              </a:rPr>
              <a:t>2</a:t>
            </a:r>
            <a:r>
              <a:rPr lang="en-GB" sz="1700">
                <a:solidFill>
                  <a:srgbClr val="222222"/>
                </a:solidFill>
              </a:rPr>
              <a:t>(1), p.32.</a:t>
            </a:r>
            <a:endParaRPr lang="en-GB" sz="1700" b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>
                <a:solidFill>
                  <a:srgbClr val="222222"/>
                </a:solidFill>
              </a:rPr>
              <a:t>[6] Huang, L., Yu, W., Ma, W., Zhong, W., Feng, Z., Wang, H., Chen, Q., Peng, W., Feng, X., Qin, B. and Liu, T., 2025. A survey on hallucination in large language models: Principles, taxonomy, challenges, and open questions. </a:t>
            </a:r>
            <a:r>
              <a:rPr lang="en-GB" sz="1700" i="1">
                <a:solidFill>
                  <a:srgbClr val="222222"/>
                </a:solidFill>
              </a:rPr>
              <a:t>ACM Transactions on Information Systems</a:t>
            </a:r>
            <a:r>
              <a:rPr lang="en-GB" sz="1700">
                <a:solidFill>
                  <a:srgbClr val="222222"/>
                </a:solidFill>
              </a:rPr>
              <a:t>, </a:t>
            </a:r>
            <a:r>
              <a:rPr lang="en-GB" sz="1700" i="1">
                <a:solidFill>
                  <a:srgbClr val="222222"/>
                </a:solidFill>
              </a:rPr>
              <a:t>43</a:t>
            </a:r>
            <a:r>
              <a:rPr lang="en-GB" sz="1700">
                <a:solidFill>
                  <a:srgbClr val="222222"/>
                </a:solidFill>
              </a:rPr>
              <a:t>(2), pp.1-55.</a:t>
            </a:r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/>
              <a:t>[7] Zhang, Y., Li, Y., Cui, L., Cai, D., Liu, L., Fu, T., Huang, X., Zhao, E., Zhang, Y., Chen, Y. and Wang, L., 2025. Siren’s Song in the AI Ocean: A Survey on Hallucination in Large Language Models. </a:t>
            </a:r>
            <a:r>
              <a:rPr lang="en-US" sz="1700" i="1"/>
              <a:t>Computational Linguistics</a:t>
            </a:r>
            <a:r>
              <a:rPr lang="en-US" sz="1700"/>
              <a:t>, </a:t>
            </a:r>
            <a:r>
              <a:rPr lang="en-US" sz="1700" i="1"/>
              <a:t>51</a:t>
            </a:r>
            <a:r>
              <a:rPr lang="en-US" sz="1700"/>
              <a:t>(4), pp.1373-1418.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A011DC82-C149-5B66-FCEF-A4C714B432AD}"/>
              </a:ext>
            </a:extLst>
          </p:cNvPr>
          <p:cNvSpPr txBox="1">
            <a:spLocks/>
          </p:cNvSpPr>
          <p:nvPr/>
        </p:nvSpPr>
        <p:spPr>
          <a:xfrm>
            <a:off x="1202759" y="901187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165485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BC46-C3D8-3928-A59E-4DB16247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CA6CA-2F71-74E4-DE7A-3B6805F1EC9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693D7-8221-4741-136F-868AF3B3875D}"/>
              </a:ext>
            </a:extLst>
          </p:cNvPr>
          <p:cNvSpPr txBox="1"/>
          <p:nvPr/>
        </p:nvSpPr>
        <p:spPr>
          <a:xfrm>
            <a:off x="543683" y="1844358"/>
            <a:ext cx="8184776" cy="34932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700">
                <a:solidFill>
                  <a:srgbClr val="222222"/>
                </a:solidFill>
              </a:rPr>
              <a:t>[8]</a:t>
            </a:r>
            <a:r>
              <a:rPr lang="en-GB" sz="1700" b="0">
                <a:solidFill>
                  <a:srgbClr val="222222"/>
                </a:solidFill>
                <a:effectLst/>
              </a:rPr>
              <a:t> </a:t>
            </a:r>
            <a:r>
              <a:rPr lang="en-GB" sz="1700">
                <a:solidFill>
                  <a:srgbClr val="222222"/>
                </a:solidFill>
              </a:rPr>
              <a:t>D. Sinha, “The Semantic Illusion: Certified Limits of Embedding-Based Hallucination Detection in RAG Systems,” 2025. </a:t>
            </a:r>
            <a:endParaRPr lang="en-GB" sz="1700" b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>
                <a:solidFill>
                  <a:srgbClr val="222222"/>
                </a:solidFill>
              </a:rPr>
              <a:t>[9] Zhang W, Zhang J. Hallucination Mitigation for Retrieval-Augmented Large Language Models: A Review. Mathematics, 2025</a:t>
            </a:r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/>
              <a:t>[10] J. Song, X. Wang, J. Zhu, Y. Wu, X. Cheng, R. Zhong, and C. Niu, “RAG-HAT: A Hallucination-Aware Tuning Pipeline for LLM in Retrieval-Augmented Generation,” 2024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/>
              <a:t>[11] P. Lewis, E. Perez, A. </a:t>
            </a:r>
            <a:r>
              <a:rPr lang="en-US" sz="1700" err="1"/>
              <a:t>Piktus</a:t>
            </a:r>
            <a:r>
              <a:rPr lang="en-US" sz="1700"/>
              <a:t>, F. Petroni, V. </a:t>
            </a:r>
            <a:r>
              <a:rPr lang="en-US" sz="1700" err="1"/>
              <a:t>Karpukhin</a:t>
            </a:r>
            <a:r>
              <a:rPr lang="en-US" sz="1700"/>
              <a:t>, N. Goyal, H. </a:t>
            </a:r>
            <a:r>
              <a:rPr lang="en-US" sz="1700" err="1"/>
              <a:t>Küttler</a:t>
            </a:r>
            <a:r>
              <a:rPr lang="en-US" sz="1700"/>
              <a:t>, M. Lewis, W.-t. Yih, T. </a:t>
            </a:r>
            <a:r>
              <a:rPr lang="en-US" sz="1700" err="1"/>
              <a:t>Rocktäschel</a:t>
            </a:r>
            <a:r>
              <a:rPr lang="en-US" sz="1700"/>
              <a:t>, S. Riedel, and D. Kiela, “Retrieval-augmented generation for knowledge-intensive NLP tasks,” in </a:t>
            </a:r>
            <a:r>
              <a:rPr lang="en-US" sz="1700" i="1"/>
              <a:t>Advances in Neural Information Processing Systems (</a:t>
            </a:r>
            <a:r>
              <a:rPr lang="en-US" sz="1700" i="1" err="1"/>
              <a:t>NeurIPS</a:t>
            </a:r>
            <a:r>
              <a:rPr lang="en-US" sz="1700" i="1"/>
              <a:t> 2020)</a:t>
            </a:r>
            <a:r>
              <a:rPr lang="en-US" sz="1700"/>
              <a:t>, vol. 33, 2020.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0FC4D179-539C-6E96-9173-F3B08F5482AF}"/>
              </a:ext>
            </a:extLst>
          </p:cNvPr>
          <p:cNvSpPr txBox="1">
            <a:spLocks/>
          </p:cNvSpPr>
          <p:nvPr/>
        </p:nvSpPr>
        <p:spPr>
          <a:xfrm>
            <a:off x="1202759" y="901187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579846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E4A7-89B4-7F24-7541-294DB7D9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372934-B77B-FAD4-EA9A-57F76852531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713BF-0E8A-B6C7-377A-F76A93EBA403}"/>
              </a:ext>
            </a:extLst>
          </p:cNvPr>
          <p:cNvSpPr txBox="1"/>
          <p:nvPr/>
        </p:nvSpPr>
        <p:spPr>
          <a:xfrm>
            <a:off x="543683" y="1844358"/>
            <a:ext cx="8184776" cy="3231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700">
                <a:solidFill>
                  <a:srgbClr val="222222"/>
                </a:solidFill>
              </a:rPr>
              <a:t>[12]</a:t>
            </a:r>
            <a:r>
              <a:rPr lang="en-GB" sz="1700" b="0">
                <a:solidFill>
                  <a:srgbClr val="222222"/>
                </a:solidFill>
                <a:effectLst/>
              </a:rPr>
              <a:t> </a:t>
            </a:r>
            <a:r>
              <a:rPr lang="en-US" sz="1700" err="1"/>
              <a:t>A.Sardana</a:t>
            </a:r>
            <a:r>
              <a:rPr lang="en-US" sz="1700"/>
              <a:t>, “Real-Time Evaluation Models for RAG: Who Detects </a:t>
            </a:r>
            <a:r>
              <a:rPr lang="en-US" sz="1700" err="1"/>
              <a:t>HallucinationsBest</a:t>
            </a:r>
            <a:r>
              <a:rPr lang="en-US" sz="1700"/>
              <a:t>?,” 2025.</a:t>
            </a:r>
            <a:endParaRPr lang="en-US" sz="17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>
                <a:solidFill>
                  <a:srgbClr val="222222"/>
                </a:solidFill>
              </a:rPr>
              <a:t>[13] Z. Sun, X. Zang, K. Zheng, Y. Song, J. Xu, X. Zhang, W. Yu, Y. Song, and H. Li, “</a:t>
            </a:r>
            <a:r>
              <a:rPr lang="en-GB" sz="1700" err="1">
                <a:solidFill>
                  <a:srgbClr val="222222"/>
                </a:solidFill>
              </a:rPr>
              <a:t>ReDeEP</a:t>
            </a:r>
            <a:r>
              <a:rPr lang="en-GB" sz="1700">
                <a:solidFill>
                  <a:srgbClr val="222222"/>
                </a:solidFill>
              </a:rPr>
              <a:t>: Detecting hallucination in retrieval-augmented generation via mechanistic interpretability,” 2025.</a:t>
            </a:r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/>
              <a:t>[14] P. </a:t>
            </a:r>
            <a:r>
              <a:rPr lang="en-US" sz="1700" err="1"/>
              <a:t>Béchard</a:t>
            </a:r>
            <a:r>
              <a:rPr lang="en-US" sz="1700"/>
              <a:t> and O. M. Ayala, “Reducing hallucination in structured outputs via retrieval-augmented generation,” 2024.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700"/>
          </a:p>
          <a:p>
            <a:pPr algn="just"/>
            <a:r>
              <a:rPr lang="en-US" sz="1700"/>
              <a:t>[15] H. Ding, L. Pang, Z. Wei, H. Shen, and X. Cheng, “Rowen: Adaptive retrieval-augmented generation for hallucination mitigation in LLMs,” 2025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E8710F23-3D64-D66C-AFB7-292277A499BA}"/>
              </a:ext>
            </a:extLst>
          </p:cNvPr>
          <p:cNvSpPr txBox="1">
            <a:spLocks/>
          </p:cNvSpPr>
          <p:nvPr/>
        </p:nvSpPr>
        <p:spPr>
          <a:xfrm>
            <a:off x="1202759" y="901187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9833903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1712</Words>
  <Application>Microsoft Macintosh PowerPoint</Application>
  <PresentationFormat>On-screen Show (4:3)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Helvetica</vt:lpstr>
      <vt:lpstr>Times New Roman</vt:lpstr>
      <vt:lpstr>11_Default Design</vt:lpstr>
      <vt:lpstr>Failure-Aware and Confidence-Calibrated Adaptive Retrieval-Augmented Generation System 23CSE399 Project Phase 1 – Approval Presentation  Team ID: 23UG031   Panel No.:20 </vt:lpstr>
      <vt:lpstr>Screenshot of your guides’ approval mail (to go ahead with the presentation)</vt:lpstr>
      <vt:lpstr>Problem Definition</vt:lpstr>
      <vt:lpstr>Literature Survey</vt:lpstr>
      <vt:lpstr>Literature Survey</vt:lpstr>
      <vt:lpstr>Justification for the Proposed Problem</vt:lpstr>
      <vt:lpstr>Architecture of the Proposed System</vt:lpstr>
      <vt:lpstr>Functionalities of the Proposed System</vt:lpstr>
      <vt:lpstr>Software/Tools Requirements</vt:lpstr>
      <vt:lpstr>PowerPoint Presentation</vt:lpstr>
      <vt:lpstr>Timeline</vt:lpstr>
      <vt:lpstr>Conclusion</vt:lpstr>
      <vt:lpstr>References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RAVVA SIDDHARTHA-[BL.EN.U4CSE23246]</cp:lastModifiedBy>
  <cp:revision>169</cp:revision>
  <dcterms:modified xsi:type="dcterms:W3CDTF">2026-02-18T15:24:34Z</dcterms:modified>
</cp:coreProperties>
</file>