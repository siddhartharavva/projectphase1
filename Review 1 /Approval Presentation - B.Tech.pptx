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298" r:id="rId2"/>
    <p:sldId id="297" r:id="rId3"/>
    <p:sldId id="311" r:id="rId4"/>
    <p:sldId id="257" r:id="rId5"/>
    <p:sldId id="313" r:id="rId6"/>
    <p:sldId id="259" r:id="rId7"/>
    <p:sldId id="300" r:id="rId8"/>
    <p:sldId id="305" r:id="rId9"/>
    <p:sldId id="306" r:id="rId10"/>
    <p:sldId id="308" r:id="rId11"/>
    <p:sldId id="309" r:id="rId12"/>
    <p:sldId id="310" r:id="rId13"/>
    <p:sldId id="270" r:id="rId14"/>
    <p:sldId id="295" r:id="rId15"/>
    <p:sldId id="296" r:id="rId16"/>
    <p:sldId id="287" r:id="rId17"/>
    <p:sldId id="314" r:id="rId18"/>
    <p:sldId id="284" r:id="rId19"/>
    <p:sldId id="301" r:id="rId20"/>
    <p:sldId id="302" r:id="rId21"/>
    <p:sldId id="303" r:id="rId22"/>
    <p:sldId id="293" r:id="rId2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DA611-AA66-AB74-9241-9E84A2F130C0}" v="68" dt="2026-02-18T11:46:06.550"/>
    <p1510:client id="{0939B5B8-E3CF-16EF-AA2B-E1E16363EC1B}" v="43" dt="2026-02-18T14:22:05.478"/>
    <p1510:client id="{0D822DB3-ECFC-75E7-0A94-ED36749A3676}" v="582" dt="2026-02-19T07:58:05.147"/>
    <p1510:client id="{0E3762B5-D572-E41C-010A-E3E1479A74E0}" v="316" dt="2026-02-19T05:53:16.485"/>
    <p1510:client id="{24A7C1AD-1310-314E-6CCF-686547C39356}" v="91" dt="2026-02-19T06:23:39.690"/>
    <p1510:client id="{258C6346-9FC2-9753-9540-834E0F5AF1DD}" v="136" dt="2026-02-19T07:15:47.285"/>
    <p1510:client id="{2B04F8EC-0CC4-C4C1-86F6-D6C58D07610F}" v="3" dt="2026-02-18T05:21:53.901"/>
    <p1510:client id="{35B56047-DFD6-54BA-E561-D64C72110C30}" v="23" dt="2026-02-18T20:46:40.355"/>
    <p1510:client id="{46641C1E-D412-78A4-3849-07D023CEC302}" v="5" dt="2026-02-18T02:56:38.694"/>
    <p1510:client id="{47024BE0-E6EE-6C9F-42F0-325FB255CBC7}" v="8" dt="2026-02-19T05:18:05.990"/>
    <p1510:client id="{548B45DF-9C0F-7BF7-FABB-318CE84FCD94}" v="277" dt="2026-02-18T02:57:38.162"/>
    <p1510:client id="{58FAC8E0-94FF-F1EC-29AB-5DE271D24525}" v="8" dt="2026-02-18T01:56:59.629"/>
    <p1510:client id="{5DB6DFB8-DD27-46FF-ACEE-8B87A84BBE9E}" v="1244" dt="2026-02-18T18:48:51.478"/>
    <p1510:client id="{631FBC0D-B913-AA67-7454-7D0F146BEA91}" v="15" dt="2026-02-18T06:20:23.134"/>
    <p1510:client id="{69E032E1-EAC8-BED0-8187-62ABD8AFC2D0}" v="10" dt="2026-02-18T05:17:50.182"/>
    <p1510:client id="{7AFC11E9-3455-CB83-B415-8DD431A15168}" v="548" dt="2026-02-18T14:11:58.405"/>
    <p1510:client id="{7EEF4545-5401-B55D-84ED-41B9F92875E6}" v="111" dt="2026-02-19T06:57:19.329"/>
    <p1510:client id="{80FA6CC4-C380-C7D1-FFA0-F6CC1830B4CC}" v="212" dt="2026-02-18T14:19:55.647"/>
    <p1510:client id="{82BE205F-2596-0FAE-3319-A357EEA6F702}" v="266" dt="2026-02-19T07:08:34.250"/>
    <p1510:client id="{B926A472-C266-D1F0-433C-F06061550B54}" v="136" dt="2026-02-19T04:00:58.971"/>
    <p1510:client id="{C484CF94-5985-AE8B-F967-EEB49184E63F}" v="56" dt="2026-02-19T08:11:12.160"/>
    <p1510:client id="{D446A945-7E5E-C039-548F-72F63171F502}" v="1010" dt="2026-02-19T07:42:17.560"/>
    <p1510:client id="{F2D32E85-01F0-F755-750D-1E6D4B5430F7}" v="1" dt="2026-02-18T08:21:40.306"/>
    <p1510:client id="{F7D173BA-42BC-CBC9-D085-4148998014C8}" v="232" dt="2026-02-18T19:20:04.31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 custT="1"/>
      <dgm:spPr/>
      <dgm:t>
        <a:bodyPr/>
        <a:lstStyle/>
        <a:p>
          <a:pPr rtl="0"/>
          <a:r>
            <a:rPr lang="en-US" sz="1000" b="0">
              <a:solidFill>
                <a:schemeClr val="tx1"/>
              </a:solidFill>
            </a:rPr>
            <a:t>Literature </a:t>
          </a:r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Survey 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/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/>
        </a:p>
      </dgm:t>
    </dgm:pt>
    <dgm:pt modelId="{63672145-F932-0941-9207-6FD21631945F}">
      <dgm:prSet phldrT="[Text]" custT="1"/>
      <dgm:spPr/>
      <dgm:t>
        <a:bodyPr/>
        <a:lstStyle/>
        <a:p>
          <a:pPr rtl="0"/>
          <a:r>
            <a:rPr lang="en-US" sz="1000" b="0">
              <a:solidFill>
                <a:schemeClr val="tx1"/>
              </a:solidFill>
            </a:rPr>
            <a:t>System Architecture Design </a:t>
          </a:r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Finalization</a:t>
          </a:r>
          <a:endParaRPr lang="en-US" sz="1800" b="0">
            <a:solidFill>
              <a:schemeClr val="tx1"/>
            </a:solidFill>
            <a:latin typeface="Helvetica"/>
            <a:cs typeface="Helvetica"/>
          </a:endParaRP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/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/>
        </a:p>
      </dgm:t>
    </dgm:pt>
    <dgm:pt modelId="{26B4761A-8722-154A-9A4E-6B2E8309550C}">
      <dgm:prSet phldrT="[Text]" custT="1"/>
      <dgm:spPr/>
      <dgm:t>
        <a:bodyPr/>
        <a:lstStyle/>
        <a:p>
          <a:pPr rtl="0"/>
          <a:r>
            <a:rPr lang="en-US" sz="1000" b="0">
              <a:solidFill>
                <a:schemeClr val="tx1"/>
              </a:solidFill>
            </a:rPr>
            <a:t>Abstract </a:t>
          </a:r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/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/>
        </a:p>
      </dgm:t>
    </dgm:pt>
    <dgm:pt modelId="{F6E18BD8-FA92-46ED-ACE3-508AC7FC1910}">
      <dgm:prSet custT="1"/>
      <dgm:spPr/>
      <dgm:t>
        <a:bodyPr/>
        <a:lstStyle/>
        <a:p>
          <a:pPr algn="l" rtl="0"/>
          <a:r>
            <a:rPr lang="en-US" sz="900" b="0">
              <a:solidFill>
                <a:schemeClr val="tx1"/>
              </a:solidFill>
            </a:rPr>
            <a:t>Embedding Model Integration and Vector Database </a:t>
          </a:r>
          <a:r>
            <a:rPr lang="en-US" sz="900" b="0">
              <a:solidFill>
                <a:schemeClr val="tx1"/>
              </a:solidFill>
              <a:latin typeface="Helvetica"/>
              <a:cs typeface="Helvetica"/>
            </a:rPr>
            <a:t>Setup</a:t>
          </a:r>
          <a:endParaRPr lang="en-US" sz="1800" b="0">
            <a:solidFill>
              <a:schemeClr val="tx1"/>
            </a:solidFill>
            <a:latin typeface="Helvetica"/>
            <a:cs typeface="Helvetica"/>
          </a:endParaRPr>
        </a:p>
      </dgm:t>
    </dgm:pt>
    <dgm:pt modelId="{4C7D9CC6-4D52-4E8D-AF0F-E18BEA8D46B8}" type="parTrans" cxnId="{9980A314-DE29-462A-8497-D94C1234A921}">
      <dgm:prSet/>
      <dgm:spPr/>
    </dgm:pt>
    <dgm:pt modelId="{F765F7F9-2CCF-4B9E-9349-6BB582E43B7F}" type="sibTrans" cxnId="{9980A314-DE29-462A-8497-D94C1234A921}">
      <dgm:prSet/>
      <dgm:spPr/>
    </dgm:pt>
    <dgm:pt modelId="{46042CE0-0782-4FC6-BBB6-3EDFCC574D00}">
      <dgm:prSet phldr="0" custT="1"/>
      <dgm:spPr/>
      <dgm:t>
        <a:bodyPr/>
        <a:lstStyle/>
        <a:p>
          <a:pPr rtl="0"/>
          <a:r>
            <a:rPr lang="en-US" sz="1000" b="0">
              <a:solidFill>
                <a:schemeClr val="tx1"/>
              </a:solidFill>
            </a:rPr>
            <a:t>Basic Retrieval Pipeline </a:t>
          </a:r>
          <a:r>
            <a:rPr lang="en-US" sz="1000" b="0">
              <a:solidFill>
                <a:schemeClr val="tx1"/>
              </a:solidFill>
              <a:latin typeface="Helvetica"/>
              <a:ea typeface="Calibri"/>
              <a:cs typeface="Helvetica"/>
            </a:rPr>
            <a:t>Implementation</a:t>
          </a:r>
        </a:p>
      </dgm:t>
    </dgm:pt>
    <dgm:pt modelId="{EC5B82EB-CF90-499E-9C53-B4D5111552AB}" type="parTrans" cxnId="{504E4BE6-C3B1-4347-A378-B885F53F9708}">
      <dgm:prSet/>
      <dgm:spPr/>
    </dgm:pt>
    <dgm:pt modelId="{55640279-B007-4BD8-9695-5A35E22BA8FC}" type="sibTrans" cxnId="{504E4BE6-C3B1-4347-A378-B885F53F9708}">
      <dgm:prSet/>
      <dgm:spPr/>
    </dgm:pt>
    <dgm:pt modelId="{2CAC936A-0ED8-4F2D-9624-21963182CA68}">
      <dgm:prSet phldr="0" custT="1"/>
      <dgm:spPr/>
      <dgm:t>
        <a:bodyPr/>
        <a:lstStyle/>
        <a:p>
          <a:pPr algn="l" rtl="0"/>
          <a:r>
            <a:rPr lang="en-US" sz="1000" b="0">
              <a:solidFill>
                <a:schemeClr val="tx1"/>
              </a:solidFill>
            </a:rPr>
            <a:t>Implementation of </a:t>
          </a:r>
          <a:r>
            <a:rPr lang="en-US" sz="1000" b="0">
              <a:solidFill>
                <a:schemeClr val="tx1"/>
              </a:solidFill>
              <a:latin typeface="Calibri"/>
              <a:ea typeface="Calibri"/>
              <a:cs typeface="Calibri"/>
            </a:rPr>
            <a:t> Failure Aware Signals </a:t>
          </a:r>
          <a:endParaRPr lang="en-US" sz="1000" b="0">
            <a:solidFill>
              <a:schemeClr val="tx1"/>
            </a:solidFill>
            <a:latin typeface="Helvetica"/>
            <a:cs typeface="Helvetica"/>
          </a:endParaRPr>
        </a:p>
      </dgm:t>
    </dgm:pt>
    <dgm:pt modelId="{ED661815-8DD0-4943-BCEE-94BC93832497}" type="parTrans" cxnId="{0D5FBDCB-17DD-41FA-8573-E287EB5980FD}">
      <dgm:prSet/>
      <dgm:spPr/>
    </dgm:pt>
    <dgm:pt modelId="{B6729776-ED2F-4B13-BC86-165E653FD919}" type="sibTrans" cxnId="{0D5FBDCB-17DD-41FA-8573-E287EB5980FD}">
      <dgm:prSet/>
      <dgm:spPr/>
    </dgm:pt>
    <dgm:pt modelId="{532C9419-89A5-47D1-B7B0-C4FA210283E4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30/4/2026</a:t>
          </a:r>
          <a:endParaRPr lang="en-GB" sz="1000" b="0">
            <a:solidFill>
              <a:schemeClr val="tx1"/>
            </a:solidFill>
          </a:endParaRPr>
        </a:p>
      </dgm:t>
    </dgm:pt>
    <dgm:pt modelId="{08673F42-A13B-40F2-80EB-66ED5D0834F5}" type="parTrans" cxnId="{58F12CC4-C432-4374-8095-B2434D5BDC57}">
      <dgm:prSet/>
      <dgm:spPr/>
    </dgm:pt>
    <dgm:pt modelId="{29AF4AA1-D2EA-4044-B3EA-8C7121CBFE99}" type="sibTrans" cxnId="{58F12CC4-C432-4374-8095-B2434D5BDC57}">
      <dgm:prSet/>
      <dgm:spPr/>
    </dgm:pt>
    <dgm:pt modelId="{7DE5C05D-6AF7-490A-B4DB-7057CA292C6B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Calibri"/>
              <a:ea typeface="Calibri"/>
              <a:cs typeface="Calibri"/>
            </a:rPr>
            <a:t>5/4/2026</a:t>
          </a:r>
          <a:endParaRPr lang="en-GB" sz="1000" b="0">
            <a:solidFill>
              <a:schemeClr val="tx1"/>
            </a:solidFill>
          </a:endParaRPr>
        </a:p>
      </dgm:t>
    </dgm:pt>
    <dgm:pt modelId="{FC5FA83A-C143-4D38-A334-002FCF0CC8A7}" type="parTrans" cxnId="{512F078C-DA12-4A9B-B722-DAA8A1D3BE5F}">
      <dgm:prSet/>
      <dgm:spPr/>
    </dgm:pt>
    <dgm:pt modelId="{DBD9CF94-AC1F-483A-BDE4-EF8DD31C1214}" type="sibTrans" cxnId="{512F078C-DA12-4A9B-B722-DAA8A1D3BE5F}">
      <dgm:prSet/>
      <dgm:spPr/>
    </dgm:pt>
    <dgm:pt modelId="{E018A755-8949-4F9A-B0D2-F0833215D239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5/2/2026</a:t>
          </a:r>
          <a:endParaRPr lang="en-GB" sz="1000" b="0">
            <a:solidFill>
              <a:schemeClr val="tx1"/>
            </a:solidFill>
          </a:endParaRPr>
        </a:p>
      </dgm:t>
    </dgm:pt>
    <dgm:pt modelId="{6C75584D-59F0-438B-A6D4-699EEB014950}" type="parTrans" cxnId="{9B825CD5-BE19-46AD-B923-D8A26773D268}">
      <dgm:prSet/>
      <dgm:spPr/>
    </dgm:pt>
    <dgm:pt modelId="{39190DB5-F71D-4655-9230-5C7976B9970C}" type="sibTrans" cxnId="{9B825CD5-BE19-46AD-B923-D8A26773D268}">
      <dgm:prSet/>
      <dgm:spPr/>
    </dgm:pt>
    <dgm:pt modelId="{8428BAD4-D090-45FA-9E12-7D0C472CF3DA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20/3/2026</a:t>
          </a:r>
          <a:endParaRPr lang="en-GB" sz="1000" b="0">
            <a:solidFill>
              <a:schemeClr val="tx1"/>
            </a:solidFill>
          </a:endParaRPr>
        </a:p>
      </dgm:t>
    </dgm:pt>
    <dgm:pt modelId="{3FF03E71-42CF-459D-B816-3B0259B11A97}" type="parTrans" cxnId="{D29EFF02-102D-4FEF-8F95-91B4E03611E6}">
      <dgm:prSet/>
      <dgm:spPr/>
    </dgm:pt>
    <dgm:pt modelId="{A066A0C6-CBA4-4AC8-B32D-A9FFDB871821}" type="sibTrans" cxnId="{D29EFF02-102D-4FEF-8F95-91B4E03611E6}">
      <dgm:prSet/>
      <dgm:spPr/>
    </dgm:pt>
    <dgm:pt modelId="{1AA56DC0-CD0E-4990-A3F8-FA3178065B2D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5/3/2026</a:t>
          </a:r>
          <a:endParaRPr lang="en-US" sz="1000" b="0">
            <a:solidFill>
              <a:schemeClr val="tx1"/>
            </a:solidFill>
          </a:endParaRPr>
        </a:p>
      </dgm:t>
    </dgm:pt>
    <dgm:pt modelId="{52D28680-9F5F-46EA-BCF4-D2E7DF3F07D0}" type="parTrans" cxnId="{A84120ED-7040-4482-9EF8-450BFDE9E848}">
      <dgm:prSet/>
      <dgm:spPr/>
    </dgm:pt>
    <dgm:pt modelId="{8A3102EA-A5CB-49FA-A919-BFE3775AA2D5}" type="sibTrans" cxnId="{A84120ED-7040-4482-9EF8-450BFDE9E848}">
      <dgm:prSet/>
      <dgm:spPr/>
    </dgm:pt>
    <dgm:pt modelId="{8F53A4FE-C5A3-4C33-AF06-6AF74E6DBC4E}">
      <dgm:prSet phldr="0" custT="1"/>
      <dgm:spPr/>
      <dgm:t>
        <a:bodyPr/>
        <a:lstStyle/>
        <a:p>
          <a:r>
            <a:rPr lang="en-US" sz="1000" b="0">
              <a:solidFill>
                <a:schemeClr val="tx1"/>
              </a:solidFill>
              <a:latin typeface="Helvetica"/>
              <a:cs typeface="Helvetica"/>
            </a:rPr>
            <a:t>17/2/2026</a:t>
          </a:r>
          <a:endParaRPr lang="en-GB" sz="1000" b="0">
            <a:solidFill>
              <a:schemeClr val="tx1"/>
            </a:solidFill>
          </a:endParaRPr>
        </a:p>
      </dgm:t>
    </dgm:pt>
    <dgm:pt modelId="{2EA8E022-C9A2-4C0F-B890-CD1AE9377D8D}" type="parTrans" cxnId="{08327375-54EA-41F9-B9BC-1C67D10AB60A}">
      <dgm:prSet/>
      <dgm:spPr/>
    </dgm:pt>
    <dgm:pt modelId="{D2E08E89-3629-4521-BC63-47B2156AC0AF}" type="sibTrans" cxnId="{08327375-54EA-41F9-B9BC-1C67D10AB60A}">
      <dgm:prSet/>
      <dgm:spPr/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5"/>
      <dgm:spPr/>
    </dgm:pt>
    <dgm:pt modelId="{1A27501D-E342-BE40-9448-5C65451E51A0}" type="pres">
      <dgm:prSet presAssocID="{26B4761A-8722-154A-9A4E-6B2E8309550C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13263DF5-F771-E44D-A3A6-7359AB5A694B}" type="pres">
      <dgm:prSet presAssocID="{26B4761A-8722-154A-9A4E-6B2E8309550C}" presName="ChildText" presStyleLbl="revTx" presStyleIdx="0" presStyleCnt="6" custScaleX="199197" custLinFactNeighborX="55604" custLinFactNeighborY="-1554">
        <dgm:presLayoutVars>
          <dgm:chMax val="0"/>
          <dgm:chPref val="0"/>
          <dgm:bulletEnabled val="1"/>
        </dgm:presLayoutVars>
      </dgm:prSet>
      <dgm:spPr/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5"/>
      <dgm:spPr/>
    </dgm:pt>
    <dgm:pt modelId="{7176A5BC-3282-044F-8AE1-17BEE6013828}" type="pres">
      <dgm:prSet presAssocID="{16F9E631-8BA3-154F-A6E6-07CA57FBC2D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849E87F9-77C2-E148-A125-B75B32BAE82F}" type="pres">
      <dgm:prSet presAssocID="{16F9E631-8BA3-154F-A6E6-07CA57FBC2DB}" presName="ChildText" presStyleLbl="revTx" presStyleIdx="1" presStyleCnt="6" custScaleX="244962" custLinFactNeighborX="71475" custLinFactNeighborY="-1554">
        <dgm:presLayoutVars>
          <dgm:chMax val="0"/>
          <dgm:chPref val="0"/>
          <dgm:bulletEnabled val="1"/>
        </dgm:presLayoutVars>
      </dgm:prSet>
      <dgm:spPr/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5"/>
      <dgm:spPr/>
    </dgm:pt>
    <dgm:pt modelId="{8AD4400A-F79C-8A4B-829B-0D720ED8FB8C}" type="pres">
      <dgm:prSet presAssocID="{63672145-F932-0941-9207-6FD21631945F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83D977E-49FE-154D-8370-6E0B15881094}" type="pres">
      <dgm:prSet presAssocID="{63672145-F932-0941-9207-6FD21631945F}" presName="ChildText" presStyleLbl="revTx" presStyleIdx="2" presStyleCnt="6" custScaleX="223363" custLinFactNeighborX="61177">
        <dgm:presLayoutVars>
          <dgm:chMax val="0"/>
          <dgm:chPref val="0"/>
          <dgm:bulletEnabled val="1"/>
        </dgm:presLayoutVars>
      </dgm:prSet>
      <dgm:spPr/>
    </dgm:pt>
    <dgm:pt modelId="{51D4CC9D-D22F-A045-9B1F-02AFD777BA4F}" type="pres">
      <dgm:prSet presAssocID="{EE4E87B9-A6F7-D040-A8C9-2B94C61F8F15}" presName="sibTrans" presStyleCnt="0"/>
      <dgm:spPr/>
    </dgm:pt>
    <dgm:pt modelId="{125B8518-D3E2-4DD3-815B-459E6072CB6F}" type="pres">
      <dgm:prSet presAssocID="{F6E18BD8-FA92-46ED-ACE3-508AC7FC1910}" presName="composite" presStyleCnt="0"/>
      <dgm:spPr/>
    </dgm:pt>
    <dgm:pt modelId="{D01766D3-B8AC-40AE-A9BF-B1F1216958C4}" type="pres">
      <dgm:prSet presAssocID="{F6E18BD8-FA92-46ED-ACE3-508AC7FC1910}" presName="bentUpArrow1" presStyleLbl="alignImgPlace1" presStyleIdx="3" presStyleCnt="5"/>
      <dgm:spPr/>
    </dgm:pt>
    <dgm:pt modelId="{FAC4AA9C-9692-4E9D-93B9-26FF72E25C8B}" type="pres">
      <dgm:prSet presAssocID="{F6E18BD8-FA92-46ED-ACE3-508AC7FC1910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140E9372-6C7F-491F-A95F-1C11ACEDA75F}" type="pres">
      <dgm:prSet presAssocID="{F6E18BD8-FA92-46ED-ACE3-508AC7FC1910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E4AA6643-0BF6-4558-A18B-4F78D85F8F52}" type="pres">
      <dgm:prSet presAssocID="{F765F7F9-2CCF-4B9E-9349-6BB582E43B7F}" presName="sibTrans" presStyleCnt="0"/>
      <dgm:spPr/>
    </dgm:pt>
    <dgm:pt modelId="{D021219F-AF05-4B80-8185-A9D4D3F8B89A}" type="pres">
      <dgm:prSet presAssocID="{46042CE0-0782-4FC6-BBB6-3EDFCC574D00}" presName="composite" presStyleCnt="0"/>
      <dgm:spPr/>
    </dgm:pt>
    <dgm:pt modelId="{71D10C85-0479-4DA5-BD0B-CDD2941D500C}" type="pres">
      <dgm:prSet presAssocID="{46042CE0-0782-4FC6-BBB6-3EDFCC574D00}" presName="bentUpArrow1" presStyleLbl="alignImgPlace1" presStyleIdx="4" presStyleCnt="5"/>
      <dgm:spPr/>
    </dgm:pt>
    <dgm:pt modelId="{4C8C4C14-C4B8-4834-ADB6-B761027E1862}" type="pres">
      <dgm:prSet presAssocID="{46042CE0-0782-4FC6-BBB6-3EDFCC574D00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AECE551-01D5-4D58-A415-A2352AA814AE}" type="pres">
      <dgm:prSet presAssocID="{46042CE0-0782-4FC6-BBB6-3EDFCC574D00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B232D52B-AEA3-4C23-855B-6DF4C4BD1F98}" type="pres">
      <dgm:prSet presAssocID="{55640279-B007-4BD8-9695-5A35E22BA8FC}" presName="sibTrans" presStyleCnt="0"/>
      <dgm:spPr/>
    </dgm:pt>
    <dgm:pt modelId="{5F9A87F9-2E18-4013-9707-3326A27C1816}" type="pres">
      <dgm:prSet presAssocID="{2CAC936A-0ED8-4F2D-9624-21963182CA68}" presName="composite" presStyleCnt="0"/>
      <dgm:spPr/>
    </dgm:pt>
    <dgm:pt modelId="{C6CAC55B-0D3A-4D17-A868-EF875A9F0C24}" type="pres">
      <dgm:prSet presAssocID="{2CAC936A-0ED8-4F2D-9624-21963182CA68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  <dgm:pt modelId="{8CDE3E7B-363A-4086-8DC8-A11B41F3ADCF}" type="pres">
      <dgm:prSet presAssocID="{2CAC936A-0ED8-4F2D-9624-21963182CA68}" presName="Final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D29EFF02-102D-4FEF-8F95-91B4E03611E6}" srcId="{F6E18BD8-FA92-46ED-ACE3-508AC7FC1910}" destId="{8428BAD4-D090-45FA-9E12-7D0C472CF3DA}" srcOrd="0" destOrd="0" parTransId="{3FF03E71-42CF-459D-B816-3B0259B11A97}" sibTransId="{A066A0C6-CBA4-4AC8-B32D-A9FFDB871821}"/>
    <dgm:cxn modelId="{B756AE0C-A89A-4B0C-A605-03555CD68A08}" type="presOf" srcId="{7DE5C05D-6AF7-490A-B4DB-7057CA292C6B}" destId="{7AECE551-01D5-4D58-A415-A2352AA814AE}" srcOrd="0" destOrd="0" presId="urn:microsoft.com/office/officeart/2005/8/layout/StepDownProcess"/>
    <dgm:cxn modelId="{9980A314-DE29-462A-8497-D94C1234A921}" srcId="{92AF2611-4B58-ED43-AC9F-B952F610F406}" destId="{F6E18BD8-FA92-46ED-ACE3-508AC7FC1910}" srcOrd="3" destOrd="0" parTransId="{4C7D9CC6-4D52-4E8D-AF0F-E18BEA8D46B8}" sibTransId="{F765F7F9-2CCF-4B9E-9349-6BB582E43B7F}"/>
    <dgm:cxn modelId="{FA08F517-A2D9-4224-8316-A0F5BBEFE6B5}" type="presOf" srcId="{8F53A4FE-C5A3-4C33-AF06-6AF74E6DBC4E}" destId="{849E87F9-77C2-E148-A125-B75B32BAE82F}" srcOrd="0" destOrd="0" presId="urn:microsoft.com/office/officeart/2005/8/layout/StepDownProcess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5D142628-E3E3-4F11-BF53-8559545D83F9}" type="presOf" srcId="{F6E18BD8-FA92-46ED-ACE3-508AC7FC1910}" destId="{FAC4AA9C-9692-4E9D-93B9-26FF72E25C8B}" srcOrd="0" destOrd="0" presId="urn:microsoft.com/office/officeart/2005/8/layout/StepDownProcess"/>
    <dgm:cxn modelId="{2794B736-9850-42D0-9863-C582AFE93DDC}" type="presOf" srcId="{16F9E631-8BA3-154F-A6E6-07CA57FBC2DB}" destId="{7176A5BC-3282-044F-8AE1-17BEE6013828}" srcOrd="0" destOrd="0" presId="urn:microsoft.com/office/officeart/2005/8/layout/StepDownProcess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56CDA95E-33CF-4372-A076-A6CCA2522A6F}" type="presOf" srcId="{1AA56DC0-CD0E-4990-A3F8-FA3178065B2D}" destId="{383D977E-49FE-154D-8370-6E0B15881094}" srcOrd="0" destOrd="0" presId="urn:microsoft.com/office/officeart/2005/8/layout/StepDownProcess"/>
    <dgm:cxn modelId="{DD88D95F-5E53-46A0-BE48-BAD21FE9A4C7}" type="presOf" srcId="{26B4761A-8722-154A-9A4E-6B2E8309550C}" destId="{1A27501D-E342-BE40-9448-5C65451E51A0}" srcOrd="0" destOrd="0" presId="urn:microsoft.com/office/officeart/2005/8/layout/StepDownProcess"/>
    <dgm:cxn modelId="{D1413C62-0F26-4C2B-9CF6-DEE50C1EDFCC}" type="presOf" srcId="{2CAC936A-0ED8-4F2D-9624-21963182CA68}" destId="{C6CAC55B-0D3A-4D17-A868-EF875A9F0C24}" srcOrd="0" destOrd="0" presId="urn:microsoft.com/office/officeart/2005/8/layout/StepDownProcess"/>
    <dgm:cxn modelId="{08327375-54EA-41F9-B9BC-1C67D10AB60A}" srcId="{16F9E631-8BA3-154F-A6E6-07CA57FBC2DB}" destId="{8F53A4FE-C5A3-4C33-AF06-6AF74E6DBC4E}" srcOrd="0" destOrd="0" parTransId="{2EA8E022-C9A2-4C0F-B890-CD1AE9377D8D}" sibTransId="{D2E08E89-3629-4521-BC63-47B2156AC0AF}"/>
    <dgm:cxn modelId="{2FA0EF8A-13F1-44A7-8EB4-AB426AB940BE}" type="presOf" srcId="{8428BAD4-D090-45FA-9E12-7D0C472CF3DA}" destId="{140E9372-6C7F-491F-A95F-1C11ACEDA75F}" srcOrd="0" destOrd="0" presId="urn:microsoft.com/office/officeart/2005/8/layout/StepDownProcess"/>
    <dgm:cxn modelId="{512F078C-DA12-4A9B-B722-DAA8A1D3BE5F}" srcId="{46042CE0-0782-4FC6-BBB6-3EDFCC574D00}" destId="{7DE5C05D-6AF7-490A-B4DB-7057CA292C6B}" srcOrd="0" destOrd="0" parTransId="{FC5FA83A-C143-4D38-A334-002FCF0CC8A7}" sibTransId="{DBD9CF94-AC1F-483A-BDE4-EF8DD31C1214}"/>
    <dgm:cxn modelId="{A70B7E8C-70A6-4C82-ABE6-7E6619D0DA09}" type="presOf" srcId="{E018A755-8949-4F9A-B0D2-F0833215D239}" destId="{13263DF5-F771-E44D-A3A6-7359AB5A694B}" srcOrd="0" destOrd="0" presId="urn:microsoft.com/office/officeart/2005/8/layout/StepDownProcess"/>
    <dgm:cxn modelId="{4F361BA1-9F87-4156-8070-F0A3FC35A942}" type="presOf" srcId="{532C9419-89A5-47D1-B7B0-C4FA210283E4}" destId="{8CDE3E7B-363A-4086-8DC8-A11B41F3ADCF}" srcOrd="0" destOrd="0" presId="urn:microsoft.com/office/officeart/2005/8/layout/StepDownProcess"/>
    <dgm:cxn modelId="{58F12CC4-C432-4374-8095-B2434D5BDC57}" srcId="{2CAC936A-0ED8-4F2D-9624-21963182CA68}" destId="{532C9419-89A5-47D1-B7B0-C4FA210283E4}" srcOrd="0" destOrd="0" parTransId="{08673F42-A13B-40F2-80EB-66ED5D0834F5}" sibTransId="{29AF4AA1-D2EA-4044-B3EA-8C7121CBFE99}"/>
    <dgm:cxn modelId="{A98326C5-012F-4A5F-B0D5-9D38A091BBF1}" type="presOf" srcId="{46042CE0-0782-4FC6-BBB6-3EDFCC574D00}" destId="{4C8C4C14-C4B8-4834-ADB6-B761027E1862}" srcOrd="0" destOrd="0" presId="urn:microsoft.com/office/officeart/2005/8/layout/StepDownProcess"/>
    <dgm:cxn modelId="{0D5FBDCB-17DD-41FA-8573-E287EB5980FD}" srcId="{92AF2611-4B58-ED43-AC9F-B952F610F406}" destId="{2CAC936A-0ED8-4F2D-9624-21963182CA68}" srcOrd="5" destOrd="0" parTransId="{ED661815-8DD0-4943-BCEE-94BC93832497}" sibTransId="{B6729776-ED2F-4B13-BC86-165E653FD919}"/>
    <dgm:cxn modelId="{E2A91ED4-4925-42EF-A669-F9C89EA0B6B2}" type="presOf" srcId="{63672145-F932-0941-9207-6FD21631945F}" destId="{8AD4400A-F79C-8A4B-829B-0D720ED8FB8C}" srcOrd="0" destOrd="0" presId="urn:microsoft.com/office/officeart/2005/8/layout/StepDownProcess"/>
    <dgm:cxn modelId="{9B825CD5-BE19-46AD-B923-D8A26773D268}" srcId="{26B4761A-8722-154A-9A4E-6B2E8309550C}" destId="{E018A755-8949-4F9A-B0D2-F0833215D239}" srcOrd="0" destOrd="0" parTransId="{6C75584D-59F0-438B-A6D4-699EEB014950}" sibTransId="{39190DB5-F71D-4655-9230-5C7976B9970C}"/>
    <dgm:cxn modelId="{504E4BE6-C3B1-4347-A378-B885F53F9708}" srcId="{92AF2611-4B58-ED43-AC9F-B952F610F406}" destId="{46042CE0-0782-4FC6-BBB6-3EDFCC574D00}" srcOrd="4" destOrd="0" parTransId="{EC5B82EB-CF90-499E-9C53-B4D5111552AB}" sibTransId="{55640279-B007-4BD8-9695-5A35E22BA8FC}"/>
    <dgm:cxn modelId="{A84120ED-7040-4482-9EF8-450BFDE9E848}" srcId="{63672145-F932-0941-9207-6FD21631945F}" destId="{1AA56DC0-CD0E-4990-A3F8-FA3178065B2D}" srcOrd="0" destOrd="0" parTransId="{52D28680-9F5F-46EA-BCF4-D2E7DF3F07D0}" sibTransId="{8A3102EA-A5CB-49FA-A919-BFE3775AA2D5}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DA5F30B9-66E0-4454-865B-5B79312C12C8}" type="presParOf" srcId="{49E2B0A6-6F15-3D4D-BF88-D0B2483CB55B}" destId="{E975EE4B-D42E-E84D-8A4A-2906A98D9890}" srcOrd="0" destOrd="0" presId="urn:microsoft.com/office/officeart/2005/8/layout/StepDownProcess"/>
    <dgm:cxn modelId="{BEA60C31-3D87-48CA-9D5F-E506056F2540}" type="presParOf" srcId="{E975EE4B-D42E-E84D-8A4A-2906A98D9890}" destId="{FC8198D2-B811-F543-848D-08253013A363}" srcOrd="0" destOrd="0" presId="urn:microsoft.com/office/officeart/2005/8/layout/StepDownProcess"/>
    <dgm:cxn modelId="{D4B7B1F4-8367-458F-9D1A-733FA5A38364}" type="presParOf" srcId="{E975EE4B-D42E-E84D-8A4A-2906A98D9890}" destId="{1A27501D-E342-BE40-9448-5C65451E51A0}" srcOrd="1" destOrd="0" presId="urn:microsoft.com/office/officeart/2005/8/layout/StepDownProcess"/>
    <dgm:cxn modelId="{9E7DF15D-7987-4975-8DBF-67B7B24F5884}" type="presParOf" srcId="{E975EE4B-D42E-E84D-8A4A-2906A98D9890}" destId="{13263DF5-F771-E44D-A3A6-7359AB5A694B}" srcOrd="2" destOrd="0" presId="urn:microsoft.com/office/officeart/2005/8/layout/StepDownProcess"/>
    <dgm:cxn modelId="{56EDB562-3906-4C7E-AEF0-D8BA39EC532E}" type="presParOf" srcId="{49E2B0A6-6F15-3D4D-BF88-D0B2483CB55B}" destId="{1405AD88-5681-5740-8B0F-785D5C4C54E3}" srcOrd="1" destOrd="0" presId="urn:microsoft.com/office/officeart/2005/8/layout/StepDownProcess"/>
    <dgm:cxn modelId="{EE3841D0-7EAF-40DA-8124-8A4EFCC3AD12}" type="presParOf" srcId="{49E2B0A6-6F15-3D4D-BF88-D0B2483CB55B}" destId="{876C9C10-85C7-794D-BECA-7E6B3040BD5B}" srcOrd="2" destOrd="0" presId="urn:microsoft.com/office/officeart/2005/8/layout/StepDownProcess"/>
    <dgm:cxn modelId="{8E086812-5B6F-4471-AA82-51DCAD21BF3E}" type="presParOf" srcId="{876C9C10-85C7-794D-BECA-7E6B3040BD5B}" destId="{7249723C-E4C0-8E4E-9876-FECBD8EB4088}" srcOrd="0" destOrd="0" presId="urn:microsoft.com/office/officeart/2005/8/layout/StepDownProcess"/>
    <dgm:cxn modelId="{9D9727C3-C922-4479-B406-6E515526F976}" type="presParOf" srcId="{876C9C10-85C7-794D-BECA-7E6B3040BD5B}" destId="{7176A5BC-3282-044F-8AE1-17BEE6013828}" srcOrd="1" destOrd="0" presId="urn:microsoft.com/office/officeart/2005/8/layout/StepDownProcess"/>
    <dgm:cxn modelId="{4DB43A9A-556E-4341-AFF5-024F9F8F9771}" type="presParOf" srcId="{876C9C10-85C7-794D-BECA-7E6B3040BD5B}" destId="{849E87F9-77C2-E148-A125-B75B32BAE82F}" srcOrd="2" destOrd="0" presId="urn:microsoft.com/office/officeart/2005/8/layout/StepDownProcess"/>
    <dgm:cxn modelId="{D1D6CC3E-46B6-4819-9691-6AEDFC06676A}" type="presParOf" srcId="{49E2B0A6-6F15-3D4D-BF88-D0B2483CB55B}" destId="{A7334212-A42F-5947-B178-28EE2431D98C}" srcOrd="3" destOrd="0" presId="urn:microsoft.com/office/officeart/2005/8/layout/StepDownProcess"/>
    <dgm:cxn modelId="{4A26234C-586F-4519-BF6E-89B22EEEB133}" type="presParOf" srcId="{49E2B0A6-6F15-3D4D-BF88-D0B2483CB55B}" destId="{797595AA-82E7-9A45-818A-CBFC19FC01B4}" srcOrd="4" destOrd="0" presId="urn:microsoft.com/office/officeart/2005/8/layout/StepDownProcess"/>
    <dgm:cxn modelId="{4F93ABC2-5508-470A-BB65-0A948F116043}" type="presParOf" srcId="{797595AA-82E7-9A45-818A-CBFC19FC01B4}" destId="{582A57C3-E208-4C4D-8464-8F41E2B621E9}" srcOrd="0" destOrd="0" presId="urn:microsoft.com/office/officeart/2005/8/layout/StepDownProcess"/>
    <dgm:cxn modelId="{7A0E13AA-90F2-4C09-A583-50F291DD170A}" type="presParOf" srcId="{797595AA-82E7-9A45-818A-CBFC19FC01B4}" destId="{8AD4400A-F79C-8A4B-829B-0D720ED8FB8C}" srcOrd="1" destOrd="0" presId="urn:microsoft.com/office/officeart/2005/8/layout/StepDownProcess"/>
    <dgm:cxn modelId="{03723C5D-B965-47C5-B560-C05AFEBDBB74}" type="presParOf" srcId="{797595AA-82E7-9A45-818A-CBFC19FC01B4}" destId="{383D977E-49FE-154D-8370-6E0B15881094}" srcOrd="2" destOrd="0" presId="urn:microsoft.com/office/officeart/2005/8/layout/StepDownProcess"/>
    <dgm:cxn modelId="{7D8BB6EB-7C59-4B05-93E4-2B64EF9F5659}" type="presParOf" srcId="{49E2B0A6-6F15-3D4D-BF88-D0B2483CB55B}" destId="{51D4CC9D-D22F-A045-9B1F-02AFD777BA4F}" srcOrd="5" destOrd="0" presId="urn:microsoft.com/office/officeart/2005/8/layout/StepDownProcess"/>
    <dgm:cxn modelId="{A9785740-4701-4B54-B21C-7F2DAA821162}" type="presParOf" srcId="{49E2B0A6-6F15-3D4D-BF88-D0B2483CB55B}" destId="{125B8518-D3E2-4DD3-815B-459E6072CB6F}" srcOrd="6" destOrd="0" presId="urn:microsoft.com/office/officeart/2005/8/layout/StepDownProcess"/>
    <dgm:cxn modelId="{8428CEE5-0906-4380-9D1D-C110EFBFEAA8}" type="presParOf" srcId="{125B8518-D3E2-4DD3-815B-459E6072CB6F}" destId="{D01766D3-B8AC-40AE-A9BF-B1F1216958C4}" srcOrd="0" destOrd="0" presId="urn:microsoft.com/office/officeart/2005/8/layout/StepDownProcess"/>
    <dgm:cxn modelId="{3BCB360C-67EA-4774-8E4B-4A51293133E0}" type="presParOf" srcId="{125B8518-D3E2-4DD3-815B-459E6072CB6F}" destId="{FAC4AA9C-9692-4E9D-93B9-26FF72E25C8B}" srcOrd="1" destOrd="0" presId="urn:microsoft.com/office/officeart/2005/8/layout/StepDownProcess"/>
    <dgm:cxn modelId="{A4878DCC-D365-479D-926B-5B7613A296C1}" type="presParOf" srcId="{125B8518-D3E2-4DD3-815B-459E6072CB6F}" destId="{140E9372-6C7F-491F-A95F-1C11ACEDA75F}" srcOrd="2" destOrd="0" presId="urn:microsoft.com/office/officeart/2005/8/layout/StepDownProcess"/>
    <dgm:cxn modelId="{9F978796-08B6-4EB1-AAF7-815ECD3A6B22}" type="presParOf" srcId="{49E2B0A6-6F15-3D4D-BF88-D0B2483CB55B}" destId="{E4AA6643-0BF6-4558-A18B-4F78D85F8F52}" srcOrd="7" destOrd="0" presId="urn:microsoft.com/office/officeart/2005/8/layout/StepDownProcess"/>
    <dgm:cxn modelId="{917D813F-1C36-4C72-99AE-189E6447849A}" type="presParOf" srcId="{49E2B0A6-6F15-3D4D-BF88-D0B2483CB55B}" destId="{D021219F-AF05-4B80-8185-A9D4D3F8B89A}" srcOrd="8" destOrd="0" presId="urn:microsoft.com/office/officeart/2005/8/layout/StepDownProcess"/>
    <dgm:cxn modelId="{FA884B0B-2415-48F9-B920-2EBD2283E2B2}" type="presParOf" srcId="{D021219F-AF05-4B80-8185-A9D4D3F8B89A}" destId="{71D10C85-0479-4DA5-BD0B-CDD2941D500C}" srcOrd="0" destOrd="0" presId="urn:microsoft.com/office/officeart/2005/8/layout/StepDownProcess"/>
    <dgm:cxn modelId="{2D4C0B4B-99B5-438C-9995-BFD77484E96B}" type="presParOf" srcId="{D021219F-AF05-4B80-8185-A9D4D3F8B89A}" destId="{4C8C4C14-C4B8-4834-ADB6-B761027E1862}" srcOrd="1" destOrd="0" presId="urn:microsoft.com/office/officeart/2005/8/layout/StepDownProcess"/>
    <dgm:cxn modelId="{43BD3E8C-F14B-472A-B492-90BF91BC3FD6}" type="presParOf" srcId="{D021219F-AF05-4B80-8185-A9D4D3F8B89A}" destId="{7AECE551-01D5-4D58-A415-A2352AA814AE}" srcOrd="2" destOrd="0" presId="urn:microsoft.com/office/officeart/2005/8/layout/StepDownProcess"/>
    <dgm:cxn modelId="{2DE0A245-559F-41DE-9886-F12E64A35B04}" type="presParOf" srcId="{49E2B0A6-6F15-3D4D-BF88-D0B2483CB55B}" destId="{B232D52B-AEA3-4C23-855B-6DF4C4BD1F98}" srcOrd="9" destOrd="0" presId="urn:microsoft.com/office/officeart/2005/8/layout/StepDownProcess"/>
    <dgm:cxn modelId="{C0B88FCA-6A59-42BA-8C70-6209F5B183B0}" type="presParOf" srcId="{49E2B0A6-6F15-3D4D-BF88-D0B2483CB55B}" destId="{5F9A87F9-2E18-4013-9707-3326A27C1816}" srcOrd="10" destOrd="0" presId="urn:microsoft.com/office/officeart/2005/8/layout/StepDownProcess"/>
    <dgm:cxn modelId="{32C23B5A-49FC-4898-AC8A-39E644790657}" type="presParOf" srcId="{5F9A87F9-2E18-4013-9707-3326A27C1816}" destId="{C6CAC55B-0D3A-4D17-A868-EF875A9F0C24}" srcOrd="0" destOrd="0" presId="urn:microsoft.com/office/officeart/2005/8/layout/StepDownProcess"/>
    <dgm:cxn modelId="{EF22D9E3-61CC-4FBA-8724-46E5ACE6C464}" type="presParOf" srcId="{5F9A87F9-2E18-4013-9707-3326A27C1816}" destId="{8CDE3E7B-363A-4086-8DC8-A11B41F3ADC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122002" y="703706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961519" y="32238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solidFill>
                <a:schemeClr val="tx1"/>
              </a:solidFill>
            </a:rPr>
            <a:t>Abstract </a:t>
          </a: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Submission</a:t>
          </a:r>
        </a:p>
      </dsp:txBody>
      <dsp:txXfrm>
        <a:off x="996368" y="67087"/>
        <a:ext cx="950000" cy="644058"/>
      </dsp:txXfrm>
    </dsp:sp>
    <dsp:sp modelId="{13263DF5-F771-E44D-A3A6-7359AB5A694B}">
      <dsp:nvSpPr>
        <dsp:cNvPr id="0" name=""/>
        <dsp:cNvSpPr/>
      </dsp:nvSpPr>
      <dsp:spPr>
        <a:xfrm>
          <a:off x="2025757" y="91346"/>
          <a:ext cx="1477308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5/2/2026</a:t>
          </a:r>
          <a:endParaRPr lang="en-GB" sz="1000" b="0" kern="1200">
            <a:solidFill>
              <a:schemeClr val="tx1"/>
            </a:solidFill>
          </a:endParaRPr>
        </a:p>
      </dsp:txBody>
      <dsp:txXfrm>
        <a:off x="2025757" y="91346"/>
        <a:ext cx="1477308" cy="576889"/>
      </dsp:txXfrm>
    </dsp:sp>
    <dsp:sp modelId="{7249723C-E4C0-8E4E-9876-FECBD8EB4088}">
      <dsp:nvSpPr>
        <dsp:cNvPr id="0" name=""/>
        <dsp:cNvSpPr/>
      </dsp:nvSpPr>
      <dsp:spPr>
        <a:xfrm rot="5400000">
          <a:off x="2144003" y="1505490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1983520" y="834022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solidFill>
                <a:schemeClr val="tx1"/>
              </a:solidFill>
            </a:rPr>
            <a:t>Literature </a:t>
          </a: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Survey </a:t>
          </a:r>
        </a:p>
      </dsp:txBody>
      <dsp:txXfrm>
        <a:off x="2018369" y="868871"/>
        <a:ext cx="950000" cy="644058"/>
      </dsp:txXfrm>
    </dsp:sp>
    <dsp:sp modelId="{849E87F9-77C2-E148-A125-B75B32BAE82F}">
      <dsp:nvSpPr>
        <dsp:cNvPr id="0" name=""/>
        <dsp:cNvSpPr/>
      </dsp:nvSpPr>
      <dsp:spPr>
        <a:xfrm>
          <a:off x="2995759" y="893130"/>
          <a:ext cx="1816716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17/2/2026</a:t>
          </a:r>
          <a:endParaRPr lang="en-GB" sz="1000" b="0" kern="1200">
            <a:solidFill>
              <a:schemeClr val="tx1"/>
            </a:solidFill>
          </a:endParaRPr>
        </a:p>
      </dsp:txBody>
      <dsp:txXfrm>
        <a:off x="2995759" y="893130"/>
        <a:ext cx="1816716" cy="576889"/>
      </dsp:txXfrm>
    </dsp:sp>
    <dsp:sp modelId="{582A57C3-E208-4C4D-8464-8F41E2B621E9}">
      <dsp:nvSpPr>
        <dsp:cNvPr id="0" name=""/>
        <dsp:cNvSpPr/>
      </dsp:nvSpPr>
      <dsp:spPr>
        <a:xfrm rot="5400000">
          <a:off x="3166004" y="2307273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3005522" y="1635806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solidFill>
                <a:schemeClr val="tx1"/>
              </a:solidFill>
            </a:rPr>
            <a:t>System Architecture Design </a:t>
          </a: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Finalization</a:t>
          </a:r>
          <a:endParaRPr lang="en-US" sz="1800" b="0" kern="1200">
            <a:solidFill>
              <a:schemeClr val="tx1"/>
            </a:solidFill>
            <a:latin typeface="Helvetica"/>
            <a:cs typeface="Helvetica"/>
          </a:endParaRPr>
        </a:p>
      </dsp:txBody>
      <dsp:txXfrm>
        <a:off x="3040371" y="1670655"/>
        <a:ext cx="950000" cy="644058"/>
      </dsp:txXfrm>
    </dsp:sp>
    <dsp:sp modelId="{383D977E-49FE-154D-8370-6E0B15881094}">
      <dsp:nvSpPr>
        <dsp:cNvPr id="0" name=""/>
        <dsp:cNvSpPr/>
      </dsp:nvSpPr>
      <dsp:spPr>
        <a:xfrm>
          <a:off x="4021479" y="1703878"/>
          <a:ext cx="16565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5/3/2026</a:t>
          </a:r>
          <a:endParaRPr lang="en-US" sz="1000" b="0" kern="1200">
            <a:solidFill>
              <a:schemeClr val="tx1"/>
            </a:solidFill>
          </a:endParaRPr>
        </a:p>
      </dsp:txBody>
      <dsp:txXfrm>
        <a:off x="4021479" y="1703878"/>
        <a:ext cx="1656531" cy="576889"/>
      </dsp:txXfrm>
    </dsp:sp>
    <dsp:sp modelId="{D01766D3-B8AC-40AE-A9BF-B1F1216958C4}">
      <dsp:nvSpPr>
        <dsp:cNvPr id="0" name=""/>
        <dsp:cNvSpPr/>
      </dsp:nvSpPr>
      <dsp:spPr>
        <a:xfrm rot="5400000">
          <a:off x="4188005" y="3109057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4AA9C-9692-4E9D-93B9-26FF72E25C8B}">
      <dsp:nvSpPr>
        <dsp:cNvPr id="0" name=""/>
        <dsp:cNvSpPr/>
      </dsp:nvSpPr>
      <dsp:spPr>
        <a:xfrm>
          <a:off x="4027523" y="2437589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solidFill>
                <a:schemeClr val="tx1"/>
              </a:solidFill>
            </a:rPr>
            <a:t>Embedding Model Integration and Vector Database </a:t>
          </a:r>
          <a:r>
            <a:rPr lang="en-US" sz="900" b="0" kern="1200">
              <a:solidFill>
                <a:schemeClr val="tx1"/>
              </a:solidFill>
              <a:latin typeface="Helvetica"/>
              <a:cs typeface="Helvetica"/>
            </a:rPr>
            <a:t>Setup</a:t>
          </a:r>
          <a:endParaRPr lang="en-US" sz="1800" b="0" kern="1200">
            <a:solidFill>
              <a:schemeClr val="tx1"/>
            </a:solidFill>
            <a:latin typeface="Helvetica"/>
            <a:cs typeface="Helvetica"/>
          </a:endParaRPr>
        </a:p>
      </dsp:txBody>
      <dsp:txXfrm>
        <a:off x="4062372" y="2472438"/>
        <a:ext cx="950000" cy="644058"/>
      </dsp:txXfrm>
    </dsp:sp>
    <dsp:sp modelId="{140E9372-6C7F-491F-A95F-1C11ACEDA75F}">
      <dsp:nvSpPr>
        <dsp:cNvPr id="0" name=""/>
        <dsp:cNvSpPr/>
      </dsp:nvSpPr>
      <dsp:spPr>
        <a:xfrm>
          <a:off x="5047222" y="2505662"/>
          <a:ext cx="7416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20/3/2026</a:t>
          </a:r>
          <a:endParaRPr lang="en-GB" sz="1000" b="0" kern="1200">
            <a:solidFill>
              <a:schemeClr val="tx1"/>
            </a:solidFill>
          </a:endParaRPr>
        </a:p>
      </dsp:txBody>
      <dsp:txXfrm>
        <a:off x="5047222" y="2505662"/>
        <a:ext cx="741631" cy="576889"/>
      </dsp:txXfrm>
    </dsp:sp>
    <dsp:sp modelId="{71D10C85-0479-4DA5-BD0B-CDD2941D500C}">
      <dsp:nvSpPr>
        <dsp:cNvPr id="0" name=""/>
        <dsp:cNvSpPr/>
      </dsp:nvSpPr>
      <dsp:spPr>
        <a:xfrm rot="5400000">
          <a:off x="5210006" y="3910841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C4C14-C4B8-4834-ADB6-B761027E1862}">
      <dsp:nvSpPr>
        <dsp:cNvPr id="0" name=""/>
        <dsp:cNvSpPr/>
      </dsp:nvSpPr>
      <dsp:spPr>
        <a:xfrm>
          <a:off x="5049524" y="3239373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solidFill>
                <a:schemeClr val="tx1"/>
              </a:solidFill>
            </a:rPr>
            <a:t>Basic Retrieval Pipeline </a:t>
          </a:r>
          <a:r>
            <a:rPr lang="en-US" sz="1000" b="0" kern="1200">
              <a:solidFill>
                <a:schemeClr val="tx1"/>
              </a:solidFill>
              <a:latin typeface="Helvetica"/>
              <a:ea typeface="Calibri"/>
              <a:cs typeface="Helvetica"/>
            </a:rPr>
            <a:t>Implementation</a:t>
          </a:r>
        </a:p>
      </dsp:txBody>
      <dsp:txXfrm>
        <a:off x="5084373" y="3274222"/>
        <a:ext cx="950000" cy="644058"/>
      </dsp:txXfrm>
    </dsp:sp>
    <dsp:sp modelId="{7AECE551-01D5-4D58-A415-A2352AA814AE}">
      <dsp:nvSpPr>
        <dsp:cNvPr id="0" name=""/>
        <dsp:cNvSpPr/>
      </dsp:nvSpPr>
      <dsp:spPr>
        <a:xfrm>
          <a:off x="6069223" y="3307446"/>
          <a:ext cx="7416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Calibri"/>
              <a:ea typeface="Calibri"/>
              <a:cs typeface="Calibri"/>
            </a:rPr>
            <a:t>5/4/2026</a:t>
          </a:r>
          <a:endParaRPr lang="en-GB" sz="1000" b="0" kern="1200">
            <a:solidFill>
              <a:schemeClr val="tx1"/>
            </a:solidFill>
          </a:endParaRPr>
        </a:p>
      </dsp:txBody>
      <dsp:txXfrm>
        <a:off x="6069223" y="3307446"/>
        <a:ext cx="741631" cy="576889"/>
      </dsp:txXfrm>
    </dsp:sp>
    <dsp:sp modelId="{C6CAC55B-0D3A-4D17-A868-EF875A9F0C24}">
      <dsp:nvSpPr>
        <dsp:cNvPr id="0" name=""/>
        <dsp:cNvSpPr/>
      </dsp:nvSpPr>
      <dsp:spPr>
        <a:xfrm>
          <a:off x="6071525" y="4041157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solidFill>
                <a:schemeClr val="tx1"/>
              </a:solidFill>
            </a:rPr>
            <a:t>Implementation of </a:t>
          </a:r>
          <a:r>
            <a:rPr lang="en-US" sz="1000" b="0" kern="1200">
              <a:solidFill>
                <a:schemeClr val="tx1"/>
              </a:solidFill>
              <a:latin typeface="Calibri"/>
              <a:ea typeface="Calibri"/>
              <a:cs typeface="Calibri"/>
            </a:rPr>
            <a:t> Failure Aware Signals </a:t>
          </a:r>
          <a:endParaRPr lang="en-US" sz="1000" b="0" kern="1200">
            <a:solidFill>
              <a:schemeClr val="tx1"/>
            </a:solidFill>
            <a:latin typeface="Helvetica"/>
            <a:cs typeface="Helvetica"/>
          </a:endParaRPr>
        </a:p>
      </dsp:txBody>
      <dsp:txXfrm>
        <a:off x="6106374" y="4076006"/>
        <a:ext cx="950000" cy="644058"/>
      </dsp:txXfrm>
    </dsp:sp>
    <dsp:sp modelId="{8CDE3E7B-363A-4086-8DC8-A11B41F3ADCF}">
      <dsp:nvSpPr>
        <dsp:cNvPr id="0" name=""/>
        <dsp:cNvSpPr/>
      </dsp:nvSpPr>
      <dsp:spPr>
        <a:xfrm>
          <a:off x="7091224" y="4109230"/>
          <a:ext cx="7416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solidFill>
                <a:schemeClr val="tx1"/>
              </a:solidFill>
              <a:latin typeface="Helvetica"/>
              <a:cs typeface="Helvetica"/>
            </a:rPr>
            <a:t>30/4/2026</a:t>
          </a:r>
          <a:endParaRPr lang="en-GB" sz="1000" b="0" kern="1200">
            <a:solidFill>
              <a:schemeClr val="tx1"/>
            </a:solidFill>
          </a:endParaRPr>
        </a:p>
      </dsp:txBody>
      <dsp:txXfrm>
        <a:off x="7091224" y="4109230"/>
        <a:ext cx="741631" cy="576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arxiv.org/abs/2505.07459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8208" y="619444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500" b="1"/>
              <a:t>Failure-Aware and Confidence-Calibrated Adaptive Retrieval-Augmented Generation System</a:t>
            </a:r>
            <a:br>
              <a:rPr lang="en-GB" sz="2600"/>
            </a:br>
            <a:r>
              <a:rPr lang="en-GB" sz="1800"/>
              <a:t>23CSE399 Project Phase 1 – Approval Presentation</a:t>
            </a:r>
            <a:br>
              <a:rPr lang="en-GB" sz="2600"/>
            </a:br>
            <a:br>
              <a:rPr lang="en-GB" sz="2600"/>
            </a:br>
            <a:r>
              <a:rPr lang="en-GB" sz="1800"/>
              <a:t>Team ID: 23UG031			Panel No.:20 </a:t>
            </a:r>
            <a:endParaRPr lang="en-GB" sz="2600" b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1701571754"/>
              </p:ext>
            </p:extLst>
          </p:nvPr>
        </p:nvGraphicFramePr>
        <p:xfrm>
          <a:off x="582654" y="3311645"/>
          <a:ext cx="7983372" cy="18730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</a:t>
                      </a: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EN.U4CSE23246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Siddhartha </a:t>
                      </a: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Ravva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BL.EN.U4CSE23206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Aman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Aggarwal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Harsh Vardhan Singh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U4CSE23043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Pratyush Swain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332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2592" y="5591102"/>
            <a:ext cx="6381922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/>
              <a:t>Project </a:t>
            </a:r>
            <a:r>
              <a:rPr lang="en-US" sz="1800" b="1" err="1"/>
              <a:t>Guide:Dr</a:t>
            </a:r>
            <a:r>
              <a:rPr lang="en-US" sz="1800" b="1"/>
              <a:t>. </a:t>
            </a:r>
            <a:r>
              <a:rPr lang="en-US" sz="1800" b="1" err="1"/>
              <a:t>Sajitha</a:t>
            </a:r>
            <a:r>
              <a:rPr lang="en-US" sz="1800" b="1"/>
              <a:t> Krishnan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/>
              <a:t>	         Assistant Professor</a:t>
            </a:r>
          </a:p>
          <a:p>
            <a:endParaRPr lang="en-US" sz="1800" b="1"/>
          </a:p>
          <a:p>
            <a:r>
              <a:rPr lang="en-US" sz="1800" b="1"/>
              <a:t>Panel Members : Dr. Peeta Basa Pati , Dr. Nidhin Prabhakar  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>
          <a:xfrm>
            <a:off x="8505572" y="6183502"/>
            <a:ext cx="301909" cy="288824"/>
          </a:xfrm>
        </p:spPr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33143D-FFD4-7A64-96A6-61F0264E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5"/>
            <a:ext cx="8229600" cy="1508126"/>
          </a:xfrm>
        </p:spPr>
        <p:txBody>
          <a:bodyPr lIns="45719" tIns="45720" rIns="45719" bIns="45720" anchor="ctr"/>
          <a:lstStyle/>
          <a:p>
            <a:r>
              <a:rPr lang="en-GB">
                <a:latin typeface="Times New Roman"/>
                <a:cs typeface="Times New Roman"/>
              </a:rPr>
              <a:t>Approval Mail</a:t>
            </a:r>
          </a:p>
        </p:txBody>
      </p:sp>
      <p:pic>
        <p:nvPicPr>
          <p:cNvPr id="6" name="Picture 5" descr="A screenshot of a email&#10;&#10;AI-generated content may be incorrect.">
            <a:extLst>
              <a:ext uri="{FF2B5EF4-FFF2-40B4-BE49-F238E27FC236}">
                <a16:creationId xmlns:a16="http://schemas.microsoft.com/office/drawing/2014/main" id="{2C5C0F8D-3B5C-8C45-BB0D-6FF2CBA1A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47" y="1013496"/>
            <a:ext cx="6128044" cy="546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D44D01-CA7E-548E-75E2-7CA0DC3373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32917" y="6216316"/>
            <a:ext cx="301909" cy="288824"/>
          </a:xfrm>
        </p:spPr>
        <p:txBody>
          <a:bodyPr/>
          <a:lstStyle/>
          <a:p>
            <a:fld id="{86CB4B4D-7CA3-9044-876B-883B54F8677D}" type="slidenum">
              <a:rPr lang="en-US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160586-2872-5FAB-7896-CF2A180A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/>
          <a:lstStyle/>
          <a:p>
            <a:r>
              <a:rPr lang="en-US">
                <a:latin typeface="Times New Roman"/>
                <a:cs typeface="Times New Roman"/>
              </a:rPr>
              <a:t>Agenda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FC97F-CC54-A815-5151-1D3FF46E7E87}"/>
              </a:ext>
            </a:extLst>
          </p:cNvPr>
          <p:cNvSpPr txBox="1"/>
          <p:nvPr/>
        </p:nvSpPr>
        <p:spPr>
          <a:xfrm>
            <a:off x="1330035" y="1548245"/>
            <a:ext cx="6598227" cy="40010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/>
              <a:t>Problem Statement</a:t>
            </a:r>
          </a:p>
          <a:p>
            <a:pPr marL="514350" indent="-514350">
              <a:buAutoNum type="arabicPeriod"/>
            </a:pPr>
            <a:r>
              <a:rPr lang="en-US" sz="2400"/>
              <a:t>Research Gaps</a:t>
            </a:r>
          </a:p>
          <a:p>
            <a:pPr marL="514350" indent="-514350">
              <a:buAutoNum type="arabicPeriod"/>
            </a:pPr>
            <a:r>
              <a:rPr lang="en-US" sz="2400"/>
              <a:t>Literature Survey </a:t>
            </a:r>
            <a:endParaRPr lang="en-US"/>
          </a:p>
          <a:p>
            <a:pPr marL="514350" indent="-514350">
              <a:buAutoNum type="arabicPeriod"/>
            </a:pPr>
            <a:r>
              <a:rPr lang="en-US" sz="2400"/>
              <a:t>Objectives</a:t>
            </a:r>
          </a:p>
          <a:p>
            <a:pPr marL="514350" indent="-514350">
              <a:buAutoNum type="arabicPeriod"/>
            </a:pPr>
            <a:r>
              <a:rPr lang="en-US" sz="2400"/>
              <a:t>Architecture</a:t>
            </a:r>
          </a:p>
          <a:p>
            <a:pPr marL="514350" indent="-514350">
              <a:buAutoNum type="arabicPeriod"/>
            </a:pPr>
            <a:r>
              <a:rPr lang="en-US" sz="2400"/>
              <a:t>Functionalities</a:t>
            </a:r>
          </a:p>
          <a:p>
            <a:pPr marL="514350" indent="-514350">
              <a:buAutoNum type="arabicPeriod"/>
            </a:pPr>
            <a:r>
              <a:rPr lang="en-US" sz="2400"/>
              <a:t>Software Requirements </a:t>
            </a:r>
          </a:p>
          <a:p>
            <a:pPr marL="514350" indent="-514350">
              <a:buAutoNum type="arabicPeriod"/>
            </a:pPr>
            <a:r>
              <a:rPr lang="en-US" sz="2400"/>
              <a:t>Project Timeline </a:t>
            </a:r>
          </a:p>
          <a:p>
            <a:pPr marL="514350" indent="-514350">
              <a:buAutoNum type="arabicPeriod"/>
            </a:pPr>
            <a:r>
              <a:rPr lang="en-US" sz="2400"/>
              <a:t>Conclusion</a:t>
            </a:r>
          </a:p>
          <a:p>
            <a:pPr marL="514350" indent="-514350">
              <a:buAutoNum type="arabicPeriod"/>
            </a:pPr>
            <a:r>
              <a:rPr lang="en-US" sz="2400"/>
              <a:t>References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0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8859" y="621494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931845" y="398153"/>
            <a:ext cx="7772400" cy="6858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>
                <a:ea typeface="+mn-ea"/>
                <a:sym typeface="Arial"/>
              </a:rPr>
              <a:t>Introduction - Problem</a:t>
            </a:r>
            <a:r>
              <a:rPr lang="en-IN"/>
              <a:t> Statement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47E06-8B13-DD77-C1FA-027C139A91C1}"/>
              </a:ext>
            </a:extLst>
          </p:cNvPr>
          <p:cNvSpPr txBox="1"/>
          <p:nvPr/>
        </p:nvSpPr>
        <p:spPr>
          <a:xfrm>
            <a:off x="928667" y="1147411"/>
            <a:ext cx="7467600" cy="53553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1800"/>
              <a:t> RAG retrieves documents from external sources by converting queries and documents into embeddings and comparing similarity.</a:t>
            </a:r>
            <a:endParaRPr lang="en-US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1800"/>
              <a:t>Existing systems rank retrieved documents based solely on similarity scores, without evaluating result quality.</a:t>
            </a:r>
            <a:endParaRPr lang="en-US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1800"/>
              <a:t> Relying only on similarity ranking does not provide insight into how reliable or trustworthy the retrieved results are.</a:t>
            </a:r>
            <a:endParaRPr lang="en-US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1800"/>
              <a:t>As a result, semantically weak, inconsistent, or partially irrelevant documents may be included in the context without any indication of error.</a:t>
            </a:r>
            <a:endParaRPr lang="en-IN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1800"/>
              <a:t>Standard RAG approaches do not include a mechanism to quantify retrieval reliability or flag potential retrieval failure before generation.</a:t>
            </a:r>
            <a:endParaRPr lang="en-US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1800"/>
              <a:t>Multi-signal retrieval assessment, such as evaluating similarity strength, stability of top-k similarity patterns, and semantic agreement among retrieved documents, is not addressed in current work.</a:t>
            </a:r>
            <a:endParaRPr lang="en-IN"/>
          </a:p>
          <a:p>
            <a:pPr>
              <a:buFont typeface="Arial"/>
              <a:buChar char="•"/>
            </a:pPr>
            <a:endParaRPr lang="en-US" sz="18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C48C9-CC73-69BD-38D8-264DD305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13C20B86-FCA5-8D9D-529D-ECEB65A41FB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08859" y="621494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D9515219-BA1C-350E-50AC-187ABC464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845" y="398153"/>
            <a:ext cx="7772400" cy="6858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/>
              <a:t>Research Gaps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1545CE-1E7A-025D-7274-FA9184C66CC6}"/>
              </a:ext>
            </a:extLst>
          </p:cNvPr>
          <p:cNvSpPr txBox="1"/>
          <p:nvPr/>
        </p:nvSpPr>
        <p:spPr>
          <a:xfrm>
            <a:off x="847397" y="1714500"/>
            <a:ext cx="7133896" cy="2554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endParaRPr lang="en-US" sz="2000" b="0" i="0">
              <a:solidFill>
                <a:srgbClr val="000000"/>
              </a:solidFill>
              <a:latin typeface="Times New Roman"/>
              <a:ea typeface="Segoe UI"/>
              <a:cs typeface="Segoe UI"/>
            </a:endParaRPr>
          </a:p>
          <a:p>
            <a:pPr marL="285750" lvl="0" indent="-285750" algn="l" rtl="0"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Arial"/>
                <a:cs typeface="Arial"/>
              </a:rPr>
              <a:t>Over-reliance on raw similarity ranking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Arial"/>
                <a:cs typeface="Arial"/>
              </a:rPr>
              <a:t>​</a:t>
            </a:r>
          </a:p>
          <a:p>
            <a:endParaRPr lang="en-US" sz="2000"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Arial"/>
                <a:cs typeface="Arial"/>
              </a:rPr>
              <a:t>No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Arial"/>
                <a:cs typeface="Arial"/>
              </a:rPr>
              <a:t> explicit retrieval reliability metric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Arial"/>
                <a:cs typeface="Arial"/>
              </a:rPr>
              <a:t>​</a:t>
            </a:r>
            <a:endParaRPr lang="en-US" sz="2000"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0" i="0" u="none" strike="noStrike" baseline="0">
                <a:latin typeface="Times New Roman"/>
                <a:ea typeface="Arial"/>
                <a:cs typeface="Arial"/>
              </a:rPr>
              <a:t>No</a:t>
            </a:r>
            <a:r>
              <a:rPr lang="en-US" sz="2000">
                <a:ea typeface="Arial"/>
                <a:cs typeface="Arial"/>
              </a:rPr>
              <a:t> explicit</a:t>
            </a:r>
            <a:r>
              <a:rPr lang="en-US" sz="2000" b="0" i="0" u="none" strike="noStrike" baseline="0">
                <a:latin typeface="Times New Roman"/>
                <a:ea typeface="Arial"/>
                <a:cs typeface="Arial"/>
              </a:rPr>
              <a:t> </a:t>
            </a:r>
            <a:r>
              <a:rPr lang="en-US" sz="2000">
                <a:ea typeface="Arial"/>
                <a:cs typeface="Arial"/>
              </a:rPr>
              <a:t>top-k similarity stability </a:t>
            </a:r>
            <a:r>
              <a:rPr lang="en-US" sz="2000" b="0" i="0" u="none" strike="noStrike" baseline="0">
                <a:latin typeface="Times New Roman"/>
                <a:ea typeface="Arial"/>
                <a:cs typeface="Arial"/>
              </a:rPr>
              <a:t>modeling</a:t>
            </a:r>
            <a:r>
              <a:rPr lang="en-US" sz="2000">
                <a:ea typeface="Arial"/>
                <a:cs typeface="Arial"/>
              </a:rPr>
              <a:t>​</a:t>
            </a:r>
            <a:endParaRPr lang="en-US">
              <a:ea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Arial"/>
                <a:cs typeface="Arial"/>
              </a:rPr>
              <a:t>No</a:t>
            </a:r>
            <a:r>
              <a:rPr lang="en-US" sz="2000" b="0" i="0" u="none" strike="noStrike" baseline="0">
                <a:latin typeface="Times New Roman"/>
                <a:ea typeface="Arial"/>
                <a:cs typeface="Arial"/>
              </a:rPr>
              <a:t> </a:t>
            </a:r>
            <a:r>
              <a:rPr lang="en-US" sz="2000">
                <a:ea typeface="Arial"/>
                <a:cs typeface="Arial"/>
              </a:rPr>
              <a:t>explicit multi-signal retrieval failure </a:t>
            </a:r>
            <a:r>
              <a:rPr lang="en-US" sz="2000" b="0" i="0" u="none" strike="noStrike" baseline="0">
                <a:latin typeface="Times New Roman"/>
                <a:ea typeface="Arial"/>
                <a:cs typeface="Arial"/>
              </a:rPr>
              <a:t>framework</a:t>
            </a:r>
            <a:r>
              <a:rPr lang="en-US" sz="2000">
                <a:ea typeface="Arial"/>
                <a:cs typeface="Arial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906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53676" y="649523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1919" y="-994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113392"/>
              </p:ext>
            </p:extLst>
          </p:nvPr>
        </p:nvGraphicFramePr>
        <p:xfrm>
          <a:off x="49220" y="809396"/>
          <a:ext cx="9047715" cy="568903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23538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826502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677410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417749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402516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98871">
                <a:tc>
                  <a:txBody>
                    <a:bodyPr/>
                    <a:lstStyle/>
                    <a:p>
                      <a:pPr algn="ctr"/>
                      <a:r>
                        <a:rPr lang="en-IN" sz="1400" b="1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 b="1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3071627"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H. Soudani, E.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Kanoulas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, and F.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Hasibi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Why Uncertainty Estimation Methods Fall Short in Retrieval-Augmented Generation: An Axiomatic Analysis, 2025</a:t>
                      </a:r>
                      <a:endParaRPr lang="en-US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Defines axioms for reliable uncertainty estimation in RAG. Shows token probability and entropy methods 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  <a:sym typeface="Arial"/>
                        </a:rPr>
                        <a:t>ignore retrieva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l quality and grounding. Emphasizes need for retrieval-aware uncertainty estimation.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Expected Calibration Error (ECE), Brier Score, Negative Log Likelihood (NLL), and AUROC.</a:t>
                      </a: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propose a practical mechanism to compute retrieval reliability using measurable signals such as similarity score consistency, retrieval variance, or agreement.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851057"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latin typeface="Times New Roman"/>
                          <a:cs typeface="Times New Roman"/>
                        </a:rPr>
                        <a:t>2</a:t>
                      </a: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L. </a:t>
                      </a:r>
                      <a:r>
                        <a:rPr lang="en-IN" sz="14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Ngartera</a:t>
                      </a: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, S. Nadarajah, and R. </a:t>
                      </a:r>
                      <a:r>
                        <a:rPr lang="en-IN" sz="14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Koina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Bayesian RAG: Uncertainty-Aware Retrieval for Reliable Financial Question Answering, 2026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Uses Bayesian embeddings to model retrieval uncertainty and improve reliability.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Accuracy, F1 Score, Expected Calibration Error (ECE), Brier Score, Negative Log Likelihood (NLL), and AUROC.</a:t>
                      </a:r>
                      <a:endParaRPr lang="en-IN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Does not explicitly detect retrieval failures using similarity consistency or agreement signals.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72AA-49EF-BC25-D70B-591DD37F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A0B71E34-7A8F-D95A-C0C3-0F7CF997947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35710" y="6500699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C77FD611-AEAF-37F6-81DE-E702DC9DB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5656" y="-21145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F7DDA8F-B897-4009-90A1-7C0A970D3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12494"/>
              </p:ext>
            </p:extLst>
          </p:nvPr>
        </p:nvGraphicFramePr>
        <p:xfrm>
          <a:off x="21875" y="754708"/>
          <a:ext cx="9104511" cy="572979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8388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459646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2152892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436288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337297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26088">
                <a:tc>
                  <a:txBody>
                    <a:bodyPr/>
                    <a:lstStyle/>
                    <a:p>
                      <a:pPr algn="ctr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664755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Michael </a:t>
                      </a: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Oehri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Jannis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Vamvas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, et al.</a:t>
                      </a: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Trusted Uncertainty in Large Language Models: A Unified Framework for Confidence Calibration and Risk-Controlled Refusal, 2025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IN" sz="140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Proposes unified confidence framework using likelihood, entropy, and self-consistency signals. Enables calibrated confidence estimation and risk-controlled refusal in LLM responses.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Expected Calibration Error (ECE), Brier Score, Negative Log Likelihood (NLL)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incorporate retrieval reliability estimation or similarity-based retrieval failure signals in RAG systems.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2538948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Y. Gao, Y. Xiong, X. Gao, et al.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Retrieval-Augmented Generation for Large Language Models: A Survey, 2023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Provides comprehensive overview of RAG architecture, retrieval methods, and reliability challenges. Identifies uncertainty estimation and retrieval reliability as key limitations.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Exact Match (EM), F1 Score, Accuracy, BLEU, ROUGE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propose practical methods to quantify retrieval reliability using similarity consistency or agreement signals.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0434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00DEA-6A3E-60F5-8616-269B8746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9E34891F-3AF1-F123-0945-EC326E7572C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714204" y="6571794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GB"/>
              <a:t>8</a:t>
            </a:r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FC17C686-0CE5-B797-6D7E-146D712C4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73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DB57B14-E04E-D542-2D56-62AA4D477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07095"/>
              </p:ext>
            </p:extLst>
          </p:nvPr>
        </p:nvGraphicFramePr>
        <p:xfrm>
          <a:off x="43751" y="787521"/>
          <a:ext cx="9063821" cy="51858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98804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419859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2094210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369883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481065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35882">
                <a:tc>
                  <a:txBody>
                    <a:bodyPr/>
                    <a:lstStyle/>
                    <a:p>
                      <a:pPr algn="ctr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16861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S. Es, J. James, L. Espinosa-Anke, and S.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Schockaert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RAGAS: Automated Evaluation of Retrieval-Augmented Generation, 2023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metrics such as context relevance, faithfulness, and grounding to evaluate RAG performance. Enables automated evaluation without human annotation.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Context Precision, Context Recall, Faithfulness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Provides evaluation metrics but does not detect retrieval failures or estimate retrieval reliability dynamically during inference.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2481367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V.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Karpukhin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et al.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Dense Passage Retrieval for Open-Domain Question Answering, 2020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dense retrieval using neural encoders and embedding similarity scoring. Improves retrieval accuracy over traditional keyword-based methods.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Evaluation Metrics Used: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Recall-k (e.g., Recall@20, Recall@100), Top-k Retrieval Accuracy, Exact Match (EM), and F1 Score.</a:t>
                      </a:r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Uses similarity scores for document ranking but does not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similarity patterns to estimate retrieval reliability or detect retrieval failures.</a:t>
                      </a:r>
                      <a:br>
                        <a:rPr lang="en-US" sz="1400" b="0">
                          <a:latin typeface="Times New Roman"/>
                          <a:cs typeface="Times New Roman"/>
                        </a:rPr>
                      </a:b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8583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6BA40-ABD2-972D-1F71-7F9F3592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546E900F-216C-2B63-CBCB-C7BCA3BB421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32170" y="6549919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fld id="{86CB4B4D-7CA3-9044-876B-883B54F8677D}" type="slidenum">
              <a:rPr/>
              <a:t>9</a:t>
            </a:fld>
            <a:endParaRPr lang="en-GB"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9B16FC1D-8457-0A60-6BFC-6852E886A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972A26A-14DA-2620-AD19-5D733194C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507631"/>
              </p:ext>
            </p:extLst>
          </p:nvPr>
        </p:nvGraphicFramePr>
        <p:xfrm>
          <a:off x="114846" y="1039090"/>
          <a:ext cx="8803918" cy="56266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8768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79145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2034159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449865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261981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470389">
                <a:tc>
                  <a:txBody>
                    <a:bodyPr/>
                    <a:lstStyle/>
                    <a:p>
                      <a:pPr algn="ctr"/>
                      <a:r>
                        <a:rPr lang="en-IN" sz="1400" b="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 b="0"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Authors name(s)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Inference from the paper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Open Problem (For proposed work)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483068"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S.-Q. Yan, J.-C. Gu, Y. Zhu, and Z.-H. Ling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Corrective Retrieval-Augmented Generation, 2024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a retrieval evaluator to assess relevance and correctness of retrieved documents. Improves retrieval quality by correcting weak or irrelevant retrieval results.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Exact Match (EM), F1 Score, Accuracy, Recall-k, Expected Calibration Error (ECE)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Requires a separate 'evaluator' model to trigger web searches, adding architectural complexity. It corrects retrieval but doesn't quantify a confidence score for the user.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2625426">
                <a:tc>
                  <a:txBody>
                    <a:bodyPr/>
                    <a:lstStyle/>
                    <a:p>
                      <a:pPr algn="ctr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P. Lewis et al.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Retrieval-Augmented Generation for Knowledge-Intensive NLP Tasks, 2020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RAG framework combining dense retrieval and generation using embedding similarity. Improves factual accuracy by grounding responses in retrieved knowledge.</a:t>
                      </a:r>
                      <a:endParaRPr lang="en-US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Exact Match (EM), F1 Score, Accuracy, Perplexity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estimate retrieval reliability or detect weak retrieval before generation.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/>
                      </a:b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7153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BA5C-3DCC-C004-CEFF-055CFD6E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CD598740-F16E-2CAD-0822-1DFAF20DA5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43722" y="6418665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D2665820-612B-7ED7-682F-BE47789E6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470" y="29035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BA8287E-EABA-155F-F57D-797044055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115610"/>
              </p:ext>
            </p:extLst>
          </p:nvPr>
        </p:nvGraphicFramePr>
        <p:xfrm>
          <a:off x="229693" y="1099248"/>
          <a:ext cx="8673959" cy="525217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68749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403949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58968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413701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228592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477899">
                <a:tc>
                  <a:txBody>
                    <a:bodyPr/>
                    <a:lstStyle/>
                    <a:p>
                      <a:pPr algn="ctr"/>
                      <a:r>
                        <a:rPr lang="en-IN" sz="1400" b="1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 b="1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1701525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A. Asai, Z. Wu, Y. Wang, A. Sil, and H.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Hajishirzi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Self-RAG: Learning to Retrieve, Generate, and Critique through Self-Reflection, 2023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reflection tokens to evaluate relevance and usefulness of retrieved documents. Enables the model to critique retrieval quality and improve response grounding.</a:t>
                      </a:r>
                      <a:endParaRPr lang="en-US" sz="1400" b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Exact Match (EM), F1 Score, Accuracy, Human Evaluation </a:t>
                      </a:r>
                    </a:p>
                    <a:p>
                      <a:pPr lvl="0" algn="l">
                        <a:buNone/>
                      </a:pPr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Relies on 'reflection tokens' and fine-tuning, which increases computational cost and latency. It does not assess the retriever's raw stability before generation begins.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2508976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O. Khattab and M. Zaharia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ColBERT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: Efficient and Effective Passage Search via Contextualized Late Interaction over BERT, 2020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token-level late interaction similarity scoring using contextual embeddings. Improves retrieval precision and semantic matching between query and documents.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Mean Reciprocal Rank (MRR), Recall-k, Normalized Discounted Cumulative Gain 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compute retrieval reliability or detect weak retrieval using similarity consistency signals.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3694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79C4A-FD2B-7F7A-D3D9-32FD9DB7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680A170A-9D94-C5E8-8266-B469692260F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70083" y="6489761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68954E22-64DE-33D0-185D-70B12BDF1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9B3E8C5-DD09-0B5B-966B-13A15F779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4849"/>
              </p:ext>
            </p:extLst>
          </p:nvPr>
        </p:nvGraphicFramePr>
        <p:xfrm>
          <a:off x="246100" y="1159406"/>
          <a:ext cx="8622170" cy="53281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67837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56936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2001401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410415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85581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629799">
                <a:tc>
                  <a:txBody>
                    <a:bodyPr/>
                    <a:lstStyle/>
                    <a:p>
                      <a:pPr algn="ctr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22169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J. Song, X. Wang, J. Zhu, et al.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RAG-HAT: A Hallucination-Aware Tuning Pipeline for LLM in Retrieval-Augmented Generation, 2024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hallucination-aware tuning pipeline using retrieval-guided training signals. Improves factual grounding and reliability of generated responses in RAG systems.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explicitly estimate retrieval reliability or detect weak retrieval using similarity consistency signals.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2481414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H. Ding, L. Pang, Z. Wei, H. Shen, and X. Cheng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Rowen: Adaptive Retrieval-Augmented Generation for Hallucination Mitigation in LLMs, 2025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Introduces adaptive retrieval mechanism to dynamically improve document choice. Enhances retrieval relevance and reduces hallucinations in generated responses.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Does not compute retrieval reliability scores using similarity consistency or retrieval agreement signals.</a:t>
                      </a:r>
                      <a:br>
                        <a:rPr lang="en-US" sz="1400">
                          <a:latin typeface="Times New Roman"/>
                          <a:cs typeface="Times New Roman"/>
                        </a:rPr>
                      </a:b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56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8775D-9A36-BE8F-D456-0B70B949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F860D36D-D121-658D-5030-18870582EB6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59145" y="6489761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5DD3352D-E45E-6CE8-D754-D1202C9A4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A76869C-C7EB-6D61-929D-57E4F91DE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95298"/>
              </p:ext>
            </p:extLst>
          </p:nvPr>
        </p:nvGraphicFramePr>
        <p:xfrm>
          <a:off x="282496" y="1083467"/>
          <a:ext cx="8579453" cy="374621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61463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43983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82295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387403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204309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687921">
                <a:tc>
                  <a:txBody>
                    <a:bodyPr/>
                    <a:lstStyle/>
                    <a:p>
                      <a:pPr algn="ctr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3058297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Z. Sun, X. Zang, K. Zheng, et al.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ReDeEP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: Detecting Hallucination in Retrieval-Augmented Generation via Mechanistic Interpretability, 2025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Uses mechanistic interpretability to </a:t>
                      </a:r>
                      <a:r>
                        <a:rPr lang="en-IN" sz="1400" b="0" i="0" u="none" strike="noStrike" noProof="0" err="1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 internal model activations during generation. Enables detection of hallucinations caused by weak or incorrect grounding.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Evaluation Metrics Used:</a:t>
                      </a:r>
                      <a:b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</a:b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Hallucination Detection Accuracy, Precision,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latin typeface="Times New Roman"/>
                          <a:cs typeface="Times New Roman"/>
                        </a:rPr>
                        <a:t>Focuses on generation analysis but does not estimate retrieval reliability using similarity consistency or agreement signals.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79291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1143000" y="382581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Objectives </a:t>
            </a:r>
            <a:endParaRPr sz="3200"/>
          </a:p>
        </p:txBody>
      </p:sp>
      <p:sp>
        <p:nvSpPr>
          <p:cNvPr id="4" name="Group"/>
          <p:cNvSpPr/>
          <p:nvPr/>
        </p:nvSpPr>
        <p:spPr>
          <a:xfrm>
            <a:off x="839965" y="1340304"/>
            <a:ext cx="7755509" cy="3500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tIns="45720" rIns="45719" bIns="45720" anchor="t"/>
          <a:lstStyle/>
          <a:p>
            <a:pPr marL="285750" indent="-285750">
              <a:buFont typeface="Arial"/>
              <a:buChar char="•"/>
            </a:pPr>
            <a:r>
              <a:rPr lang="en-US" sz="1800"/>
              <a:t>The current RAG models employ similarity scores for ranking but lack the ability to identify retrieval failure explicitly. 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Similarity score alone does not guarantee retrieval correctness or consistency.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The recent models like Self-RAG and CRAG (Corrective Retrieval-Augmented Generation)assess the quality of retrieval but lack the ability to compute retrieval reliability explicitly from measurable signals. 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This results in the potential of poor retrieval going unnoticed, thereby causing unreliable responses. 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There is a requirement for a system that computes the retrieval failure signal based on similarity score, top-k consistency, and retrieval agreement. 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The plan for the implementation of the estimation of the retrieval failure signal for the identification of retrieval failures is proposed in this work. 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2942" y="6347569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668" y="532594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621421" y="6376358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14</a:t>
            </a:r>
          </a:p>
        </p:txBody>
      </p:sp>
      <p:pic>
        <p:nvPicPr>
          <p:cNvPr id="2" name="Picture 1" descr="A diagram of a computer system">
            <a:extLst>
              <a:ext uri="{FF2B5EF4-FFF2-40B4-BE49-F238E27FC236}">
                <a16:creationId xmlns:a16="http://schemas.microsoft.com/office/drawing/2014/main" id="{2701125C-ABFD-D5E8-38EE-504129F7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4" y="1521814"/>
            <a:ext cx="8901938" cy="429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C526-5B57-0192-D28A-0854D02C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A952378B-D46F-88F6-E6B5-A939B3714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53616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Functionalities of the Proposed System</a:t>
            </a:r>
            <a:endParaRPr sz="3200"/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8FC8B824-A607-F0BA-61F1-6F8A38484007}"/>
              </a:ext>
            </a:extLst>
          </p:cNvPr>
          <p:cNvSpPr/>
          <p:nvPr/>
        </p:nvSpPr>
        <p:spPr>
          <a:xfrm>
            <a:off x="1259300" y="1714003"/>
            <a:ext cx="6753272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/>
          <a:lstStyle/>
          <a:p>
            <a:r>
              <a:rPr lang="en-GB" sz="2000"/>
              <a:t>Core RAG Pipeline</a:t>
            </a:r>
            <a:endParaRPr lang="en-US" sz="2000"/>
          </a:p>
          <a:p>
            <a:r>
              <a:rPr lang="en-GB" sz="2000"/>
              <a:t>• Convert input query into dense embedding</a:t>
            </a:r>
          </a:p>
          <a:p>
            <a:r>
              <a:rPr lang="en-GB" sz="2000"/>
              <a:t>• Retrieve top-k documents using cosine similarity</a:t>
            </a:r>
          </a:p>
          <a:p>
            <a:r>
              <a:rPr lang="en-GB" sz="2000"/>
              <a:t>• Compute and rank query–document similarity scores</a:t>
            </a:r>
          </a:p>
          <a:p>
            <a:r>
              <a:rPr lang="en-GB" sz="2000"/>
              <a:t>• Provide retrieved context for generation</a:t>
            </a:r>
          </a:p>
          <a:p>
            <a:endParaRPr lang="en-US"/>
          </a:p>
          <a:p>
            <a:r>
              <a:rPr lang="en-GB" sz="2000"/>
              <a:t>Retrieval Failure Score Module</a:t>
            </a:r>
          </a:p>
          <a:p>
            <a:r>
              <a:rPr lang="en-GB" sz="2000"/>
              <a:t>• Compute similarity magnitude of top-k documents</a:t>
            </a:r>
          </a:p>
          <a:p>
            <a:r>
              <a:rPr lang="en-GB" sz="2000"/>
              <a:t>• Analyse top-k similarity consistency</a:t>
            </a:r>
          </a:p>
          <a:p>
            <a:r>
              <a:rPr lang="en-GB" sz="2000"/>
              <a:t>• Measure retrieval agreement among documents</a:t>
            </a:r>
          </a:p>
          <a:p>
            <a:r>
              <a:rPr lang="en-GB" sz="2000"/>
              <a:t>• Aggregate signals into a retrieval reliability score</a:t>
            </a:r>
          </a:p>
          <a:p>
            <a:r>
              <a:rPr lang="en-GB" sz="2000"/>
              <a:t>• Detect weak or unreliable retrieval before generation</a:t>
            </a:r>
          </a:p>
          <a:p>
            <a:endParaRPr lang="en-GB" sz="2000" b="1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2D54671-AAB9-65C1-4E77-0685C97E73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17254" y="6320225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8278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284" y="442959"/>
            <a:ext cx="7315200" cy="887641"/>
          </a:xfrm>
        </p:spPr>
        <p:txBody>
          <a:bodyPr/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21846" y="6128813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16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F543-D5EA-F2DB-982E-FA7241D57B82}"/>
              </a:ext>
            </a:extLst>
          </p:cNvPr>
          <p:cNvSpPr txBox="1"/>
          <p:nvPr/>
        </p:nvSpPr>
        <p:spPr>
          <a:xfrm>
            <a:off x="998942" y="1413582"/>
            <a:ext cx="6444452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2000" b="1"/>
              <a:t>Programming Language: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IN" sz="2000"/>
              <a:t>Python </a:t>
            </a:r>
            <a:endParaRPr lang="en-US" sz="2000"/>
          </a:p>
          <a:p>
            <a:r>
              <a:rPr lang="en-IN" sz="2000" b="1"/>
              <a:t>Frameworks:</a:t>
            </a:r>
          </a:p>
          <a:p>
            <a:pPr marL="285750" indent="-285750">
              <a:buFont typeface="Arial"/>
              <a:buChar char="•"/>
            </a:pPr>
            <a:r>
              <a:rPr lang="en-IN" sz="2000" err="1"/>
              <a:t>HuggingFace</a:t>
            </a:r>
            <a:r>
              <a:rPr lang="en-IN" sz="2000"/>
              <a:t> Transformers</a:t>
            </a:r>
          </a:p>
          <a:p>
            <a:pPr marL="285750" indent="-285750">
              <a:buFont typeface="Arial"/>
              <a:buChar char="•"/>
            </a:pPr>
            <a:r>
              <a:rPr lang="en-IN" sz="2000"/>
              <a:t>Sentence-Transformers</a:t>
            </a:r>
          </a:p>
          <a:p>
            <a:pPr marL="285750" indent="-285750">
              <a:buFont typeface="Arial"/>
              <a:buChar char="•"/>
            </a:pPr>
            <a:r>
              <a:rPr lang="en-IN" sz="2000" err="1"/>
              <a:t>LangChain</a:t>
            </a:r>
            <a:r>
              <a:rPr lang="en-IN" sz="2000"/>
              <a:t> / LlamaIndex</a:t>
            </a:r>
          </a:p>
          <a:p>
            <a:pPr marL="285750" indent="-285750">
              <a:buFont typeface="Arial"/>
              <a:buChar char="•"/>
            </a:pPr>
            <a:r>
              <a:rPr lang="en-IN" sz="2000"/>
              <a:t>FAISS / </a:t>
            </a:r>
            <a:r>
              <a:rPr lang="en-IN" sz="2000" err="1"/>
              <a:t>ChromaDB</a:t>
            </a:r>
            <a:endParaRPr lang="en-IN" sz="2000"/>
          </a:p>
          <a:p>
            <a:r>
              <a:rPr lang="en-IN" sz="2000" b="1"/>
              <a:t>Models:</a:t>
            </a:r>
          </a:p>
          <a:p>
            <a:pPr marL="285750" indent="-285750">
              <a:buFont typeface="Arial"/>
              <a:buChar char="•"/>
            </a:pPr>
            <a:r>
              <a:rPr lang="en-IN" sz="2000"/>
              <a:t>Embedding Model: BGE-large or </a:t>
            </a:r>
            <a:r>
              <a:rPr lang="en-IN" sz="2000" err="1"/>
              <a:t>MiniLM</a:t>
            </a:r>
            <a:r>
              <a:rPr lang="en-IN" sz="2000"/>
              <a:t> , </a:t>
            </a:r>
            <a:r>
              <a:rPr lang="en-IN" sz="2000" err="1"/>
              <a:t>GloVe</a:t>
            </a:r>
            <a:r>
              <a:rPr lang="en-IN" sz="2000"/>
              <a:t> ,Word2Vec</a:t>
            </a:r>
          </a:p>
          <a:p>
            <a:pPr marL="285750" indent="-285750">
              <a:buFont typeface="Arial"/>
              <a:buChar char="•"/>
            </a:pPr>
            <a:r>
              <a:rPr lang="en-IN" sz="2000"/>
              <a:t>Generator Model: Mistral-7B (future integration) , Phi-3 , Phi-2 , Llama-3</a:t>
            </a:r>
          </a:p>
          <a:p>
            <a:r>
              <a:rPr lang="en-IN" sz="2000" b="1"/>
              <a:t>Platform:</a:t>
            </a:r>
          </a:p>
          <a:p>
            <a:pPr marL="285750" indent="-285750">
              <a:buFont typeface="Arial"/>
              <a:buChar char="•"/>
            </a:pPr>
            <a:r>
              <a:rPr lang="en-IN" sz="2000"/>
              <a:t>Kaggle GPU Environment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867E-1511-B4DA-9A87-1FD081DF4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B42C-350B-4779-AFD6-0E394FE9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66" y="523842"/>
            <a:ext cx="8229600" cy="740439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C1A38-470C-4562-8868-47A1554148E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32917" y="6194440"/>
            <a:ext cx="301909" cy="288824"/>
          </a:xfrm>
        </p:spPr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27082"/>
              </p:ext>
            </p:extLst>
          </p:nvPr>
        </p:nvGraphicFramePr>
        <p:xfrm>
          <a:off x="143436" y="1532966"/>
          <a:ext cx="8794376" cy="478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49361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560" y="378488"/>
            <a:ext cx="8229600" cy="1005206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</a:rPr>
              <a:t>Conclusion</a:t>
            </a:r>
            <a:endParaRPr lang="en-IN"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38386" y="6145220"/>
            <a:ext cx="301909" cy="288824"/>
          </a:xfrm>
        </p:spPr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1CEA2-3F60-CCBD-0352-543935BA1F1B}"/>
              </a:ext>
            </a:extLst>
          </p:cNvPr>
          <p:cNvSpPr txBox="1"/>
          <p:nvPr/>
        </p:nvSpPr>
        <p:spPr>
          <a:xfrm>
            <a:off x="781046" y="2146379"/>
            <a:ext cx="7693992" cy="3600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2000"/>
              <a:t>This work proposes a failure-aware RAG framework to improve system reliability.</a:t>
            </a:r>
            <a:br>
              <a:rPr lang="en-US" sz="1600"/>
            </a:br>
            <a:endParaRPr lang="en-US" sz="1600"/>
          </a:p>
          <a:p>
            <a:r>
              <a:rPr lang="en-IN" sz="2000"/>
              <a:t>This phase focuses on detecting retrieval failures using similarity score, top-k consistency, and retrieval agreement signals.</a:t>
            </a:r>
            <a:br>
              <a:rPr lang="en-US" sz="1600"/>
            </a:br>
            <a:endParaRPr lang="en-US" sz="1600"/>
          </a:p>
          <a:p>
            <a:r>
              <a:rPr lang="en-IN" sz="2000"/>
              <a:t>The system estimates retrieval reliability and enables early detection of weak retrieval.</a:t>
            </a:r>
          </a:p>
          <a:p>
            <a:endParaRPr lang="en-US" sz="1600"/>
          </a:p>
          <a:p>
            <a:r>
              <a:rPr lang="en-IN" sz="2000"/>
              <a:t>This forms the foundation for future confidence estimation and adaptive RAG systems.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2732F4-3776-2105-4BA2-6551D57ADB5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9008" y="6145220"/>
            <a:ext cx="301909" cy="288824"/>
          </a:xfrm>
        </p:spPr>
        <p:txBody>
          <a:bodyPr/>
          <a:lstStyle/>
          <a:p>
            <a:fld id="{86CB4B4D-7CA3-9044-876B-883B54F8677D}" type="slidenum">
              <a:rPr lang="en-US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C0D77-A6CA-F07E-14C3-8AC56AABD9FD}"/>
              </a:ext>
            </a:extLst>
          </p:cNvPr>
          <p:cNvSpPr txBox="1"/>
          <p:nvPr/>
        </p:nvSpPr>
        <p:spPr>
          <a:xfrm>
            <a:off x="543683" y="1844358"/>
            <a:ext cx="8184776" cy="3539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endParaRPr lang="en-GB" sz="17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A011DC82-C149-5B66-FCEF-A4C714B432AD}"/>
              </a:ext>
            </a:extLst>
          </p:cNvPr>
          <p:cNvSpPr txBox="1">
            <a:spLocks/>
          </p:cNvSpPr>
          <p:nvPr/>
        </p:nvSpPr>
        <p:spPr>
          <a:xfrm>
            <a:off x="1208228" y="523833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793B4-07BB-042A-5162-4E953EB6D2B8}"/>
              </a:ext>
            </a:extLst>
          </p:cNvPr>
          <p:cNvSpPr txBox="1"/>
          <p:nvPr/>
        </p:nvSpPr>
        <p:spPr>
          <a:xfrm>
            <a:off x="543683" y="1445915"/>
            <a:ext cx="8184776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800"/>
              <a:t>[1] H. Soudani, E. </a:t>
            </a:r>
            <a:r>
              <a:rPr lang="en-US" sz="1800" err="1"/>
              <a:t>Kanoulas</a:t>
            </a:r>
            <a:r>
              <a:rPr lang="en-US" sz="1800"/>
              <a:t>, and F. </a:t>
            </a:r>
            <a:r>
              <a:rPr lang="en-US" sz="1800" err="1"/>
              <a:t>Hasibi</a:t>
            </a:r>
            <a:r>
              <a:rPr lang="en-US" sz="1800"/>
              <a:t>, “Why Uncertainty Estimation Methods </a:t>
            </a:r>
            <a:r>
              <a:rPr lang="en-US" sz="1800" err="1"/>
              <a:t>FallShort</a:t>
            </a:r>
            <a:r>
              <a:rPr lang="en-US" sz="1800"/>
              <a:t> in Retrieval-Augmented Generation: An Axiomatic Analysis,” </a:t>
            </a:r>
            <a:r>
              <a:rPr lang="en-US" sz="1800" err="1"/>
              <a:t>arXiv</a:t>
            </a:r>
            <a:r>
              <a:rPr lang="en-US" sz="1800"/>
              <a:t> preprintarXiv:2505.07459, 2025. [Online]. Available: </a:t>
            </a:r>
            <a:r>
              <a:rPr lang="en-US" sz="1800">
                <a:hlinkClick r:id="rId2"/>
              </a:rPr>
              <a:t>http://arxiv.org/abs/2505.07459</a:t>
            </a:r>
            <a:endParaRPr lang="en-US" sz="1800"/>
          </a:p>
          <a:p>
            <a:endParaRPr lang="en-US" sz="1800"/>
          </a:p>
          <a:p>
            <a:r>
              <a:rPr lang="en-US" sz="1800"/>
              <a:t>[2] M. </a:t>
            </a:r>
            <a:r>
              <a:rPr lang="en-US" sz="1800" err="1"/>
              <a:t>Oehri</a:t>
            </a:r>
            <a:r>
              <a:rPr lang="en-US" sz="1800"/>
              <a:t> et al., “Trusted Uncertainty in Large Language Models: A </a:t>
            </a:r>
            <a:r>
              <a:rPr lang="en-US" sz="1800" err="1"/>
              <a:t>UnifiedFramework</a:t>
            </a:r>
            <a:r>
              <a:rPr lang="en-US" sz="1800"/>
              <a:t> for Confidence Calibration and Risk-Controlled Refusal,” </a:t>
            </a:r>
            <a:r>
              <a:rPr lang="en-US" sz="1800" err="1"/>
              <a:t>arXiv</a:t>
            </a:r>
            <a:r>
              <a:rPr lang="en-US" sz="1800"/>
              <a:t> preprintarXiv:2509.01455, 2025.</a:t>
            </a:r>
          </a:p>
          <a:p>
            <a:endParaRPr lang="en-US" sz="1800"/>
          </a:p>
          <a:p>
            <a:r>
              <a:rPr lang="en-US" sz="1800"/>
              <a:t>[3] L. </a:t>
            </a:r>
            <a:r>
              <a:rPr lang="en-US" sz="1800" err="1"/>
              <a:t>Ngartera</a:t>
            </a:r>
            <a:r>
              <a:rPr lang="en-US" sz="1800"/>
              <a:t>, S. Nadarajah, and R. </a:t>
            </a:r>
            <a:r>
              <a:rPr lang="en-US" sz="1800" err="1"/>
              <a:t>Koina</a:t>
            </a:r>
            <a:r>
              <a:rPr lang="en-US" sz="1800"/>
              <a:t>, “Bayesian RAG: Uncertainty-</a:t>
            </a:r>
            <a:r>
              <a:rPr lang="en-US" sz="1800" err="1"/>
              <a:t>AwareRetrieval</a:t>
            </a:r>
            <a:r>
              <a:rPr lang="en-US" sz="1800"/>
              <a:t> for Reliable Financial Question Answering,” Frontiers in Artificial </a:t>
            </a:r>
            <a:r>
              <a:rPr lang="en-US" sz="1800" err="1"/>
              <a:t>Intelligence,vol</a:t>
            </a:r>
            <a:r>
              <a:rPr lang="en-US" sz="1800"/>
              <a:t>. 8, 2026, </a:t>
            </a:r>
            <a:r>
              <a:rPr lang="en-US" sz="1800" err="1"/>
              <a:t>doi</a:t>
            </a:r>
            <a:r>
              <a:rPr lang="en-US" sz="1800"/>
              <a:t>: 10.3389/frai.2025.1668172.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/>
              <a:t>[4] Y. Gao, Y. Xiong, X. Gao, K. Jia, J. Pan, Y. Bi, Y. Dai, J. Sun, H. Wang, and </a:t>
            </a:r>
            <a:r>
              <a:rPr lang="en-US" sz="1800" err="1"/>
              <a:t>H.Wang</a:t>
            </a:r>
            <a:r>
              <a:rPr lang="en-US" sz="1800"/>
              <a:t>, “Retrieval-Augmented Generation for Large Language Models: A Survey,” </a:t>
            </a:r>
            <a:r>
              <a:rPr lang="en-US" sz="1800" err="1"/>
              <a:t>arXivpreprint</a:t>
            </a:r>
            <a:r>
              <a:rPr lang="en-US" sz="1800"/>
              <a:t> arXiv:2312.10997, 2023.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485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BC46-C3D8-3928-A59E-4DB16247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CA6CA-2F71-74E4-DE7A-3B6805F1EC9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82137" y="6074125"/>
            <a:ext cx="301909" cy="288824"/>
          </a:xfrm>
        </p:spPr>
        <p:txBody>
          <a:bodyPr/>
          <a:lstStyle/>
          <a:p>
            <a:fld id="{86CB4B4D-7CA3-9044-876B-883B54F8677D}" type="slidenum">
              <a:rPr lang="en-US"/>
              <a:t>20</a:t>
            </a:fld>
            <a:endParaRPr lang="en-US"/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0FC4D179-539C-6E96-9173-F3B08F5482AF}"/>
              </a:ext>
            </a:extLst>
          </p:cNvPr>
          <p:cNvSpPr txBox="1">
            <a:spLocks/>
          </p:cNvSpPr>
          <p:nvPr/>
        </p:nvSpPr>
        <p:spPr>
          <a:xfrm>
            <a:off x="1208228" y="523833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693D7-8221-4741-136F-868AF3B3875D}"/>
              </a:ext>
            </a:extLst>
          </p:cNvPr>
          <p:cNvSpPr txBox="1"/>
          <p:nvPr/>
        </p:nvSpPr>
        <p:spPr>
          <a:xfrm>
            <a:off x="474758" y="1874321"/>
            <a:ext cx="8184776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800"/>
              <a:t>[5] S. Es, J. James, L. Espinosa-Anke, and S. </a:t>
            </a:r>
            <a:r>
              <a:rPr lang="en-US" sz="1800" err="1"/>
              <a:t>Schockaert</a:t>
            </a:r>
            <a:r>
              <a:rPr lang="en-US" sz="1800"/>
              <a:t>, “RAGAS: Automated Evaluation of Retrieval-Augmented Generation,” </a:t>
            </a:r>
            <a:r>
              <a:rPr lang="en-US" sz="1800" err="1"/>
              <a:t>arXiv</a:t>
            </a:r>
            <a:r>
              <a:rPr lang="en-US" sz="1800"/>
              <a:t> preprint arXiv:2309.15217, 2023.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/>
              <a:t>[6] V. </a:t>
            </a:r>
            <a:r>
              <a:rPr lang="en-US" sz="1800" err="1"/>
              <a:t>Karpukhin</a:t>
            </a:r>
            <a:r>
              <a:rPr lang="en-US" sz="1800"/>
              <a:t> et al., “Dense Passage Retrieval for Open-Domain Question Answering,” in Proceedings of the 2020 Conference on Empirical Methods in Natural Language Processing (EMNLP), 2020, pp. 6769–6781.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/>
              <a:t>[7] S.-Q. Yan, J.-C. Gu, Y. Zhu, and Z.-H. Ling, “Corrective Retrieval-Augmented Generation,” </a:t>
            </a:r>
            <a:r>
              <a:rPr lang="en-US" sz="1800" err="1"/>
              <a:t>arXiv</a:t>
            </a:r>
            <a:r>
              <a:rPr lang="en-US" sz="1800"/>
              <a:t> preprint arXiv:2401.15884, 2024.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/>
              <a:t>[8] P. Lewis et al., “Retrieval-Augmented Generation for Knowledge-Intensive NLP Tasks,” in Advances in Neural Information Processing Systems (</a:t>
            </a:r>
            <a:r>
              <a:rPr lang="en-US" sz="1800" err="1"/>
              <a:t>NeurIPS</a:t>
            </a:r>
            <a:r>
              <a:rPr lang="en-US" sz="1800"/>
              <a:t>), vol. 33, 2020, pp. 9459–9474.</a:t>
            </a:r>
          </a:p>
        </p:txBody>
      </p:sp>
    </p:spTree>
    <p:extLst>
      <p:ext uri="{BB962C8B-B14F-4D97-AF65-F5344CB8AC3E}">
        <p14:creationId xmlns:p14="http://schemas.microsoft.com/office/powerpoint/2010/main" val="15579846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E4A7-89B4-7F24-7541-294DB7D9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372934-B77B-FAD4-EA9A-57F76852531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61821" y="6106938"/>
            <a:ext cx="301909" cy="288824"/>
          </a:xfrm>
        </p:spPr>
        <p:txBody>
          <a:bodyPr/>
          <a:lstStyle/>
          <a:p>
            <a:fld id="{86CB4B4D-7CA3-9044-876B-883B54F8677D}" type="slidenum">
              <a:rPr lang="en-US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713BF-0E8A-B6C7-377A-F76A93EBA403}"/>
              </a:ext>
            </a:extLst>
          </p:cNvPr>
          <p:cNvSpPr txBox="1"/>
          <p:nvPr/>
        </p:nvSpPr>
        <p:spPr>
          <a:xfrm>
            <a:off x="583747" y="1335379"/>
            <a:ext cx="8184776" cy="4770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600"/>
              <a:t>[9] A. Asai, Z. Wu, Y. Wang, A. Sil, and H. </a:t>
            </a:r>
            <a:r>
              <a:rPr lang="en-US" sz="1600" err="1"/>
              <a:t>Hajishirzi</a:t>
            </a:r>
            <a:r>
              <a:rPr lang="en-US" sz="1600"/>
              <a:t>, “Self-RAG: Learning to </a:t>
            </a:r>
            <a:r>
              <a:rPr lang="en-US" sz="1600" err="1"/>
              <a:t>Retrieve,Generate</a:t>
            </a:r>
            <a:r>
              <a:rPr lang="en-US" sz="1600"/>
              <a:t>, and Critique through Self-Reflection,” </a:t>
            </a:r>
            <a:r>
              <a:rPr lang="en-US" sz="1600" err="1"/>
              <a:t>arXiv</a:t>
            </a:r>
            <a:r>
              <a:rPr lang="en-US" sz="1600"/>
              <a:t> preprint arXiv:2310.11511, 2023.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/>
              <a:t>[10] O. Khattab and M. Zaharia, “</a:t>
            </a:r>
            <a:r>
              <a:rPr lang="en-US" sz="1600" err="1"/>
              <a:t>ColBERT</a:t>
            </a:r>
            <a:r>
              <a:rPr lang="en-US" sz="1600"/>
              <a:t>: Efficient and Effective Passage Search </a:t>
            </a:r>
            <a:r>
              <a:rPr lang="en-US" sz="1600" err="1"/>
              <a:t>viaContextualized</a:t>
            </a:r>
            <a:r>
              <a:rPr lang="en-US" sz="1600"/>
              <a:t> Late Interaction over BERT,” in Proceedings of the 43rd International ACMSIGIR Conference on Research and Development in Information Retrieval, 2020, pp. 39–48, doi:10.1145/3397271.3401075.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/>
              <a:t>[11] J. Song, X. Wang, J. Zhu, Y. Wu, X. Cheng, R. Zhong, and C. Niu, “RAG-HAT: </a:t>
            </a:r>
            <a:r>
              <a:rPr lang="en-US" sz="1600" err="1"/>
              <a:t>AHallucination</a:t>
            </a:r>
            <a:r>
              <a:rPr lang="en-US" sz="1600"/>
              <a:t>-Aware Tuning Pipeline for LLM in Retrieval-Augmented Generation,” </a:t>
            </a:r>
            <a:r>
              <a:rPr lang="en-US" sz="1600" err="1"/>
              <a:t>arXivpreprint</a:t>
            </a:r>
            <a:r>
              <a:rPr lang="en-US" sz="1600"/>
              <a:t>, 2024.</a:t>
            </a:r>
          </a:p>
          <a:p>
            <a:endParaRPr lang="en-US" sz="1600"/>
          </a:p>
          <a:p>
            <a:r>
              <a:rPr lang="en-US" sz="1600"/>
              <a:t>[12] H. Ding, L. Pang, Z. Wei, H. Shen, and X. Cheng, “Rowen: Adaptive Retrieval-</a:t>
            </a:r>
            <a:r>
              <a:rPr lang="en-US" sz="1600" err="1"/>
              <a:t>AugmentedGeneration</a:t>
            </a:r>
            <a:r>
              <a:rPr lang="en-US" sz="1600"/>
              <a:t> for Hallucination Mitigation in Large Language Models,” </a:t>
            </a:r>
            <a:r>
              <a:rPr lang="en-US" sz="1600" err="1"/>
              <a:t>arXiv</a:t>
            </a:r>
            <a:r>
              <a:rPr lang="en-US" sz="1600"/>
              <a:t> preprint, 2025.</a:t>
            </a:r>
          </a:p>
          <a:p>
            <a:endParaRPr lang="en-US" sz="1600"/>
          </a:p>
          <a:p>
            <a:r>
              <a:rPr lang="en-US" sz="1600"/>
              <a:t>[13] Z. Sun, X. Zang, K. Zheng, et al., “</a:t>
            </a:r>
            <a:r>
              <a:rPr lang="en-US" sz="1600" err="1"/>
              <a:t>ReDeEP</a:t>
            </a:r>
            <a:r>
              <a:rPr lang="en-US" sz="1600"/>
              <a:t>: Detecting Hallucination in Retrieval-Augmented Generation via Mechanistic Interpretability,” 2025.</a:t>
            </a:r>
          </a:p>
        </p:txBody>
      </p:sp>
      <p:sp>
        <p:nvSpPr>
          <p:cNvPr id="8" name="References">
            <a:extLst>
              <a:ext uri="{FF2B5EF4-FFF2-40B4-BE49-F238E27FC236}">
                <a16:creationId xmlns:a16="http://schemas.microsoft.com/office/drawing/2014/main" id="{E8710F23-3D64-D66C-AFB7-292277A499BA}"/>
              </a:ext>
            </a:extLst>
          </p:cNvPr>
          <p:cNvSpPr txBox="1">
            <a:spLocks/>
          </p:cNvSpPr>
          <p:nvPr/>
        </p:nvSpPr>
        <p:spPr>
          <a:xfrm>
            <a:off x="1142601" y="523833"/>
            <a:ext cx="6858000" cy="808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GB" sz="320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9833903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11_Default Design</vt:lpstr>
      <vt:lpstr>Failure-Aware and Confidence-Calibrated Adaptive Retrieval-Augmented Generation System 23CSE399 Project Phase 1 – Approval Presentation  Team ID: 23UG031   Panel No.:20 </vt:lpstr>
      <vt:lpstr>Approval Mail</vt:lpstr>
      <vt:lpstr>Agenda </vt:lpstr>
      <vt:lpstr>Introduction - Problem Statement </vt:lpstr>
      <vt:lpstr>Research Gaps  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Objectives </vt:lpstr>
      <vt:lpstr>Architecture of the Proposed System</vt:lpstr>
      <vt:lpstr>Functionalities of the Proposed System</vt:lpstr>
      <vt:lpstr>Software/Tools Requirements</vt:lpstr>
      <vt:lpstr>Timeline</vt:lpstr>
      <vt:lpstr>Conclusion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23</cp:revision>
  <dcterms:modified xsi:type="dcterms:W3CDTF">2026-02-19T08:11:25Z</dcterms:modified>
</cp:coreProperties>
</file>