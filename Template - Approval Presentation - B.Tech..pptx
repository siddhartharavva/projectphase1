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298" r:id="rId2"/>
    <p:sldId id="297" r:id="rId3"/>
    <p:sldId id="257" r:id="rId4"/>
    <p:sldId id="259" r:id="rId5"/>
    <p:sldId id="299" r:id="rId6"/>
    <p:sldId id="300" r:id="rId7"/>
    <p:sldId id="270" r:id="rId8"/>
    <p:sldId id="295" r:id="rId9"/>
    <p:sldId id="296" r:id="rId10"/>
    <p:sldId id="287" r:id="rId11"/>
    <p:sldId id="289" r:id="rId12"/>
    <p:sldId id="294" r:id="rId13"/>
    <p:sldId id="284" r:id="rId14"/>
    <p:sldId id="264" r:id="rId15"/>
    <p:sldId id="293" r:id="rId16"/>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98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26" autoAdjust="0"/>
    <p:restoredTop sz="94660"/>
  </p:normalViewPr>
  <p:slideViewPr>
    <p:cSldViewPr snapToGrid="0">
      <p:cViewPr varScale="1">
        <p:scale>
          <a:sx n="123" d="100"/>
          <a:sy n="123" d="100"/>
        </p:scale>
        <p:origin x="1656"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F2611-4B58-ED43-AC9F-B952F610F406}"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US"/>
        </a:p>
      </dgm:t>
    </dgm:pt>
    <dgm:pt modelId="{16F9E631-8BA3-154F-A6E6-07CA57FBC2DB}">
      <dgm:prSet phldrT="[Text]"/>
      <dgm:spPr/>
      <dgm:t>
        <a:bodyPr/>
        <a:lstStyle/>
        <a:p>
          <a:r>
            <a:rPr lang="en-US" dirty="0">
              <a:solidFill>
                <a:schemeClr val="tx1"/>
              </a:solidFill>
            </a:rPr>
            <a:t>Literature Survey</a:t>
          </a:r>
        </a:p>
      </dgm:t>
    </dgm:pt>
    <dgm:pt modelId="{4BAA8D80-E90A-6945-90C2-16CAFC77FA6F}" type="parTrans" cxnId="{5D2F70F4-D4C2-FD4A-B54D-45A310324ADC}">
      <dgm:prSet/>
      <dgm:spPr/>
      <dgm:t>
        <a:bodyPr/>
        <a:lstStyle/>
        <a:p>
          <a:endParaRPr lang="en-US">
            <a:solidFill>
              <a:schemeClr val="tx1"/>
            </a:solidFill>
          </a:endParaRPr>
        </a:p>
      </dgm:t>
    </dgm:pt>
    <dgm:pt modelId="{40437896-D1C0-9744-812A-639F6C127825}" type="sibTrans" cxnId="{5D2F70F4-D4C2-FD4A-B54D-45A310324ADC}">
      <dgm:prSet/>
      <dgm:spPr/>
      <dgm:t>
        <a:bodyPr/>
        <a:lstStyle/>
        <a:p>
          <a:endParaRPr lang="en-US">
            <a:solidFill>
              <a:schemeClr val="tx1"/>
            </a:solidFill>
          </a:endParaRPr>
        </a:p>
      </dgm:t>
    </dgm:pt>
    <dgm:pt modelId="{63672145-F932-0941-9207-6FD21631945F}">
      <dgm:prSet phldrT="[Text]"/>
      <dgm:spPr/>
      <dgm:t>
        <a:bodyPr/>
        <a:lstStyle/>
        <a:p>
          <a:r>
            <a:rPr lang="en-US" dirty="0">
              <a:solidFill>
                <a:schemeClr val="tx1"/>
              </a:solidFill>
            </a:rPr>
            <a:t>Design [Front End, Back End]</a:t>
          </a:r>
        </a:p>
      </dgm:t>
    </dgm:pt>
    <dgm:pt modelId="{DA9256D3-306A-2647-A641-4B0B371AA471}" type="parTrans" cxnId="{112C4A37-BD1F-0D4F-8BDF-AF61C42AA624}">
      <dgm:prSet/>
      <dgm:spPr/>
      <dgm:t>
        <a:bodyPr/>
        <a:lstStyle/>
        <a:p>
          <a:endParaRPr lang="en-US">
            <a:solidFill>
              <a:schemeClr val="tx1"/>
            </a:solidFill>
          </a:endParaRPr>
        </a:p>
      </dgm:t>
    </dgm:pt>
    <dgm:pt modelId="{EE4E87B9-A6F7-D040-A8C9-2B94C61F8F15}" type="sibTrans" cxnId="{112C4A37-BD1F-0D4F-8BDF-AF61C42AA624}">
      <dgm:prSet/>
      <dgm:spPr/>
      <dgm:t>
        <a:bodyPr/>
        <a:lstStyle/>
        <a:p>
          <a:endParaRPr lang="en-US">
            <a:solidFill>
              <a:schemeClr val="tx1"/>
            </a:solidFill>
          </a:endParaRPr>
        </a:p>
      </dgm:t>
    </dgm:pt>
    <dgm:pt modelId="{180ED30E-9BB7-2945-8E67-38EC3B69034A}">
      <dgm:prSet phldrT="[Text]"/>
      <dgm:spPr/>
      <dgm:t>
        <a:bodyPr/>
        <a:lstStyle/>
        <a:p>
          <a:r>
            <a:rPr lang="en-US" dirty="0">
              <a:solidFill>
                <a:schemeClr val="tx1"/>
              </a:solidFill>
            </a:rPr>
            <a:t>Implementation</a:t>
          </a:r>
        </a:p>
      </dgm:t>
    </dgm:pt>
    <dgm:pt modelId="{CCFA8DD9-517C-4C48-9ACE-EAEC7B4B1D8D}" type="parTrans" cxnId="{15010B8E-8FC6-034B-A7AD-F331240F7012}">
      <dgm:prSet/>
      <dgm:spPr/>
      <dgm:t>
        <a:bodyPr/>
        <a:lstStyle/>
        <a:p>
          <a:endParaRPr lang="en-US">
            <a:solidFill>
              <a:schemeClr val="tx1"/>
            </a:solidFill>
          </a:endParaRPr>
        </a:p>
      </dgm:t>
    </dgm:pt>
    <dgm:pt modelId="{9581D7FD-E2E0-0241-80C7-1BF3EEF3518C}" type="sibTrans" cxnId="{15010B8E-8FC6-034B-A7AD-F331240F7012}">
      <dgm:prSet/>
      <dgm:spPr/>
      <dgm:t>
        <a:bodyPr/>
        <a:lstStyle/>
        <a:p>
          <a:endParaRPr lang="en-US">
            <a:solidFill>
              <a:schemeClr val="tx1"/>
            </a:solidFill>
          </a:endParaRPr>
        </a:p>
      </dgm:t>
    </dgm:pt>
    <dgm:pt modelId="{44352C0E-9228-1D41-9AC7-630454862AAB}">
      <dgm:prSet phldrT="[Text]"/>
      <dgm:spPr/>
      <dgm:t>
        <a:bodyPr/>
        <a:lstStyle/>
        <a:p>
          <a:r>
            <a:rPr lang="en-US" dirty="0">
              <a:solidFill>
                <a:schemeClr val="tx1"/>
              </a:solidFill>
            </a:rPr>
            <a:t>Testing</a:t>
          </a:r>
        </a:p>
      </dgm:t>
    </dgm:pt>
    <dgm:pt modelId="{BB03014B-614B-4E4D-B179-22BF96D1FDA5}" type="parTrans" cxnId="{016D9485-956C-624D-A592-DDA4E4AA6CC5}">
      <dgm:prSet/>
      <dgm:spPr/>
      <dgm:t>
        <a:bodyPr/>
        <a:lstStyle/>
        <a:p>
          <a:endParaRPr lang="en-US">
            <a:solidFill>
              <a:schemeClr val="tx1"/>
            </a:solidFill>
          </a:endParaRPr>
        </a:p>
      </dgm:t>
    </dgm:pt>
    <dgm:pt modelId="{D2AC5C65-A520-AE49-8D76-EE23E4A07C4A}" type="sibTrans" cxnId="{016D9485-956C-624D-A592-DDA4E4AA6CC5}">
      <dgm:prSet/>
      <dgm:spPr/>
      <dgm:t>
        <a:bodyPr/>
        <a:lstStyle/>
        <a:p>
          <a:endParaRPr lang="en-US">
            <a:solidFill>
              <a:schemeClr val="tx1"/>
            </a:solidFill>
          </a:endParaRPr>
        </a:p>
      </dgm:t>
    </dgm:pt>
    <dgm:pt modelId="{251E4A29-F563-D34A-A9F7-27833A2BC30D}">
      <dgm:prSet phldrT="[Text]"/>
      <dgm:spPr/>
      <dgm:t>
        <a:bodyPr/>
        <a:lstStyle/>
        <a:p>
          <a:r>
            <a:rPr lang="en-US" dirty="0">
              <a:solidFill>
                <a:schemeClr val="tx1"/>
              </a:solidFill>
            </a:rPr>
            <a:t>Document Submission</a:t>
          </a:r>
        </a:p>
      </dgm:t>
    </dgm:pt>
    <dgm:pt modelId="{B9E7D4BF-66C0-D046-BA68-7E24F4AB0843}" type="parTrans" cxnId="{E336EE89-5EC2-AE4C-81C9-2EBDE6E482D4}">
      <dgm:prSet/>
      <dgm:spPr/>
      <dgm:t>
        <a:bodyPr/>
        <a:lstStyle/>
        <a:p>
          <a:endParaRPr lang="en-US">
            <a:solidFill>
              <a:schemeClr val="tx1"/>
            </a:solidFill>
          </a:endParaRPr>
        </a:p>
      </dgm:t>
    </dgm:pt>
    <dgm:pt modelId="{57ED735E-B5D2-C749-867E-EB96611C0B8B}" type="sibTrans" cxnId="{E336EE89-5EC2-AE4C-81C9-2EBDE6E482D4}">
      <dgm:prSet/>
      <dgm:spPr/>
      <dgm:t>
        <a:bodyPr/>
        <a:lstStyle/>
        <a:p>
          <a:endParaRPr lang="en-US">
            <a:solidFill>
              <a:schemeClr val="tx1"/>
            </a:solidFill>
          </a:endParaRPr>
        </a:p>
      </dgm:t>
    </dgm:pt>
    <dgm:pt modelId="{6469F03D-EC0D-E14C-9147-635163E16719}">
      <dgm:prSet phldrT="[Text]" custT="1"/>
      <dgm:spPr/>
      <dgm:t>
        <a:bodyPr/>
        <a:lstStyle/>
        <a:p>
          <a:r>
            <a:rPr lang="en-US" sz="1100" dirty="0">
              <a:solidFill>
                <a:schemeClr val="tx1"/>
              </a:solidFill>
            </a:rPr>
            <a:t>&lt;Date of Completion&gt;</a:t>
          </a:r>
        </a:p>
      </dgm:t>
    </dgm:pt>
    <dgm:pt modelId="{31D6F60D-A7D1-C54D-964D-3B8790B82FA4}" type="parTrans" cxnId="{69DAFA03-0878-9247-9AF4-F13FE4FF5D9B}">
      <dgm:prSet/>
      <dgm:spPr/>
      <dgm:t>
        <a:bodyPr/>
        <a:lstStyle/>
        <a:p>
          <a:endParaRPr lang="en-US">
            <a:solidFill>
              <a:schemeClr val="tx1"/>
            </a:solidFill>
          </a:endParaRPr>
        </a:p>
      </dgm:t>
    </dgm:pt>
    <dgm:pt modelId="{DCECCFCD-FFA0-2B4E-8620-4D260FCCA4E0}" type="sibTrans" cxnId="{69DAFA03-0878-9247-9AF4-F13FE4FF5D9B}">
      <dgm:prSet/>
      <dgm:spPr/>
      <dgm:t>
        <a:bodyPr/>
        <a:lstStyle/>
        <a:p>
          <a:endParaRPr lang="en-US">
            <a:solidFill>
              <a:schemeClr val="tx1"/>
            </a:solidFill>
          </a:endParaRPr>
        </a:p>
      </dgm:t>
    </dgm:pt>
    <dgm:pt modelId="{712C06CF-58B4-8F4A-A1C3-18737522BAA5}">
      <dgm:prSet phldrT="[Text]" custT="1"/>
      <dgm:spPr/>
      <dgm:t>
        <a:bodyPr/>
        <a:lstStyle/>
        <a:p>
          <a:r>
            <a:rPr lang="en-US" sz="1100" dirty="0">
              <a:solidFill>
                <a:schemeClr val="tx1"/>
              </a:solidFill>
            </a:rPr>
            <a:t>&lt;Date of Completion&gt;</a:t>
          </a:r>
        </a:p>
      </dgm:t>
    </dgm:pt>
    <dgm:pt modelId="{00A2F76A-F4C8-F042-BC58-5B28B1FEF030}" type="parTrans" cxnId="{552A83B2-FDAE-E143-BB66-928925B322B7}">
      <dgm:prSet/>
      <dgm:spPr/>
      <dgm:t>
        <a:bodyPr/>
        <a:lstStyle/>
        <a:p>
          <a:endParaRPr lang="en-US">
            <a:solidFill>
              <a:schemeClr val="tx1"/>
            </a:solidFill>
          </a:endParaRPr>
        </a:p>
      </dgm:t>
    </dgm:pt>
    <dgm:pt modelId="{F7A6ECC7-ED92-634B-B481-4D7D62B796B5}" type="sibTrans" cxnId="{552A83B2-FDAE-E143-BB66-928925B322B7}">
      <dgm:prSet/>
      <dgm:spPr/>
      <dgm:t>
        <a:bodyPr/>
        <a:lstStyle/>
        <a:p>
          <a:endParaRPr lang="en-US">
            <a:solidFill>
              <a:schemeClr val="tx1"/>
            </a:solidFill>
          </a:endParaRPr>
        </a:p>
      </dgm:t>
    </dgm:pt>
    <dgm:pt modelId="{B761BE11-3B98-534C-8389-3D511BB432FF}">
      <dgm:prSet phldrT="[Text]" custT="1"/>
      <dgm:spPr/>
      <dgm:t>
        <a:bodyPr/>
        <a:lstStyle/>
        <a:p>
          <a:r>
            <a:rPr lang="en-US" sz="1000" dirty="0">
              <a:solidFill>
                <a:schemeClr val="tx1"/>
              </a:solidFill>
            </a:rPr>
            <a:t>&lt;Date of Completion&gt;</a:t>
          </a:r>
        </a:p>
      </dgm:t>
    </dgm:pt>
    <dgm:pt modelId="{53F8C2F9-90C5-F04A-B13E-59A7DBEEB722}" type="parTrans" cxnId="{7F3F2935-1376-434A-B6E9-CEA12E0D559A}">
      <dgm:prSet/>
      <dgm:spPr/>
      <dgm:t>
        <a:bodyPr/>
        <a:lstStyle/>
        <a:p>
          <a:endParaRPr lang="en-US">
            <a:solidFill>
              <a:schemeClr val="tx1"/>
            </a:solidFill>
          </a:endParaRPr>
        </a:p>
      </dgm:t>
    </dgm:pt>
    <dgm:pt modelId="{1CFC13B1-0710-8745-A251-B44B9B630299}" type="sibTrans" cxnId="{7F3F2935-1376-434A-B6E9-CEA12E0D559A}">
      <dgm:prSet/>
      <dgm:spPr/>
      <dgm:t>
        <a:bodyPr/>
        <a:lstStyle/>
        <a:p>
          <a:endParaRPr lang="en-US">
            <a:solidFill>
              <a:schemeClr val="tx1"/>
            </a:solidFill>
          </a:endParaRPr>
        </a:p>
      </dgm:t>
    </dgm:pt>
    <dgm:pt modelId="{05C01FBF-0839-B840-AA40-B5D4B5EF9464}">
      <dgm:prSet phldrT="[Text]" custT="1"/>
      <dgm:spPr/>
      <dgm:t>
        <a:bodyPr/>
        <a:lstStyle/>
        <a:p>
          <a:r>
            <a:rPr lang="en-US" sz="1000" dirty="0">
              <a:solidFill>
                <a:schemeClr val="tx1"/>
              </a:solidFill>
            </a:rPr>
            <a:t>&lt;Date of Completion&gt;</a:t>
          </a:r>
        </a:p>
      </dgm:t>
    </dgm:pt>
    <dgm:pt modelId="{4292C26E-910E-F242-B4EA-85C15677A931}" type="parTrans" cxnId="{570398A5-7B9B-684E-836B-828C67CE95B5}">
      <dgm:prSet/>
      <dgm:spPr/>
      <dgm:t>
        <a:bodyPr/>
        <a:lstStyle/>
        <a:p>
          <a:endParaRPr lang="en-US">
            <a:solidFill>
              <a:schemeClr val="tx1"/>
            </a:solidFill>
          </a:endParaRPr>
        </a:p>
      </dgm:t>
    </dgm:pt>
    <dgm:pt modelId="{9CE79F6D-8C8B-134E-870B-A3814A161031}" type="sibTrans" cxnId="{570398A5-7B9B-684E-836B-828C67CE95B5}">
      <dgm:prSet/>
      <dgm:spPr/>
      <dgm:t>
        <a:bodyPr/>
        <a:lstStyle/>
        <a:p>
          <a:endParaRPr lang="en-US">
            <a:solidFill>
              <a:schemeClr val="tx1"/>
            </a:solidFill>
          </a:endParaRPr>
        </a:p>
      </dgm:t>
    </dgm:pt>
    <dgm:pt modelId="{26B4761A-8722-154A-9A4E-6B2E8309550C}">
      <dgm:prSet phldrT="[Text]"/>
      <dgm:spPr/>
      <dgm:t>
        <a:bodyPr/>
        <a:lstStyle/>
        <a:p>
          <a:r>
            <a:rPr lang="en-US" dirty="0">
              <a:solidFill>
                <a:schemeClr val="tx1"/>
              </a:solidFill>
            </a:rPr>
            <a:t>Abstract Submission</a:t>
          </a:r>
        </a:p>
      </dgm:t>
    </dgm:pt>
    <dgm:pt modelId="{19278814-36C8-0643-9FFA-66C8A44E8EEC}" type="parTrans" cxnId="{3CBBF823-4682-A649-AD39-366A0823CC07}">
      <dgm:prSet/>
      <dgm:spPr/>
      <dgm:t>
        <a:bodyPr/>
        <a:lstStyle/>
        <a:p>
          <a:endParaRPr lang="en-US">
            <a:solidFill>
              <a:schemeClr val="tx1"/>
            </a:solidFill>
          </a:endParaRPr>
        </a:p>
      </dgm:t>
    </dgm:pt>
    <dgm:pt modelId="{B2DCC36A-7A1A-4C4F-90DA-FAE4C97E6C7D}" type="sibTrans" cxnId="{3CBBF823-4682-A649-AD39-366A0823CC07}">
      <dgm:prSet/>
      <dgm:spPr/>
      <dgm:t>
        <a:bodyPr/>
        <a:lstStyle/>
        <a:p>
          <a:endParaRPr lang="en-US">
            <a:solidFill>
              <a:schemeClr val="tx1"/>
            </a:solidFill>
          </a:endParaRPr>
        </a:p>
      </dgm:t>
    </dgm:pt>
    <dgm:pt modelId="{CB6CE777-E645-594F-9F72-31FA50915471}">
      <dgm:prSet phldrT="[Text]" custT="1"/>
      <dgm:spPr/>
      <dgm:t>
        <a:bodyPr/>
        <a:lstStyle/>
        <a:p>
          <a:r>
            <a:rPr lang="en-US" sz="1000" dirty="0">
              <a:solidFill>
                <a:schemeClr val="tx1"/>
              </a:solidFill>
            </a:rPr>
            <a:t>&lt;Date of Completion&gt;</a:t>
          </a:r>
        </a:p>
      </dgm:t>
    </dgm:pt>
    <dgm:pt modelId="{A3FA10DA-B8BC-6B42-A66B-27F9CED77F23}" type="parTrans" cxnId="{84262DD1-54DB-8D42-9C16-B543B3BB3374}">
      <dgm:prSet/>
      <dgm:spPr/>
      <dgm:t>
        <a:bodyPr/>
        <a:lstStyle/>
        <a:p>
          <a:endParaRPr lang="en-US">
            <a:solidFill>
              <a:schemeClr val="tx1"/>
            </a:solidFill>
          </a:endParaRPr>
        </a:p>
      </dgm:t>
    </dgm:pt>
    <dgm:pt modelId="{F64EEB12-0851-6B4F-BF84-33083DA26F4B}" type="sibTrans" cxnId="{84262DD1-54DB-8D42-9C16-B543B3BB3374}">
      <dgm:prSet/>
      <dgm:spPr/>
      <dgm:t>
        <a:bodyPr/>
        <a:lstStyle/>
        <a:p>
          <a:endParaRPr lang="en-US">
            <a:solidFill>
              <a:schemeClr val="tx1"/>
            </a:solidFill>
          </a:endParaRPr>
        </a:p>
      </dgm:t>
    </dgm:pt>
    <dgm:pt modelId="{CA627FEB-5C4C-4C51-8A75-FEFCA4466D7B}">
      <dgm:prSet phldrT="[Text]" custT="1"/>
      <dgm:spPr/>
      <dgm:t>
        <a:bodyPr/>
        <a:lstStyle/>
        <a:p>
          <a:r>
            <a:rPr lang="en-US" sz="1050" dirty="0">
              <a:solidFill>
                <a:schemeClr val="tx1"/>
              </a:solidFill>
            </a:rPr>
            <a:t>&lt;Date of Completion&gt;</a:t>
          </a:r>
        </a:p>
      </dgm:t>
    </dgm:pt>
    <dgm:pt modelId="{312DFEE4-A0BE-4287-98A9-69EE828C53A8}" type="parTrans" cxnId="{8716AEE2-5EF1-42C9-B2C6-5BB2852185DF}">
      <dgm:prSet/>
      <dgm:spPr/>
      <dgm:t>
        <a:bodyPr/>
        <a:lstStyle/>
        <a:p>
          <a:endParaRPr lang="en-US"/>
        </a:p>
      </dgm:t>
    </dgm:pt>
    <dgm:pt modelId="{C867BD04-E42D-4E36-9651-FF055F4AF5F0}" type="sibTrans" cxnId="{8716AEE2-5EF1-42C9-B2C6-5BB2852185DF}">
      <dgm:prSet/>
      <dgm:spPr/>
      <dgm:t>
        <a:bodyPr/>
        <a:lstStyle/>
        <a:p>
          <a:endParaRPr lang="en-US"/>
        </a:p>
      </dgm:t>
    </dgm:pt>
    <dgm:pt modelId="{49E2B0A6-6F15-3D4D-BF88-D0B2483CB55B}" type="pres">
      <dgm:prSet presAssocID="{92AF2611-4B58-ED43-AC9F-B952F610F406}" presName="rootnode" presStyleCnt="0">
        <dgm:presLayoutVars>
          <dgm:chMax/>
          <dgm:chPref/>
          <dgm:dir/>
          <dgm:animLvl val="lvl"/>
        </dgm:presLayoutVars>
      </dgm:prSet>
      <dgm:spPr/>
    </dgm:pt>
    <dgm:pt modelId="{E975EE4B-D42E-E84D-8A4A-2906A98D9890}" type="pres">
      <dgm:prSet presAssocID="{26B4761A-8722-154A-9A4E-6B2E8309550C}" presName="composite" presStyleCnt="0"/>
      <dgm:spPr/>
    </dgm:pt>
    <dgm:pt modelId="{FC8198D2-B811-F543-848D-08253013A363}" type="pres">
      <dgm:prSet presAssocID="{26B4761A-8722-154A-9A4E-6B2E8309550C}" presName="bentUpArrow1" presStyleLbl="alignImgPlace1" presStyleIdx="0" presStyleCnt="5"/>
      <dgm:spPr/>
    </dgm:pt>
    <dgm:pt modelId="{1A27501D-E342-BE40-9448-5C65451E51A0}" type="pres">
      <dgm:prSet presAssocID="{26B4761A-8722-154A-9A4E-6B2E8309550C}" presName="ParentText" presStyleLbl="node1" presStyleIdx="0" presStyleCnt="6">
        <dgm:presLayoutVars>
          <dgm:chMax val="1"/>
          <dgm:chPref val="1"/>
          <dgm:bulletEnabled val="1"/>
        </dgm:presLayoutVars>
      </dgm:prSet>
      <dgm:spPr/>
    </dgm:pt>
    <dgm:pt modelId="{13263DF5-F771-E44D-A3A6-7359AB5A694B}" type="pres">
      <dgm:prSet presAssocID="{26B4761A-8722-154A-9A4E-6B2E8309550C}" presName="ChildText" presStyleLbl="revTx" presStyleIdx="0" presStyleCnt="6" custScaleX="199197" custLinFactNeighborX="55604" custLinFactNeighborY="-1554">
        <dgm:presLayoutVars>
          <dgm:chMax val="0"/>
          <dgm:chPref val="0"/>
          <dgm:bulletEnabled val="1"/>
        </dgm:presLayoutVars>
      </dgm:prSet>
      <dgm:spPr/>
    </dgm:pt>
    <dgm:pt modelId="{1405AD88-5681-5740-8B0F-785D5C4C54E3}" type="pres">
      <dgm:prSet presAssocID="{B2DCC36A-7A1A-4C4F-90DA-FAE4C97E6C7D}" presName="sibTrans" presStyleCnt="0"/>
      <dgm:spPr/>
    </dgm:pt>
    <dgm:pt modelId="{876C9C10-85C7-794D-BECA-7E6B3040BD5B}" type="pres">
      <dgm:prSet presAssocID="{16F9E631-8BA3-154F-A6E6-07CA57FBC2DB}" presName="composite" presStyleCnt="0"/>
      <dgm:spPr/>
    </dgm:pt>
    <dgm:pt modelId="{7249723C-E4C0-8E4E-9876-FECBD8EB4088}" type="pres">
      <dgm:prSet presAssocID="{16F9E631-8BA3-154F-A6E6-07CA57FBC2DB}" presName="bentUpArrow1" presStyleLbl="alignImgPlace1" presStyleIdx="1" presStyleCnt="5"/>
      <dgm:spPr/>
    </dgm:pt>
    <dgm:pt modelId="{7176A5BC-3282-044F-8AE1-17BEE6013828}" type="pres">
      <dgm:prSet presAssocID="{16F9E631-8BA3-154F-A6E6-07CA57FBC2DB}" presName="ParentText" presStyleLbl="node1" presStyleIdx="1" presStyleCnt="6">
        <dgm:presLayoutVars>
          <dgm:chMax val="1"/>
          <dgm:chPref val="1"/>
          <dgm:bulletEnabled val="1"/>
        </dgm:presLayoutVars>
      </dgm:prSet>
      <dgm:spPr/>
    </dgm:pt>
    <dgm:pt modelId="{849E87F9-77C2-E148-A125-B75B32BAE82F}" type="pres">
      <dgm:prSet presAssocID="{16F9E631-8BA3-154F-A6E6-07CA57FBC2DB}" presName="ChildText" presStyleLbl="revTx" presStyleIdx="1" presStyleCnt="6" custScaleX="244962" custLinFactNeighborX="71475" custLinFactNeighborY="-1554">
        <dgm:presLayoutVars>
          <dgm:chMax val="0"/>
          <dgm:chPref val="0"/>
          <dgm:bulletEnabled val="1"/>
        </dgm:presLayoutVars>
      </dgm:prSet>
      <dgm:spPr/>
    </dgm:pt>
    <dgm:pt modelId="{A7334212-A42F-5947-B178-28EE2431D98C}" type="pres">
      <dgm:prSet presAssocID="{40437896-D1C0-9744-812A-639F6C127825}" presName="sibTrans" presStyleCnt="0"/>
      <dgm:spPr/>
    </dgm:pt>
    <dgm:pt modelId="{797595AA-82E7-9A45-818A-CBFC19FC01B4}" type="pres">
      <dgm:prSet presAssocID="{63672145-F932-0941-9207-6FD21631945F}" presName="composite" presStyleCnt="0"/>
      <dgm:spPr/>
    </dgm:pt>
    <dgm:pt modelId="{582A57C3-E208-4C4D-8464-8F41E2B621E9}" type="pres">
      <dgm:prSet presAssocID="{63672145-F932-0941-9207-6FD21631945F}" presName="bentUpArrow1" presStyleLbl="alignImgPlace1" presStyleIdx="2" presStyleCnt="5"/>
      <dgm:spPr/>
    </dgm:pt>
    <dgm:pt modelId="{8AD4400A-F79C-8A4B-829B-0D720ED8FB8C}" type="pres">
      <dgm:prSet presAssocID="{63672145-F932-0941-9207-6FD21631945F}" presName="ParentText" presStyleLbl="node1" presStyleIdx="2" presStyleCnt="6">
        <dgm:presLayoutVars>
          <dgm:chMax val="1"/>
          <dgm:chPref val="1"/>
          <dgm:bulletEnabled val="1"/>
        </dgm:presLayoutVars>
      </dgm:prSet>
      <dgm:spPr/>
    </dgm:pt>
    <dgm:pt modelId="{383D977E-49FE-154D-8370-6E0B15881094}" type="pres">
      <dgm:prSet presAssocID="{63672145-F932-0941-9207-6FD21631945F}" presName="ChildText" presStyleLbl="revTx" presStyleIdx="2" presStyleCnt="6" custScaleX="223363" custLinFactNeighborX="61177">
        <dgm:presLayoutVars>
          <dgm:chMax val="0"/>
          <dgm:chPref val="0"/>
          <dgm:bulletEnabled val="1"/>
        </dgm:presLayoutVars>
      </dgm:prSet>
      <dgm:spPr/>
    </dgm:pt>
    <dgm:pt modelId="{51D4CC9D-D22F-A045-9B1F-02AFD777BA4F}" type="pres">
      <dgm:prSet presAssocID="{EE4E87B9-A6F7-D040-A8C9-2B94C61F8F15}" presName="sibTrans" presStyleCnt="0"/>
      <dgm:spPr/>
    </dgm:pt>
    <dgm:pt modelId="{9B1BB91C-DFAA-BB42-8883-6C779B3E0CC7}" type="pres">
      <dgm:prSet presAssocID="{180ED30E-9BB7-2945-8E67-38EC3B69034A}" presName="composite" presStyleCnt="0"/>
      <dgm:spPr/>
    </dgm:pt>
    <dgm:pt modelId="{97925E51-E8AA-DC48-BFEB-51206266AB1D}" type="pres">
      <dgm:prSet presAssocID="{180ED30E-9BB7-2945-8E67-38EC3B69034A}" presName="bentUpArrow1" presStyleLbl="alignImgPlace1" presStyleIdx="3" presStyleCnt="5"/>
      <dgm:spPr/>
    </dgm:pt>
    <dgm:pt modelId="{8D80E448-C06F-8440-B08E-C700B7FCCC29}" type="pres">
      <dgm:prSet presAssocID="{180ED30E-9BB7-2945-8E67-38EC3B69034A}" presName="ParentText" presStyleLbl="node1" presStyleIdx="3" presStyleCnt="6">
        <dgm:presLayoutVars>
          <dgm:chMax val="1"/>
          <dgm:chPref val="1"/>
          <dgm:bulletEnabled val="1"/>
        </dgm:presLayoutVars>
      </dgm:prSet>
      <dgm:spPr/>
    </dgm:pt>
    <dgm:pt modelId="{7F2F534D-82F4-5443-8CF7-5BBA47CF0517}" type="pres">
      <dgm:prSet presAssocID="{180ED30E-9BB7-2945-8E67-38EC3B69034A}" presName="ChildText" presStyleLbl="revTx" presStyleIdx="3" presStyleCnt="6" custScaleX="216934" custLinFactNeighborX="66825">
        <dgm:presLayoutVars>
          <dgm:chMax val="0"/>
          <dgm:chPref val="0"/>
          <dgm:bulletEnabled val="1"/>
        </dgm:presLayoutVars>
      </dgm:prSet>
      <dgm:spPr/>
    </dgm:pt>
    <dgm:pt modelId="{CD6671F9-E0CD-EF49-94DC-C96CAC8CC7E3}" type="pres">
      <dgm:prSet presAssocID="{9581D7FD-E2E0-0241-80C7-1BF3EEF3518C}" presName="sibTrans" presStyleCnt="0"/>
      <dgm:spPr/>
    </dgm:pt>
    <dgm:pt modelId="{E13DFC65-0620-5546-9284-95854B643695}" type="pres">
      <dgm:prSet presAssocID="{44352C0E-9228-1D41-9AC7-630454862AAB}" presName="composite" presStyleCnt="0"/>
      <dgm:spPr/>
    </dgm:pt>
    <dgm:pt modelId="{7EA63742-38C6-7343-AA79-52C3D9CCAB0D}" type="pres">
      <dgm:prSet presAssocID="{44352C0E-9228-1D41-9AC7-630454862AAB}" presName="bentUpArrow1" presStyleLbl="alignImgPlace1" presStyleIdx="4" presStyleCnt="5"/>
      <dgm:spPr/>
    </dgm:pt>
    <dgm:pt modelId="{2642E532-D17B-8549-B299-BABD4A6DF310}" type="pres">
      <dgm:prSet presAssocID="{44352C0E-9228-1D41-9AC7-630454862AAB}" presName="ParentText" presStyleLbl="node1" presStyleIdx="4" presStyleCnt="6">
        <dgm:presLayoutVars>
          <dgm:chMax val="1"/>
          <dgm:chPref val="1"/>
          <dgm:bulletEnabled val="1"/>
        </dgm:presLayoutVars>
      </dgm:prSet>
      <dgm:spPr/>
    </dgm:pt>
    <dgm:pt modelId="{4D72B732-04CC-5F4B-8E9C-09245727D3B9}" type="pres">
      <dgm:prSet presAssocID="{44352C0E-9228-1D41-9AC7-630454862AAB}" presName="ChildText" presStyleLbl="revTx" presStyleIdx="4" presStyleCnt="6" custScaleX="210506" custLinFactNeighborX="54588">
        <dgm:presLayoutVars>
          <dgm:chMax val="0"/>
          <dgm:chPref val="0"/>
          <dgm:bulletEnabled val="1"/>
        </dgm:presLayoutVars>
      </dgm:prSet>
      <dgm:spPr/>
    </dgm:pt>
    <dgm:pt modelId="{6EA532CE-6739-A24B-AAAE-6A1691A35034}" type="pres">
      <dgm:prSet presAssocID="{D2AC5C65-A520-AE49-8D76-EE23E4A07C4A}" presName="sibTrans" presStyleCnt="0"/>
      <dgm:spPr/>
    </dgm:pt>
    <dgm:pt modelId="{658BC9F3-2A00-F547-8C78-511B7194FAEB}" type="pres">
      <dgm:prSet presAssocID="{251E4A29-F563-D34A-A9F7-27833A2BC30D}" presName="composite" presStyleCnt="0"/>
      <dgm:spPr/>
    </dgm:pt>
    <dgm:pt modelId="{9CCCECD5-8ED0-AC43-9710-1DD092099D67}" type="pres">
      <dgm:prSet presAssocID="{251E4A29-F563-D34A-A9F7-27833A2BC30D}" presName="ParentText" presStyleLbl="node1" presStyleIdx="5" presStyleCnt="6">
        <dgm:presLayoutVars>
          <dgm:chMax val="1"/>
          <dgm:chPref val="1"/>
          <dgm:bulletEnabled val="1"/>
        </dgm:presLayoutVars>
      </dgm:prSet>
      <dgm:spPr/>
    </dgm:pt>
    <dgm:pt modelId="{D3853491-2B6C-1449-B71D-8247E1F629BF}" type="pres">
      <dgm:prSet presAssocID="{251E4A29-F563-D34A-A9F7-27833A2BC30D}" presName="FinalChildText" presStyleLbl="revTx" presStyleIdx="5" presStyleCnt="6" custScaleX="147605" custLinFactNeighborX="24471" custLinFactNeighborY="1210">
        <dgm:presLayoutVars>
          <dgm:chMax val="0"/>
          <dgm:chPref val="0"/>
          <dgm:bulletEnabled val="1"/>
        </dgm:presLayoutVars>
      </dgm:prSet>
      <dgm:spPr/>
    </dgm:pt>
  </dgm:ptLst>
  <dgm:cxnLst>
    <dgm:cxn modelId="{69DAFA03-0878-9247-9AF4-F13FE4FF5D9B}" srcId="{63672145-F932-0941-9207-6FD21631945F}" destId="{6469F03D-EC0D-E14C-9147-635163E16719}" srcOrd="0" destOrd="0" parTransId="{31D6F60D-A7D1-C54D-964D-3B8790B82FA4}" sibTransId="{DCECCFCD-FFA0-2B4E-8620-4D260FCCA4E0}"/>
    <dgm:cxn modelId="{1CB6C709-502E-8E44-80CB-B4138F9C85B8}" type="presOf" srcId="{CB6CE777-E645-594F-9F72-31FA50915471}" destId="{13263DF5-F771-E44D-A3A6-7359AB5A694B}" srcOrd="0" destOrd="0" presId="urn:microsoft.com/office/officeart/2005/8/layout/StepDownProcess"/>
    <dgm:cxn modelId="{C4FEA40D-24EF-084F-959C-D30F2BA028D3}" type="presOf" srcId="{26B4761A-8722-154A-9A4E-6B2E8309550C}" destId="{1A27501D-E342-BE40-9448-5C65451E51A0}" srcOrd="0" destOrd="0" presId="urn:microsoft.com/office/officeart/2005/8/layout/StepDownProcess"/>
    <dgm:cxn modelId="{3CBBF823-4682-A649-AD39-366A0823CC07}" srcId="{92AF2611-4B58-ED43-AC9F-B952F610F406}" destId="{26B4761A-8722-154A-9A4E-6B2E8309550C}" srcOrd="0" destOrd="0" parTransId="{19278814-36C8-0643-9FFA-66C8A44E8EEC}" sibTransId="{B2DCC36A-7A1A-4C4F-90DA-FAE4C97E6C7D}"/>
    <dgm:cxn modelId="{75B1AC24-2247-418E-917B-87CFE3A11370}" type="presOf" srcId="{CA627FEB-5C4C-4C51-8A75-FEFCA4466D7B}" destId="{849E87F9-77C2-E148-A125-B75B32BAE82F}" srcOrd="0" destOrd="0" presId="urn:microsoft.com/office/officeart/2005/8/layout/StepDownProcess"/>
    <dgm:cxn modelId="{9AF40E27-2800-9B4C-8D69-CAB8B8A8A099}" type="presOf" srcId="{251E4A29-F563-D34A-A9F7-27833A2BC30D}" destId="{9CCCECD5-8ED0-AC43-9710-1DD092099D67}" srcOrd="0" destOrd="0" presId="urn:microsoft.com/office/officeart/2005/8/layout/StepDownProcess"/>
    <dgm:cxn modelId="{3038282E-24E0-754A-9BCA-5EB4B0881EBE}" type="presOf" srcId="{16F9E631-8BA3-154F-A6E6-07CA57FBC2DB}" destId="{7176A5BC-3282-044F-8AE1-17BEE6013828}" srcOrd="0" destOrd="0" presId="urn:microsoft.com/office/officeart/2005/8/layout/StepDownProcess"/>
    <dgm:cxn modelId="{7F3F2935-1376-434A-B6E9-CEA12E0D559A}" srcId="{44352C0E-9228-1D41-9AC7-630454862AAB}" destId="{B761BE11-3B98-534C-8389-3D511BB432FF}" srcOrd="0" destOrd="0" parTransId="{53F8C2F9-90C5-F04A-B13E-59A7DBEEB722}" sibTransId="{1CFC13B1-0710-8745-A251-B44B9B630299}"/>
    <dgm:cxn modelId="{112C4A37-BD1F-0D4F-8BDF-AF61C42AA624}" srcId="{92AF2611-4B58-ED43-AC9F-B952F610F406}" destId="{63672145-F932-0941-9207-6FD21631945F}" srcOrd="2" destOrd="0" parTransId="{DA9256D3-306A-2647-A641-4B0B371AA471}" sibTransId="{EE4E87B9-A6F7-D040-A8C9-2B94C61F8F15}"/>
    <dgm:cxn modelId="{D8BB2438-DD45-0A49-8E75-A834C7834329}" type="presOf" srcId="{92AF2611-4B58-ED43-AC9F-B952F610F406}" destId="{49E2B0A6-6F15-3D4D-BF88-D0B2483CB55B}" srcOrd="0" destOrd="0" presId="urn:microsoft.com/office/officeart/2005/8/layout/StepDownProcess"/>
    <dgm:cxn modelId="{23FA6D3C-5F88-8E47-BDA9-BDE6C1BC6D58}" type="presOf" srcId="{712C06CF-58B4-8F4A-A1C3-18737522BAA5}" destId="{7F2F534D-82F4-5443-8CF7-5BBA47CF0517}" srcOrd="0" destOrd="0" presId="urn:microsoft.com/office/officeart/2005/8/layout/StepDownProcess"/>
    <dgm:cxn modelId="{90051663-645C-6042-B826-BF1BEE404513}" type="presOf" srcId="{63672145-F932-0941-9207-6FD21631945F}" destId="{8AD4400A-F79C-8A4B-829B-0D720ED8FB8C}" srcOrd="0" destOrd="0" presId="urn:microsoft.com/office/officeart/2005/8/layout/StepDownProcess"/>
    <dgm:cxn modelId="{63981E6F-3BAE-44DB-B56D-A083004F0014}" type="presOf" srcId="{05C01FBF-0839-B840-AA40-B5D4B5EF9464}" destId="{D3853491-2B6C-1449-B71D-8247E1F629BF}" srcOrd="0" destOrd="0" presId="urn:microsoft.com/office/officeart/2005/8/layout/StepDownProcess"/>
    <dgm:cxn modelId="{016D9485-956C-624D-A592-DDA4E4AA6CC5}" srcId="{92AF2611-4B58-ED43-AC9F-B952F610F406}" destId="{44352C0E-9228-1D41-9AC7-630454862AAB}" srcOrd="4" destOrd="0" parTransId="{BB03014B-614B-4E4D-B179-22BF96D1FDA5}" sibTransId="{D2AC5C65-A520-AE49-8D76-EE23E4A07C4A}"/>
    <dgm:cxn modelId="{E336EE89-5EC2-AE4C-81C9-2EBDE6E482D4}" srcId="{92AF2611-4B58-ED43-AC9F-B952F610F406}" destId="{251E4A29-F563-D34A-A9F7-27833A2BC30D}" srcOrd="5" destOrd="0" parTransId="{B9E7D4BF-66C0-D046-BA68-7E24F4AB0843}" sibTransId="{57ED735E-B5D2-C749-867E-EB96611C0B8B}"/>
    <dgm:cxn modelId="{11A1E58A-ABF6-BE4D-91F0-325BCF38FC72}" type="presOf" srcId="{6469F03D-EC0D-E14C-9147-635163E16719}" destId="{383D977E-49FE-154D-8370-6E0B15881094}" srcOrd="0" destOrd="0" presId="urn:microsoft.com/office/officeart/2005/8/layout/StepDownProcess"/>
    <dgm:cxn modelId="{15010B8E-8FC6-034B-A7AD-F331240F7012}" srcId="{92AF2611-4B58-ED43-AC9F-B952F610F406}" destId="{180ED30E-9BB7-2945-8E67-38EC3B69034A}" srcOrd="3" destOrd="0" parTransId="{CCFA8DD9-517C-4C48-9ACE-EAEC7B4B1D8D}" sibTransId="{9581D7FD-E2E0-0241-80C7-1BF3EEF3518C}"/>
    <dgm:cxn modelId="{570398A5-7B9B-684E-836B-828C67CE95B5}" srcId="{251E4A29-F563-D34A-A9F7-27833A2BC30D}" destId="{05C01FBF-0839-B840-AA40-B5D4B5EF9464}" srcOrd="0" destOrd="0" parTransId="{4292C26E-910E-F242-B4EA-85C15677A931}" sibTransId="{9CE79F6D-8C8B-134E-870B-A3814A161031}"/>
    <dgm:cxn modelId="{552A83B2-FDAE-E143-BB66-928925B322B7}" srcId="{180ED30E-9BB7-2945-8E67-38EC3B69034A}" destId="{712C06CF-58B4-8F4A-A1C3-18737522BAA5}" srcOrd="0" destOrd="0" parTransId="{00A2F76A-F4C8-F042-BC58-5B28B1FEF030}" sibTransId="{F7A6ECC7-ED92-634B-B481-4D7D62B796B5}"/>
    <dgm:cxn modelId="{84262DD1-54DB-8D42-9C16-B543B3BB3374}" srcId="{26B4761A-8722-154A-9A4E-6B2E8309550C}" destId="{CB6CE777-E645-594F-9F72-31FA50915471}" srcOrd="0" destOrd="0" parTransId="{A3FA10DA-B8BC-6B42-A66B-27F9CED77F23}" sibTransId="{F64EEB12-0851-6B4F-BF84-33083DA26F4B}"/>
    <dgm:cxn modelId="{EA665ADD-A5EF-844A-8B63-2D7ECC046504}" type="presOf" srcId="{44352C0E-9228-1D41-9AC7-630454862AAB}" destId="{2642E532-D17B-8549-B299-BABD4A6DF310}" srcOrd="0" destOrd="0" presId="urn:microsoft.com/office/officeart/2005/8/layout/StepDownProcess"/>
    <dgm:cxn modelId="{8716AEE2-5EF1-42C9-B2C6-5BB2852185DF}" srcId="{16F9E631-8BA3-154F-A6E6-07CA57FBC2DB}" destId="{CA627FEB-5C4C-4C51-8A75-FEFCA4466D7B}" srcOrd="0" destOrd="0" parTransId="{312DFEE4-A0BE-4287-98A9-69EE828C53A8}" sibTransId="{C867BD04-E42D-4E36-9651-FF055F4AF5F0}"/>
    <dgm:cxn modelId="{5D2F70F4-D4C2-FD4A-B54D-45A310324ADC}" srcId="{92AF2611-4B58-ED43-AC9F-B952F610F406}" destId="{16F9E631-8BA3-154F-A6E6-07CA57FBC2DB}" srcOrd="1" destOrd="0" parTransId="{4BAA8D80-E90A-6945-90C2-16CAFC77FA6F}" sibTransId="{40437896-D1C0-9744-812A-639F6C127825}"/>
    <dgm:cxn modelId="{634270FB-D54E-9B40-B519-40B9861B65C3}" type="presOf" srcId="{B761BE11-3B98-534C-8389-3D511BB432FF}" destId="{4D72B732-04CC-5F4B-8E9C-09245727D3B9}" srcOrd="0" destOrd="0" presId="urn:microsoft.com/office/officeart/2005/8/layout/StepDownProcess"/>
    <dgm:cxn modelId="{553CD0FD-F2FB-3140-8551-691D85FC1D01}" type="presOf" srcId="{180ED30E-9BB7-2945-8E67-38EC3B69034A}" destId="{8D80E448-C06F-8440-B08E-C700B7FCCC29}" srcOrd="0" destOrd="0" presId="urn:microsoft.com/office/officeart/2005/8/layout/StepDownProcess"/>
    <dgm:cxn modelId="{CAA58818-923B-6242-9847-11CD1A086880}" type="presParOf" srcId="{49E2B0A6-6F15-3D4D-BF88-D0B2483CB55B}" destId="{E975EE4B-D42E-E84D-8A4A-2906A98D9890}" srcOrd="0" destOrd="0" presId="urn:microsoft.com/office/officeart/2005/8/layout/StepDownProcess"/>
    <dgm:cxn modelId="{D0DD2577-622D-2948-8D96-837600176068}" type="presParOf" srcId="{E975EE4B-D42E-E84D-8A4A-2906A98D9890}" destId="{FC8198D2-B811-F543-848D-08253013A363}" srcOrd="0" destOrd="0" presId="urn:microsoft.com/office/officeart/2005/8/layout/StepDownProcess"/>
    <dgm:cxn modelId="{8328243B-B6DB-724C-8C50-F098B7AAF6D6}" type="presParOf" srcId="{E975EE4B-D42E-E84D-8A4A-2906A98D9890}" destId="{1A27501D-E342-BE40-9448-5C65451E51A0}" srcOrd="1" destOrd="0" presId="urn:microsoft.com/office/officeart/2005/8/layout/StepDownProcess"/>
    <dgm:cxn modelId="{A0EEA3E4-28F5-9347-B752-8F465E17DB0E}" type="presParOf" srcId="{E975EE4B-D42E-E84D-8A4A-2906A98D9890}" destId="{13263DF5-F771-E44D-A3A6-7359AB5A694B}" srcOrd="2" destOrd="0" presId="urn:microsoft.com/office/officeart/2005/8/layout/StepDownProcess"/>
    <dgm:cxn modelId="{47F02AFF-9AD0-A041-B89E-95A3ABC44E39}" type="presParOf" srcId="{49E2B0A6-6F15-3D4D-BF88-D0B2483CB55B}" destId="{1405AD88-5681-5740-8B0F-785D5C4C54E3}" srcOrd="1" destOrd="0" presId="urn:microsoft.com/office/officeart/2005/8/layout/StepDownProcess"/>
    <dgm:cxn modelId="{CC26F27A-2F31-7B4F-A3D5-F58113FB0928}" type="presParOf" srcId="{49E2B0A6-6F15-3D4D-BF88-D0B2483CB55B}" destId="{876C9C10-85C7-794D-BECA-7E6B3040BD5B}" srcOrd="2" destOrd="0" presId="urn:microsoft.com/office/officeart/2005/8/layout/StepDownProcess"/>
    <dgm:cxn modelId="{D59FA65B-1A0F-1E47-B691-93027AEC90BA}" type="presParOf" srcId="{876C9C10-85C7-794D-BECA-7E6B3040BD5B}" destId="{7249723C-E4C0-8E4E-9876-FECBD8EB4088}" srcOrd="0" destOrd="0" presId="urn:microsoft.com/office/officeart/2005/8/layout/StepDownProcess"/>
    <dgm:cxn modelId="{51EB45CC-B96D-5D43-AF1B-84E3B2B8AED1}" type="presParOf" srcId="{876C9C10-85C7-794D-BECA-7E6B3040BD5B}" destId="{7176A5BC-3282-044F-8AE1-17BEE6013828}" srcOrd="1" destOrd="0" presId="urn:microsoft.com/office/officeart/2005/8/layout/StepDownProcess"/>
    <dgm:cxn modelId="{5CEB0EC2-0F54-B24C-B1F0-0B003EF1C5A2}" type="presParOf" srcId="{876C9C10-85C7-794D-BECA-7E6B3040BD5B}" destId="{849E87F9-77C2-E148-A125-B75B32BAE82F}" srcOrd="2" destOrd="0" presId="urn:microsoft.com/office/officeart/2005/8/layout/StepDownProcess"/>
    <dgm:cxn modelId="{D6478E3B-05EF-9646-A75F-F4ED66F49E38}" type="presParOf" srcId="{49E2B0A6-6F15-3D4D-BF88-D0B2483CB55B}" destId="{A7334212-A42F-5947-B178-28EE2431D98C}" srcOrd="3" destOrd="0" presId="urn:microsoft.com/office/officeart/2005/8/layout/StepDownProcess"/>
    <dgm:cxn modelId="{23FBC6FD-CDBE-FA4C-8441-E7B27BF05A51}" type="presParOf" srcId="{49E2B0A6-6F15-3D4D-BF88-D0B2483CB55B}" destId="{797595AA-82E7-9A45-818A-CBFC19FC01B4}" srcOrd="4" destOrd="0" presId="urn:microsoft.com/office/officeart/2005/8/layout/StepDownProcess"/>
    <dgm:cxn modelId="{145F56CF-4320-FE4F-8156-055F9762B34B}" type="presParOf" srcId="{797595AA-82E7-9A45-818A-CBFC19FC01B4}" destId="{582A57C3-E208-4C4D-8464-8F41E2B621E9}" srcOrd="0" destOrd="0" presId="urn:microsoft.com/office/officeart/2005/8/layout/StepDownProcess"/>
    <dgm:cxn modelId="{45C34818-F1AF-F649-A01C-A6D8DD6977AD}" type="presParOf" srcId="{797595AA-82E7-9A45-818A-CBFC19FC01B4}" destId="{8AD4400A-F79C-8A4B-829B-0D720ED8FB8C}" srcOrd="1" destOrd="0" presId="urn:microsoft.com/office/officeart/2005/8/layout/StepDownProcess"/>
    <dgm:cxn modelId="{FF01D02D-F3EF-2B41-B125-417E412F83BB}" type="presParOf" srcId="{797595AA-82E7-9A45-818A-CBFC19FC01B4}" destId="{383D977E-49FE-154D-8370-6E0B15881094}" srcOrd="2" destOrd="0" presId="urn:microsoft.com/office/officeart/2005/8/layout/StepDownProcess"/>
    <dgm:cxn modelId="{A608A5D7-E92F-3241-8C20-975A35A4E8FD}" type="presParOf" srcId="{49E2B0A6-6F15-3D4D-BF88-D0B2483CB55B}" destId="{51D4CC9D-D22F-A045-9B1F-02AFD777BA4F}" srcOrd="5" destOrd="0" presId="urn:microsoft.com/office/officeart/2005/8/layout/StepDownProcess"/>
    <dgm:cxn modelId="{B7ED08C4-F562-F343-AE8C-1411DA99F4EB}" type="presParOf" srcId="{49E2B0A6-6F15-3D4D-BF88-D0B2483CB55B}" destId="{9B1BB91C-DFAA-BB42-8883-6C779B3E0CC7}" srcOrd="6" destOrd="0" presId="urn:microsoft.com/office/officeart/2005/8/layout/StepDownProcess"/>
    <dgm:cxn modelId="{A5A50A0E-B79B-C34C-ADC7-C80B5C746A06}" type="presParOf" srcId="{9B1BB91C-DFAA-BB42-8883-6C779B3E0CC7}" destId="{97925E51-E8AA-DC48-BFEB-51206266AB1D}" srcOrd="0" destOrd="0" presId="urn:microsoft.com/office/officeart/2005/8/layout/StepDownProcess"/>
    <dgm:cxn modelId="{7C19BC84-CC29-EF4A-BC81-B1BE7CAADD4B}" type="presParOf" srcId="{9B1BB91C-DFAA-BB42-8883-6C779B3E0CC7}" destId="{8D80E448-C06F-8440-B08E-C700B7FCCC29}" srcOrd="1" destOrd="0" presId="urn:microsoft.com/office/officeart/2005/8/layout/StepDownProcess"/>
    <dgm:cxn modelId="{4C51BF22-07FD-FA4A-B14F-9FA0B702E5DB}" type="presParOf" srcId="{9B1BB91C-DFAA-BB42-8883-6C779B3E0CC7}" destId="{7F2F534D-82F4-5443-8CF7-5BBA47CF0517}" srcOrd="2" destOrd="0" presId="urn:microsoft.com/office/officeart/2005/8/layout/StepDownProcess"/>
    <dgm:cxn modelId="{729F0557-5384-6B4B-86BF-CDDE5C1D202F}" type="presParOf" srcId="{49E2B0A6-6F15-3D4D-BF88-D0B2483CB55B}" destId="{CD6671F9-E0CD-EF49-94DC-C96CAC8CC7E3}" srcOrd="7" destOrd="0" presId="urn:microsoft.com/office/officeart/2005/8/layout/StepDownProcess"/>
    <dgm:cxn modelId="{36E3AD21-65D7-B24C-B4D3-B7520133DB1C}" type="presParOf" srcId="{49E2B0A6-6F15-3D4D-BF88-D0B2483CB55B}" destId="{E13DFC65-0620-5546-9284-95854B643695}" srcOrd="8" destOrd="0" presId="urn:microsoft.com/office/officeart/2005/8/layout/StepDownProcess"/>
    <dgm:cxn modelId="{DD62FE2A-BC28-3E4D-BD4E-F24534EEBE0F}" type="presParOf" srcId="{E13DFC65-0620-5546-9284-95854B643695}" destId="{7EA63742-38C6-7343-AA79-52C3D9CCAB0D}" srcOrd="0" destOrd="0" presId="urn:microsoft.com/office/officeart/2005/8/layout/StepDownProcess"/>
    <dgm:cxn modelId="{75CB6DD7-E609-FF41-BFDA-AA78B1AF772C}" type="presParOf" srcId="{E13DFC65-0620-5546-9284-95854B643695}" destId="{2642E532-D17B-8549-B299-BABD4A6DF310}" srcOrd="1" destOrd="0" presId="urn:microsoft.com/office/officeart/2005/8/layout/StepDownProcess"/>
    <dgm:cxn modelId="{2D895992-0610-7847-8717-588D1860CD72}" type="presParOf" srcId="{E13DFC65-0620-5546-9284-95854B643695}" destId="{4D72B732-04CC-5F4B-8E9C-09245727D3B9}" srcOrd="2" destOrd="0" presId="urn:microsoft.com/office/officeart/2005/8/layout/StepDownProcess"/>
    <dgm:cxn modelId="{317597CB-5F05-5C46-8E98-608B8CB7DEA7}" type="presParOf" srcId="{49E2B0A6-6F15-3D4D-BF88-D0B2483CB55B}" destId="{6EA532CE-6739-A24B-AAAE-6A1691A35034}" srcOrd="9" destOrd="0" presId="urn:microsoft.com/office/officeart/2005/8/layout/StepDownProcess"/>
    <dgm:cxn modelId="{07B25F14-FD1D-C644-863E-76AE9B1DE37A}" type="presParOf" srcId="{49E2B0A6-6F15-3D4D-BF88-D0B2483CB55B}" destId="{658BC9F3-2A00-F547-8C78-511B7194FAEB}" srcOrd="10" destOrd="0" presId="urn:microsoft.com/office/officeart/2005/8/layout/StepDownProcess"/>
    <dgm:cxn modelId="{B023C484-9503-1F4F-8378-A4C3B820ACFA}" type="presParOf" srcId="{658BC9F3-2A00-F547-8C78-511B7194FAEB}" destId="{9CCCECD5-8ED0-AC43-9710-1DD092099D67}" srcOrd="0" destOrd="0" presId="urn:microsoft.com/office/officeart/2005/8/layout/StepDownProcess"/>
    <dgm:cxn modelId="{223E57CC-DC7E-483C-B9ED-63C99E899EA7}" type="presParOf" srcId="{658BC9F3-2A00-F547-8C78-511B7194FAEB}" destId="{D3853491-2B6C-1449-B71D-8247E1F629BF}"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8198D2-B811-F543-848D-08253013A363}">
      <dsp:nvSpPr>
        <dsp:cNvPr id="0" name=""/>
        <dsp:cNvSpPr/>
      </dsp:nvSpPr>
      <dsp:spPr>
        <a:xfrm rot="5400000">
          <a:off x="1033738" y="703706"/>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27501D-E342-BE40-9448-5C65451E51A0}">
      <dsp:nvSpPr>
        <dsp:cNvPr id="0" name=""/>
        <dsp:cNvSpPr/>
      </dsp:nvSpPr>
      <dsp:spPr>
        <a:xfrm>
          <a:off x="873256" y="32238"/>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Abstract Submission</a:t>
          </a:r>
        </a:p>
      </dsp:txBody>
      <dsp:txXfrm>
        <a:off x="908105" y="67087"/>
        <a:ext cx="950000" cy="644058"/>
      </dsp:txXfrm>
    </dsp:sp>
    <dsp:sp modelId="{13263DF5-F771-E44D-A3A6-7359AB5A694B}">
      <dsp:nvSpPr>
        <dsp:cNvPr id="0" name=""/>
        <dsp:cNvSpPr/>
      </dsp:nvSpPr>
      <dsp:spPr>
        <a:xfrm>
          <a:off x="1937493" y="91346"/>
          <a:ext cx="1477308"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a:lnSpc>
              <a:spcPct val="90000"/>
            </a:lnSpc>
            <a:spcBef>
              <a:spcPct val="0"/>
            </a:spcBef>
            <a:spcAft>
              <a:spcPct val="15000"/>
            </a:spcAft>
            <a:buChar char="•"/>
          </a:pPr>
          <a:r>
            <a:rPr lang="en-US" sz="1000" kern="1200" dirty="0">
              <a:solidFill>
                <a:schemeClr val="tx1"/>
              </a:solidFill>
            </a:rPr>
            <a:t>&lt;Date of Completion&gt;</a:t>
          </a:r>
        </a:p>
      </dsp:txBody>
      <dsp:txXfrm>
        <a:off x="1937493" y="91346"/>
        <a:ext cx="1477308" cy="576889"/>
      </dsp:txXfrm>
    </dsp:sp>
    <dsp:sp modelId="{7249723C-E4C0-8E4E-9876-FECBD8EB4088}">
      <dsp:nvSpPr>
        <dsp:cNvPr id="0" name=""/>
        <dsp:cNvSpPr/>
      </dsp:nvSpPr>
      <dsp:spPr>
        <a:xfrm rot="5400000">
          <a:off x="2055740" y="1505490"/>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76A5BC-3282-044F-8AE1-17BEE6013828}">
      <dsp:nvSpPr>
        <dsp:cNvPr id="0" name=""/>
        <dsp:cNvSpPr/>
      </dsp:nvSpPr>
      <dsp:spPr>
        <a:xfrm>
          <a:off x="1895257" y="834022"/>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Literature Survey</a:t>
          </a:r>
        </a:p>
      </dsp:txBody>
      <dsp:txXfrm>
        <a:off x="1930106" y="868871"/>
        <a:ext cx="950000" cy="644058"/>
      </dsp:txXfrm>
    </dsp:sp>
    <dsp:sp modelId="{849E87F9-77C2-E148-A125-B75B32BAE82F}">
      <dsp:nvSpPr>
        <dsp:cNvPr id="0" name=""/>
        <dsp:cNvSpPr/>
      </dsp:nvSpPr>
      <dsp:spPr>
        <a:xfrm>
          <a:off x="2907495" y="893130"/>
          <a:ext cx="1816716"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66725">
            <a:lnSpc>
              <a:spcPct val="90000"/>
            </a:lnSpc>
            <a:spcBef>
              <a:spcPct val="0"/>
            </a:spcBef>
            <a:spcAft>
              <a:spcPct val="15000"/>
            </a:spcAft>
            <a:buChar char="•"/>
          </a:pPr>
          <a:r>
            <a:rPr lang="en-US" sz="1050" kern="1200" dirty="0">
              <a:solidFill>
                <a:schemeClr val="tx1"/>
              </a:solidFill>
            </a:rPr>
            <a:t>&lt;Date of Completion&gt;</a:t>
          </a:r>
        </a:p>
      </dsp:txBody>
      <dsp:txXfrm>
        <a:off x="2907495" y="893130"/>
        <a:ext cx="1816716" cy="576889"/>
      </dsp:txXfrm>
    </dsp:sp>
    <dsp:sp modelId="{582A57C3-E208-4C4D-8464-8F41E2B621E9}">
      <dsp:nvSpPr>
        <dsp:cNvPr id="0" name=""/>
        <dsp:cNvSpPr/>
      </dsp:nvSpPr>
      <dsp:spPr>
        <a:xfrm rot="5400000">
          <a:off x="3077741" y="2307273"/>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D4400A-F79C-8A4B-829B-0D720ED8FB8C}">
      <dsp:nvSpPr>
        <dsp:cNvPr id="0" name=""/>
        <dsp:cNvSpPr/>
      </dsp:nvSpPr>
      <dsp:spPr>
        <a:xfrm>
          <a:off x="2917258" y="1635806"/>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Design [Front End, Back End]</a:t>
          </a:r>
        </a:p>
      </dsp:txBody>
      <dsp:txXfrm>
        <a:off x="2952107" y="1670655"/>
        <a:ext cx="950000" cy="644058"/>
      </dsp:txXfrm>
    </dsp:sp>
    <dsp:sp modelId="{383D977E-49FE-154D-8370-6E0B15881094}">
      <dsp:nvSpPr>
        <dsp:cNvPr id="0" name=""/>
        <dsp:cNvSpPr/>
      </dsp:nvSpPr>
      <dsp:spPr>
        <a:xfrm>
          <a:off x="3933215" y="1703878"/>
          <a:ext cx="1656531"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a:lnSpc>
              <a:spcPct val="90000"/>
            </a:lnSpc>
            <a:spcBef>
              <a:spcPct val="0"/>
            </a:spcBef>
            <a:spcAft>
              <a:spcPct val="15000"/>
            </a:spcAft>
            <a:buChar char="•"/>
          </a:pPr>
          <a:r>
            <a:rPr lang="en-US" sz="1100" kern="1200" dirty="0">
              <a:solidFill>
                <a:schemeClr val="tx1"/>
              </a:solidFill>
            </a:rPr>
            <a:t>&lt;Date of Completion&gt;</a:t>
          </a:r>
        </a:p>
      </dsp:txBody>
      <dsp:txXfrm>
        <a:off x="3933215" y="1703878"/>
        <a:ext cx="1656531" cy="576889"/>
      </dsp:txXfrm>
    </dsp:sp>
    <dsp:sp modelId="{97925E51-E8AA-DC48-BFEB-51206266AB1D}">
      <dsp:nvSpPr>
        <dsp:cNvPr id="0" name=""/>
        <dsp:cNvSpPr/>
      </dsp:nvSpPr>
      <dsp:spPr>
        <a:xfrm rot="5400000">
          <a:off x="4099742" y="3109057"/>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80E448-C06F-8440-B08E-C700B7FCCC29}">
      <dsp:nvSpPr>
        <dsp:cNvPr id="0" name=""/>
        <dsp:cNvSpPr/>
      </dsp:nvSpPr>
      <dsp:spPr>
        <a:xfrm>
          <a:off x="3939259" y="2437589"/>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Implementation</a:t>
          </a:r>
        </a:p>
      </dsp:txBody>
      <dsp:txXfrm>
        <a:off x="3974108" y="2472438"/>
        <a:ext cx="950000" cy="644058"/>
      </dsp:txXfrm>
    </dsp:sp>
    <dsp:sp modelId="{7F2F534D-82F4-5443-8CF7-5BBA47CF0517}">
      <dsp:nvSpPr>
        <dsp:cNvPr id="0" name=""/>
        <dsp:cNvSpPr/>
      </dsp:nvSpPr>
      <dsp:spPr>
        <a:xfrm>
          <a:off x="5020944" y="2505662"/>
          <a:ext cx="1608851"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a:lnSpc>
              <a:spcPct val="90000"/>
            </a:lnSpc>
            <a:spcBef>
              <a:spcPct val="0"/>
            </a:spcBef>
            <a:spcAft>
              <a:spcPct val="15000"/>
            </a:spcAft>
            <a:buChar char="•"/>
          </a:pPr>
          <a:r>
            <a:rPr lang="en-US" sz="1100" kern="1200" dirty="0">
              <a:solidFill>
                <a:schemeClr val="tx1"/>
              </a:solidFill>
            </a:rPr>
            <a:t>&lt;Date of Completion&gt;</a:t>
          </a:r>
        </a:p>
      </dsp:txBody>
      <dsp:txXfrm>
        <a:off x="5020944" y="2505662"/>
        <a:ext cx="1608851" cy="576889"/>
      </dsp:txXfrm>
    </dsp:sp>
    <dsp:sp modelId="{7EA63742-38C6-7343-AA79-52C3D9CCAB0D}">
      <dsp:nvSpPr>
        <dsp:cNvPr id="0" name=""/>
        <dsp:cNvSpPr/>
      </dsp:nvSpPr>
      <dsp:spPr>
        <a:xfrm rot="5400000">
          <a:off x="5121743" y="3910841"/>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42E532-D17B-8549-B299-BABD4A6DF310}">
      <dsp:nvSpPr>
        <dsp:cNvPr id="0" name=""/>
        <dsp:cNvSpPr/>
      </dsp:nvSpPr>
      <dsp:spPr>
        <a:xfrm>
          <a:off x="4961260" y="3239373"/>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Testing</a:t>
          </a:r>
        </a:p>
      </dsp:txBody>
      <dsp:txXfrm>
        <a:off x="4996109" y="3274222"/>
        <a:ext cx="950000" cy="644058"/>
      </dsp:txXfrm>
    </dsp:sp>
    <dsp:sp modelId="{4D72B732-04CC-5F4B-8E9C-09245727D3B9}">
      <dsp:nvSpPr>
        <dsp:cNvPr id="0" name=""/>
        <dsp:cNvSpPr/>
      </dsp:nvSpPr>
      <dsp:spPr>
        <a:xfrm>
          <a:off x="5976027" y="3307446"/>
          <a:ext cx="1561179"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a:lnSpc>
              <a:spcPct val="90000"/>
            </a:lnSpc>
            <a:spcBef>
              <a:spcPct val="0"/>
            </a:spcBef>
            <a:spcAft>
              <a:spcPct val="15000"/>
            </a:spcAft>
            <a:buChar char="•"/>
          </a:pPr>
          <a:r>
            <a:rPr lang="en-US" sz="1000" kern="1200" dirty="0">
              <a:solidFill>
                <a:schemeClr val="tx1"/>
              </a:solidFill>
            </a:rPr>
            <a:t>&lt;Date of Completion&gt;</a:t>
          </a:r>
        </a:p>
      </dsp:txBody>
      <dsp:txXfrm>
        <a:off x="5976027" y="3307446"/>
        <a:ext cx="1561179" cy="576889"/>
      </dsp:txXfrm>
    </dsp:sp>
    <dsp:sp modelId="{9CCCECD5-8ED0-AC43-9710-1DD092099D67}">
      <dsp:nvSpPr>
        <dsp:cNvPr id="0" name=""/>
        <dsp:cNvSpPr/>
      </dsp:nvSpPr>
      <dsp:spPr>
        <a:xfrm>
          <a:off x="5983262" y="4041157"/>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Document Submission</a:t>
          </a:r>
        </a:p>
      </dsp:txBody>
      <dsp:txXfrm>
        <a:off x="6018111" y="4076006"/>
        <a:ext cx="950000" cy="644058"/>
      </dsp:txXfrm>
    </dsp:sp>
    <dsp:sp modelId="{D3853491-2B6C-1449-B71D-8247E1F629BF}">
      <dsp:nvSpPr>
        <dsp:cNvPr id="0" name=""/>
        <dsp:cNvSpPr/>
      </dsp:nvSpPr>
      <dsp:spPr>
        <a:xfrm>
          <a:off x="7007918" y="4116210"/>
          <a:ext cx="1094685"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a:lnSpc>
              <a:spcPct val="90000"/>
            </a:lnSpc>
            <a:spcBef>
              <a:spcPct val="0"/>
            </a:spcBef>
            <a:spcAft>
              <a:spcPct val="15000"/>
            </a:spcAft>
            <a:buChar char="•"/>
          </a:pPr>
          <a:r>
            <a:rPr lang="en-US" sz="1000" kern="1200" dirty="0">
              <a:solidFill>
                <a:schemeClr val="tx1"/>
              </a:solidFill>
            </a:rPr>
            <a:t>&lt;Date of Completion&gt;</a:t>
          </a:r>
        </a:p>
      </dsp:txBody>
      <dsp:txXfrm>
        <a:off x="7007918" y="4116210"/>
        <a:ext cx="1094685" cy="57688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2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3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4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60"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72"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8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9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10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sp>
        <p:nvSpPr>
          <p:cNvPr id="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pic>
        <p:nvPicPr>
          <p:cNvPr id="4" name="image.png" descr="image.png"/>
          <p:cNvPicPr>
            <a:picLocks noChangeAspect="1"/>
          </p:cNvPicPr>
          <p:nvPr/>
        </p:nvPicPr>
        <p:blipFill>
          <a:blip r:embed="rId12"/>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2" y="381000"/>
            <a:ext cx="301909" cy="288824"/>
          </a:xfrm>
          <a:prstGeom prst="rect">
            <a:avLst/>
          </a:prstGeom>
          <a:ln w="12700">
            <a:miter lim="400000"/>
          </a:ln>
        </p:spPr>
        <p:txBody>
          <a:bodyPr wrap="none" lIns="45719" rIns="45719">
            <a:spAutoFit/>
          </a:bodyPr>
          <a:lstStyle>
            <a:lvl1pPr algn="r">
              <a:defRPr>
                <a:latin typeface="+mn-lt"/>
                <a:ea typeface="+mn-ea"/>
                <a:cs typeface="+mn-cs"/>
                <a:sym typeface="Arial"/>
              </a:defRPr>
            </a:lvl1pP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457200" y="1600200"/>
            <a:ext cx="8229600" cy="4525963"/>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hf hdr="0" dt="0"/>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dirty="0"/>
          </a:p>
        </p:txBody>
      </p:sp>
      <p:sp>
        <p:nvSpPr>
          <p:cNvPr id="131" name="Z-SPA"/>
          <p:cNvSpPr txBox="1">
            <a:spLocks noGrp="1"/>
          </p:cNvSpPr>
          <p:nvPr>
            <p:ph type="title"/>
          </p:nvPr>
        </p:nvSpPr>
        <p:spPr>
          <a:xfrm>
            <a:off x="723900" y="1306873"/>
            <a:ext cx="7696200" cy="1912596"/>
          </a:xfrm>
          <a:prstGeom prst="rect">
            <a:avLst/>
          </a:prstGeom>
        </p:spPr>
        <p:txBody>
          <a:bodyPr>
            <a:noAutofit/>
          </a:bodyPr>
          <a:lstStyle/>
          <a:p>
            <a:pPr>
              <a:defRPr sz="4000" b="1">
                <a:latin typeface="Times New Roman"/>
                <a:ea typeface="Times New Roman"/>
                <a:cs typeface="Times New Roman"/>
                <a:sym typeface="Times New Roman"/>
              </a:defRPr>
            </a:pPr>
            <a:r>
              <a:rPr lang="en-IN" sz="2600" b="1" dirty="0"/>
              <a:t>Failure-Aware and Confidence-Calibrated Adaptive Retrieval-Augmented Generation System</a:t>
            </a:r>
            <a:br>
              <a:rPr lang="en-GB" sz="2600" dirty="0"/>
            </a:br>
            <a:r>
              <a:rPr lang="en-GB" sz="1800" dirty="0"/>
              <a:t>23CSE399 Project Phase 1 – Approval Presentation</a:t>
            </a:r>
            <a:br>
              <a:rPr lang="en-GB" sz="2600" dirty="0"/>
            </a:br>
            <a:br>
              <a:rPr lang="en-GB" sz="2600" dirty="0"/>
            </a:br>
            <a:r>
              <a:rPr lang="en-GB" sz="1800" dirty="0"/>
              <a:t>Team ID: 23UG031			Panel No.:20 </a:t>
            </a:r>
            <a:endParaRPr lang="en-GB" sz="2600" b="0" dirty="0"/>
          </a:p>
        </p:txBody>
      </p:sp>
      <p:sp>
        <p:nvSpPr>
          <p:cNvPr id="13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graphicFrame>
        <p:nvGraphicFramePr>
          <p:cNvPr id="137" name="Table"/>
          <p:cNvGraphicFramePr/>
          <p:nvPr/>
        </p:nvGraphicFramePr>
        <p:xfrm>
          <a:off x="582654" y="3311645"/>
          <a:ext cx="7983372" cy="1873078"/>
        </p:xfrm>
        <a:graphic>
          <a:graphicData uri="http://schemas.openxmlformats.org/drawingml/2006/table">
            <a:tbl>
              <a:tblPr>
                <a:tableStyleId>{4C3C2611-4C71-4FC5-86AE-919BDF0F9419}</a:tableStyleId>
              </a:tblPr>
              <a:tblGrid>
                <a:gridCol w="769825">
                  <a:extLst>
                    <a:ext uri="{9D8B030D-6E8A-4147-A177-3AD203B41FA5}">
                      <a16:colId xmlns:a16="http://schemas.microsoft.com/office/drawing/2014/main" val="20000"/>
                    </a:ext>
                  </a:extLst>
                </a:gridCol>
                <a:gridCol w="2263539">
                  <a:extLst>
                    <a:ext uri="{9D8B030D-6E8A-4147-A177-3AD203B41FA5}">
                      <a16:colId xmlns:a16="http://schemas.microsoft.com/office/drawing/2014/main" val="20001"/>
                    </a:ext>
                  </a:extLst>
                </a:gridCol>
                <a:gridCol w="3752502">
                  <a:extLst>
                    <a:ext uri="{9D8B030D-6E8A-4147-A177-3AD203B41FA5}">
                      <a16:colId xmlns:a16="http://schemas.microsoft.com/office/drawing/2014/main" val="20002"/>
                    </a:ext>
                  </a:extLst>
                </a:gridCol>
                <a:gridCol w="1197506">
                  <a:extLst>
                    <a:ext uri="{9D8B030D-6E8A-4147-A177-3AD203B41FA5}">
                      <a16:colId xmlns:a16="http://schemas.microsoft.com/office/drawing/2014/main" val="20003"/>
                    </a:ext>
                  </a:extLst>
                </a:gridCol>
              </a:tblGrid>
              <a:tr h="430658">
                <a:tc>
                  <a:txBody>
                    <a:bodyPr/>
                    <a:lstStyle/>
                    <a:p>
                      <a:pPr algn="ctr">
                        <a:defRPr sz="1800"/>
                      </a:pPr>
                      <a:r>
                        <a:rPr sz="1800" b="1" dirty="0" err="1">
                          <a:latin typeface="Times New Roman"/>
                          <a:ea typeface="Times New Roman"/>
                          <a:cs typeface="Times New Roman"/>
                          <a:sym typeface="Times New Roman"/>
                        </a:rPr>
                        <a:t>S.No</a:t>
                      </a:r>
                      <a:endParaRPr sz="1800" b="1" dirty="0">
                        <a:latin typeface="Times New Roman"/>
                        <a:ea typeface="Times New Roman"/>
                        <a:cs typeface="Times New Roman"/>
                        <a:sym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sz="1800" b="1" dirty="0" err="1">
                          <a:latin typeface="Times New Roman"/>
                          <a:ea typeface="Times New Roman"/>
                          <a:cs typeface="Times New Roman"/>
                          <a:sym typeface="Times New Roman"/>
                        </a:rPr>
                        <a:t>Reg.No</a:t>
                      </a:r>
                      <a:endParaRPr sz="1800" b="1" dirty="0">
                        <a:latin typeface="Times New Roman"/>
                        <a:ea typeface="Times New Roman"/>
                        <a:cs typeface="Times New Roman"/>
                        <a:sym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sz="1800" b="1" dirty="0">
                          <a:latin typeface="Times New Roman"/>
                          <a:ea typeface="Times New Roman"/>
                          <a:cs typeface="Times New Roman"/>
                          <a:sym typeface="Times New Roman"/>
                        </a:rPr>
                        <a:t>Name of the Student</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lang="en-US" sz="1800" b="1" dirty="0">
                          <a:latin typeface="Times New Roman"/>
                          <a:ea typeface="Times New Roman"/>
                          <a:cs typeface="Times New Roman"/>
                          <a:sym typeface="Times New Roman"/>
                        </a:rPr>
                        <a:t>Branch</a:t>
                      </a:r>
                      <a:endParaRPr sz="1800" b="1" dirty="0">
                        <a:latin typeface="Times New Roman"/>
                        <a:ea typeface="Times New Roman"/>
                        <a:cs typeface="Times New Roman"/>
                        <a:sym typeface="Times New Roman"/>
                      </a:endParaRP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360605">
                <a:tc>
                  <a:txBody>
                    <a:bodyPr/>
                    <a:lstStyle/>
                    <a:p>
                      <a:pPr algn="ctr">
                        <a:defRPr sz="1800"/>
                      </a:pPr>
                      <a:r>
                        <a:rPr sz="1600" dirty="0">
                          <a:latin typeface="Times New Roman"/>
                          <a:ea typeface="Times New Roman"/>
                          <a:cs typeface="Times New Roman"/>
                          <a:sym typeface="Times New Roman"/>
                        </a:rPr>
                        <a:t>1</a:t>
                      </a: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BL</a:t>
                      </a:r>
                      <a:r>
                        <a:rPr sz="1600" dirty="0">
                          <a:latin typeface="Times New Roman"/>
                          <a:ea typeface="Times New Roman"/>
                          <a:cs typeface="Times New Roman"/>
                          <a:sym typeface="Times New Roman"/>
                        </a:rPr>
                        <a:t>.</a:t>
                      </a:r>
                      <a:r>
                        <a:rPr lang="en-US" sz="1600" dirty="0">
                          <a:latin typeface="Times New Roman"/>
                          <a:ea typeface="Times New Roman"/>
                          <a:cs typeface="Times New Roman"/>
                          <a:sym typeface="Times New Roman"/>
                        </a:rPr>
                        <a:t>EN.U4CSE23246</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Siddhartha Ravva</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CSE</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605">
                <a:tc>
                  <a:txBody>
                    <a:bodyPr/>
                    <a:lstStyle/>
                    <a:p>
                      <a:pPr algn="ctr">
                        <a:defRPr sz="1800"/>
                      </a:pPr>
                      <a:r>
                        <a:rPr lang="en-US" sz="1600" dirty="0">
                          <a:latin typeface="Times New Roman"/>
                          <a:ea typeface="Times New Roman"/>
                          <a:cs typeface="Times New Roman"/>
                          <a:sym typeface="Times New Roman"/>
                        </a:rPr>
                        <a:t>2</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800"/>
                      </a:pPr>
                      <a:r>
                        <a:rPr lang="en-US" sz="1600" dirty="0">
                          <a:latin typeface="Times New Roman"/>
                          <a:ea typeface="Times New Roman"/>
                          <a:cs typeface="Times New Roman"/>
                          <a:sym typeface="Times New Roman"/>
                        </a:rPr>
                        <a:t>BL.EN.U4CSE23206</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Aman Agarwal</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421071"/>
                  </a:ext>
                </a:extLst>
              </a:tr>
              <a:tr h="360605">
                <a:tc>
                  <a:txBody>
                    <a:bodyPr/>
                    <a:lstStyle/>
                    <a:p>
                      <a:pPr algn="ctr">
                        <a:defRPr sz="1800"/>
                      </a:pPr>
                      <a:r>
                        <a:rPr lang="en-US" sz="1600" dirty="0">
                          <a:latin typeface="Times New Roman"/>
                          <a:ea typeface="Times New Roman"/>
                          <a:cs typeface="Times New Roman"/>
                          <a:sym typeface="Times New Roman"/>
                        </a:rPr>
                        <a:t>3</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800"/>
                      </a:pPr>
                      <a:r>
                        <a:rPr lang="en-US" sz="1600" dirty="0">
                          <a:latin typeface="Times New Roman"/>
                          <a:ea typeface="Times New Roman"/>
                          <a:cs typeface="Times New Roman"/>
                          <a:sym typeface="Times New Roman"/>
                        </a:rPr>
                        <a:t>BL.EN.U4CSE23222</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Harsh Vardhan Singh</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9946137"/>
                  </a:ext>
                </a:extLst>
              </a:tr>
              <a:tr h="360605">
                <a:tc>
                  <a:txBody>
                    <a:bodyPr/>
                    <a:lstStyle/>
                    <a:p>
                      <a:pPr algn="ctr">
                        <a:defRPr sz="1800"/>
                      </a:pPr>
                      <a:r>
                        <a:rPr lang="en-US" sz="1600" dirty="0">
                          <a:latin typeface="Times New Roman"/>
                          <a:ea typeface="Times New Roman"/>
                          <a:cs typeface="Times New Roman"/>
                          <a:sym typeface="Times New Roman"/>
                        </a:rPr>
                        <a:t>4</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800"/>
                      </a:pPr>
                      <a:r>
                        <a:rPr lang="en-US" sz="1600" dirty="0">
                          <a:latin typeface="Times New Roman"/>
                          <a:ea typeface="Times New Roman"/>
                          <a:cs typeface="Times New Roman"/>
                          <a:sym typeface="Times New Roman"/>
                        </a:rPr>
                        <a:t>BL.EN.U4CSE23041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US" sz="1600" dirty="0">
                          <a:latin typeface="Times New Roman"/>
                          <a:ea typeface="Times New Roman"/>
                          <a:cs typeface="Times New Roman"/>
                          <a:sym typeface="Times New Roman"/>
                        </a:rPr>
                        <a:t>Pratyush Swain</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US" sz="1600" dirty="0">
                          <a:latin typeface="Times New Roman"/>
                          <a:ea typeface="Times New Roman"/>
                          <a:cs typeface="Times New Roman"/>
                          <a:sym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80733238"/>
                  </a:ext>
                </a:extLst>
              </a:tr>
            </a:tbl>
          </a:graphicData>
        </a:graphic>
      </p:graphicFrame>
      <p:sp>
        <p:nvSpPr>
          <p:cNvPr id="2" name="TextBox 1"/>
          <p:cNvSpPr txBox="1"/>
          <p:nvPr/>
        </p:nvSpPr>
        <p:spPr>
          <a:xfrm>
            <a:off x="830638" y="5779566"/>
            <a:ext cx="92396"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3" name="TextBox 2"/>
          <p:cNvSpPr txBox="1"/>
          <p:nvPr/>
        </p:nvSpPr>
        <p:spPr>
          <a:xfrm>
            <a:off x="830638" y="5591102"/>
            <a:ext cx="4823286"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800" b="1" dirty="0"/>
              <a:t>Project </a:t>
            </a:r>
            <a:r>
              <a:rPr lang="en-US" sz="1800" b="1" dirty="0" err="1"/>
              <a:t>Guide:Dr</a:t>
            </a:r>
            <a:r>
              <a:rPr lang="en-US" sz="1800" b="1" dirty="0"/>
              <a:t>. </a:t>
            </a:r>
            <a:r>
              <a:rPr lang="en-US" sz="1800" b="1" dirty="0" err="1"/>
              <a:t>Sajitha</a:t>
            </a:r>
            <a:r>
              <a:rPr lang="en-US" sz="1800" b="1" dirty="0"/>
              <a:t> Krishnan</a:t>
            </a:r>
          </a:p>
          <a:p>
            <a:pPr marL="0" marR="0" indent="0" algn="l" defTabSz="914400" rtl="0" fontAlgn="auto" latinLnBrk="0" hangingPunct="0">
              <a:lnSpc>
                <a:spcPct val="100000"/>
              </a:lnSpc>
              <a:spcBef>
                <a:spcPts val="0"/>
              </a:spcBef>
              <a:spcAft>
                <a:spcPts val="0"/>
              </a:spcAft>
              <a:buClrTx/>
              <a:buSzTx/>
              <a:buFontTx/>
              <a:buNone/>
              <a:tabLst/>
            </a:pPr>
            <a:r>
              <a:rPr lang="en-US" sz="1800" b="1" dirty="0"/>
              <a:t>	         Assistant Professor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IN" smtClean="0"/>
              <a:t>2</a:t>
            </a:fld>
            <a:endParaRPr lang="en-IN"/>
          </a:p>
        </p:txBody>
      </p:sp>
      <p:sp>
        <p:nvSpPr>
          <p:cNvPr id="3" name="Title 2"/>
          <p:cNvSpPr>
            <a:spLocks noGrp="1"/>
          </p:cNvSpPr>
          <p:nvPr>
            <p:ph type="title"/>
          </p:nvPr>
        </p:nvSpPr>
        <p:spPr>
          <a:xfrm>
            <a:off x="574158" y="2101627"/>
            <a:ext cx="8229600" cy="1508126"/>
          </a:xfrm>
        </p:spPr>
        <p:txBody>
          <a:bodyPr/>
          <a:lstStyle/>
          <a:p>
            <a:r>
              <a:rPr lang="en-IN" dirty="0"/>
              <a:t>Screenshot of your guides’ approval mail (to go ahead with the presentation)</a:t>
            </a:r>
          </a:p>
        </p:txBody>
      </p:sp>
    </p:spTree>
    <p:extLst>
      <p:ext uri="{BB962C8B-B14F-4D97-AF65-F5344CB8AC3E}">
        <p14:creationId xmlns:p14="http://schemas.microsoft.com/office/powerpoint/2010/main" val="223283860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
        <p:nvSpPr>
          <p:cNvPr id="141" name="Content"/>
          <p:cNvSpPr txBox="1">
            <a:spLocks noGrp="1"/>
          </p:cNvSpPr>
          <p:nvPr>
            <p:ph type="title"/>
          </p:nvPr>
        </p:nvSpPr>
        <p:spPr>
          <a:xfrm>
            <a:off x="609600" y="1109990"/>
            <a:ext cx="7772400" cy="685800"/>
          </a:xfrm>
          <a:prstGeom prst="rect">
            <a:avLst/>
          </a:prstGeom>
        </p:spPr>
        <p:txBody>
          <a:bodyPr>
            <a:normAutofit/>
          </a:bodyPr>
          <a:lstStyle>
            <a:lvl1pPr>
              <a:defRPr sz="3200">
                <a:latin typeface="Times New Roman"/>
                <a:ea typeface="Times New Roman"/>
                <a:cs typeface="Times New Roman"/>
                <a:sym typeface="Times New Roman"/>
              </a:defRPr>
            </a:lvl1pPr>
          </a:lstStyle>
          <a:p>
            <a:r>
              <a:rPr lang="en-IN" dirty="0">
                <a:latin typeface="Times New Roman" panose="02020603050405020304" pitchFamily="18" charset="0"/>
                <a:ea typeface="+mn-ea"/>
                <a:cs typeface="Times New Roman" panose="02020603050405020304" pitchFamily="18" charset="0"/>
                <a:sym typeface="Arial"/>
              </a:rPr>
              <a:t>Problem</a:t>
            </a:r>
            <a:r>
              <a:rPr lang="en-IN" dirty="0"/>
              <a:t> Definition</a:t>
            </a:r>
            <a:endParaRPr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3" name="TextBox 2">
            <a:extLst>
              <a:ext uri="{FF2B5EF4-FFF2-40B4-BE49-F238E27FC236}">
                <a16:creationId xmlns:a16="http://schemas.microsoft.com/office/drawing/2014/main" id="{74347E06-8B13-DD77-C1FA-027C139A91C1}"/>
              </a:ext>
            </a:extLst>
          </p:cNvPr>
          <p:cNvSpPr txBox="1"/>
          <p:nvPr/>
        </p:nvSpPr>
        <p:spPr>
          <a:xfrm>
            <a:off x="914400" y="1795790"/>
            <a:ext cx="7467600" cy="35394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1600" dirty="0"/>
              <a:t>Retrieval-Augmented Generation improves factual accuracy by retrieving external knowledge.</a:t>
            </a:r>
          </a:p>
          <a:p>
            <a:r>
              <a:rPr lang="en-IN" sz="1600" dirty="0"/>
              <a:t>However, major limitations exist:</a:t>
            </a:r>
          </a:p>
          <a:p>
            <a:pPr marL="285750" indent="-285750">
              <a:buFont typeface="Arial" panose="020B0604020202020204" pitchFamily="34" charset="0"/>
              <a:buChar char="•"/>
            </a:pPr>
            <a:r>
              <a:rPr lang="en-IN" sz="1600" dirty="0"/>
              <a:t>RAG systems produce confident answers even when retrieved evidence is weak or incorrect</a:t>
            </a:r>
          </a:p>
          <a:p>
            <a:pPr marL="285750" indent="-285750">
              <a:buFont typeface="Arial" panose="020B0604020202020204" pitchFamily="34" charset="0"/>
              <a:buChar char="•"/>
            </a:pPr>
            <a:r>
              <a:rPr lang="en-IN" sz="1600" dirty="0"/>
              <a:t>Retrieval uncertainty is not quantified in traditional RAG pipelines</a:t>
            </a:r>
          </a:p>
          <a:p>
            <a:pPr marL="285750" indent="-285750">
              <a:buFont typeface="Arial" panose="020B0604020202020204" pitchFamily="34" charset="0"/>
              <a:buChar char="•"/>
            </a:pPr>
            <a:r>
              <a:rPr lang="en-IN" sz="1600" dirty="0"/>
              <a:t>Existing systems lack mechanisms to detect failures or abstain from answering</a:t>
            </a:r>
          </a:p>
          <a:p>
            <a:r>
              <a:rPr lang="en-IN" sz="1600" dirty="0"/>
              <a:t>Traditional RAG uses deterministic embeddings and similarity scores, which cannot measure confidence in retrieved information  </a:t>
            </a:r>
          </a:p>
          <a:p>
            <a:r>
              <a:rPr lang="en-IN" sz="1600" dirty="0"/>
              <a:t>This leads to:</a:t>
            </a:r>
          </a:p>
          <a:p>
            <a:pPr marL="285750" indent="-285750">
              <a:buFont typeface="Arial" panose="020B0604020202020204" pitchFamily="34" charset="0"/>
              <a:buChar char="•"/>
            </a:pPr>
            <a:r>
              <a:rPr lang="en-IN" sz="1600" dirty="0"/>
              <a:t>Hallucinations</a:t>
            </a:r>
          </a:p>
          <a:p>
            <a:pPr marL="285750" indent="-285750">
              <a:buFont typeface="Arial" panose="020B0604020202020204" pitchFamily="34" charset="0"/>
              <a:buChar char="•"/>
            </a:pPr>
            <a:r>
              <a:rPr lang="en-IN" sz="1600" dirty="0"/>
              <a:t>overconfident incorrect responses</a:t>
            </a:r>
          </a:p>
          <a:p>
            <a:pPr marL="285750" indent="-285750">
              <a:buFont typeface="Arial" panose="020B0604020202020204" pitchFamily="34" charset="0"/>
              <a:buChar char="•"/>
            </a:pPr>
            <a:r>
              <a:rPr lang="en-IN" sz="1600" dirty="0"/>
              <a:t>reduced reliability in real-world applications</a:t>
            </a:r>
          </a:p>
          <a:p>
            <a:endParaRPr lang="en-IN" sz="160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sp>
        <p:nvSpPr>
          <p:cNvPr id="157" name="Motivation"/>
          <p:cNvSpPr txBox="1">
            <a:spLocks noGrp="1"/>
          </p:cNvSpPr>
          <p:nvPr>
            <p:ph type="title"/>
          </p:nvPr>
        </p:nvSpPr>
        <p:spPr>
          <a:xfrm>
            <a:off x="1143000" y="367146"/>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a:t>
            </a:r>
            <a:endParaRPr sz="3200" dirty="0"/>
          </a:p>
        </p:txBody>
      </p:sp>
      <p:graphicFrame>
        <p:nvGraphicFramePr>
          <p:cNvPr id="2" name="Table 2">
            <a:extLst>
              <a:ext uri="{FF2B5EF4-FFF2-40B4-BE49-F238E27FC236}">
                <a16:creationId xmlns:a16="http://schemas.microsoft.com/office/drawing/2014/main" id="{9E0555AD-2513-94DB-0D0F-115A8244F34F}"/>
              </a:ext>
            </a:extLst>
          </p:cNvPr>
          <p:cNvGraphicFramePr>
            <a:graphicFrameLocks noGrp="1"/>
          </p:cNvGraphicFramePr>
          <p:nvPr>
            <p:extLst>
              <p:ext uri="{D42A27DB-BD31-4B8C-83A1-F6EECF244321}">
                <p14:modId xmlns:p14="http://schemas.microsoft.com/office/powerpoint/2010/main" val="746918996"/>
              </p:ext>
            </p:extLst>
          </p:nvPr>
        </p:nvGraphicFramePr>
        <p:xfrm>
          <a:off x="547252" y="1537855"/>
          <a:ext cx="8113060" cy="4643251"/>
        </p:xfrm>
        <a:graphic>
          <a:graphicData uri="http://schemas.openxmlformats.org/drawingml/2006/table">
            <a:tbl>
              <a:tblPr firstRow="1" bandRow="1">
                <a:tableStyleId>{7DF18680-E054-41AD-8BC1-D1AEF772440D}</a:tableStyleId>
              </a:tblPr>
              <a:tblGrid>
                <a:gridCol w="640161">
                  <a:extLst>
                    <a:ext uri="{9D8B030D-6E8A-4147-A177-3AD203B41FA5}">
                      <a16:colId xmlns:a16="http://schemas.microsoft.com/office/drawing/2014/main" val="3359582560"/>
                    </a:ext>
                  </a:extLst>
                </a:gridCol>
                <a:gridCol w="1300697">
                  <a:extLst>
                    <a:ext uri="{9D8B030D-6E8A-4147-A177-3AD203B41FA5}">
                      <a16:colId xmlns:a16="http://schemas.microsoft.com/office/drawing/2014/main" val="246789036"/>
                    </a:ext>
                  </a:extLst>
                </a:gridCol>
                <a:gridCol w="1918447">
                  <a:extLst>
                    <a:ext uri="{9D8B030D-6E8A-4147-A177-3AD203B41FA5}">
                      <a16:colId xmlns:a16="http://schemas.microsoft.com/office/drawing/2014/main" val="2085544661"/>
                    </a:ext>
                  </a:extLst>
                </a:gridCol>
                <a:gridCol w="2133600">
                  <a:extLst>
                    <a:ext uri="{9D8B030D-6E8A-4147-A177-3AD203B41FA5}">
                      <a16:colId xmlns:a16="http://schemas.microsoft.com/office/drawing/2014/main" val="1277987297"/>
                    </a:ext>
                  </a:extLst>
                </a:gridCol>
                <a:gridCol w="2120155">
                  <a:extLst>
                    <a:ext uri="{9D8B030D-6E8A-4147-A177-3AD203B41FA5}">
                      <a16:colId xmlns:a16="http://schemas.microsoft.com/office/drawing/2014/main" val="3529693153"/>
                    </a:ext>
                  </a:extLst>
                </a:gridCol>
              </a:tblGrid>
              <a:tr h="516093">
                <a:tc>
                  <a:txBody>
                    <a:bodyPr/>
                    <a:lstStyle/>
                    <a:p>
                      <a:pPr algn="ctr"/>
                      <a:r>
                        <a:rPr lang="en-IN" sz="1400" dirty="0" err="1"/>
                        <a:t>S.No</a:t>
                      </a:r>
                      <a:r>
                        <a:rPr lang="en-IN" sz="1400" dirty="0"/>
                        <a:t>.</a:t>
                      </a:r>
                    </a:p>
                  </a:txBody>
                  <a:tcPr>
                    <a:solidFill>
                      <a:srgbClr val="4898CA"/>
                    </a:solidFill>
                  </a:tcPr>
                </a:tc>
                <a:tc>
                  <a:txBody>
                    <a:bodyPr/>
                    <a:lstStyle/>
                    <a:p>
                      <a:pPr algn="ctr"/>
                      <a:r>
                        <a:rPr lang="en-IN" sz="1500" dirty="0"/>
                        <a:t>Authors name(s)</a:t>
                      </a:r>
                    </a:p>
                  </a:txBody>
                  <a:tcPr>
                    <a:solidFill>
                      <a:srgbClr val="4898CA"/>
                    </a:solidFill>
                  </a:tcPr>
                </a:tc>
                <a:tc>
                  <a:txBody>
                    <a:bodyPr/>
                    <a:lstStyle/>
                    <a:p>
                      <a:pPr algn="ctr"/>
                      <a:r>
                        <a:rPr lang="en-IN" sz="1500" dirty="0"/>
                        <a:t>Full title of the paper with year</a:t>
                      </a:r>
                    </a:p>
                  </a:txBody>
                  <a:tcPr>
                    <a:solidFill>
                      <a:srgbClr val="4898CA"/>
                    </a:solidFill>
                  </a:tcPr>
                </a:tc>
                <a:tc>
                  <a:txBody>
                    <a:bodyPr/>
                    <a:lstStyle/>
                    <a:p>
                      <a:pPr algn="ctr"/>
                      <a:r>
                        <a:rPr lang="en-IN" sz="1500" dirty="0"/>
                        <a:t>Inference from the paper</a:t>
                      </a:r>
                    </a:p>
                  </a:txBody>
                  <a:tcPr>
                    <a:solidFill>
                      <a:srgbClr val="4898CA"/>
                    </a:solidFill>
                  </a:tcPr>
                </a:tc>
                <a:tc>
                  <a:txBody>
                    <a:bodyPr/>
                    <a:lstStyle/>
                    <a:p>
                      <a:pPr algn="ctr"/>
                      <a:r>
                        <a:rPr lang="en-IN" sz="1500" dirty="0"/>
                        <a:t>Open Problem (For proposed work)</a:t>
                      </a:r>
                    </a:p>
                  </a:txBody>
                  <a:tcPr>
                    <a:solidFill>
                      <a:srgbClr val="4898CA"/>
                    </a:solidFill>
                  </a:tcPr>
                </a:tc>
                <a:extLst>
                  <a:ext uri="{0D108BD9-81ED-4DB2-BD59-A6C34878D82A}">
                    <a16:rowId xmlns:a16="http://schemas.microsoft.com/office/drawing/2014/main" val="1015962150"/>
                  </a:ext>
                </a:extLst>
              </a:tr>
              <a:tr h="3378521">
                <a:tc>
                  <a:txBody>
                    <a:bodyPr/>
                    <a:lstStyle/>
                    <a:p>
                      <a:pPr algn="ctr"/>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Hadi </a:t>
                      </a:r>
                      <a:r>
                        <a:rPr lang="en-IN" dirty="0" err="1"/>
                        <a:t>Soudani</a:t>
                      </a:r>
                      <a:r>
                        <a:rPr lang="en-IN" dirty="0"/>
                        <a:t>, François Yvon, et al.</a:t>
                      </a:r>
                    </a:p>
                    <a:p>
                      <a:pPr algn="l"/>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i="1" dirty="0"/>
                        <a:t>Why Uncertainty Estimation Methods Fall Short in Retrieval-Augmented Generation</a:t>
                      </a:r>
                      <a:r>
                        <a:rPr lang="en-IN" dirty="0"/>
                        <a:t>, 2025</a:t>
                      </a:r>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The paper proves that traditional uncertainty estimation (UE) methods fail in RAG systems because they do not properly account for non-parametric retrieved knowledge. It introduces axiomatic constraints required for reliable uncertainty estimation and demonstrates that most existing UE methods violate these constraints.</a:t>
                      </a:r>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Existing UE methods estimate uncertainty based only on model output and ignore retrieval quality, evidence consistency, and grounding reliability. There is a need for a system that integrates retrieval-aware failure signals and provides calibrated confidence estimation for RAG systems.</a:t>
                      </a:r>
                    </a:p>
                    <a:p>
                      <a:pPr algn="just"/>
                      <a:endParaRPr lang="en-IN" dirty="0"/>
                    </a:p>
                  </a:txBody>
                  <a:tcPr/>
                </a:tc>
                <a:extLst>
                  <a:ext uri="{0D108BD9-81ED-4DB2-BD59-A6C34878D82A}">
                    <a16:rowId xmlns:a16="http://schemas.microsoft.com/office/drawing/2014/main" val="3877509688"/>
                  </a:ext>
                </a:extLst>
              </a:tr>
              <a:tr h="376051">
                <a:tc>
                  <a:txBody>
                    <a:bodyPr/>
                    <a:lstStyle/>
                    <a:p>
                      <a:pPr algn="ctr"/>
                      <a:endParaRPr lang="en-IN" dirty="0"/>
                    </a:p>
                  </a:txBody>
                  <a:tcPr/>
                </a:tc>
                <a:tc>
                  <a:txBody>
                    <a:bodyPr/>
                    <a:lstStyle/>
                    <a:p>
                      <a:pPr algn="l"/>
                      <a:endParaRPr lang="en-IN" dirty="0"/>
                    </a:p>
                  </a:txBody>
                  <a:tcPr/>
                </a:tc>
                <a:tc>
                  <a:txBody>
                    <a:bodyPr/>
                    <a:lstStyle/>
                    <a:p>
                      <a:pPr algn="just"/>
                      <a:endParaRPr lang="en-IN" dirty="0"/>
                    </a:p>
                  </a:txBody>
                  <a:tcPr/>
                </a:tc>
                <a:tc>
                  <a:txBody>
                    <a:bodyPr/>
                    <a:lstStyle/>
                    <a:p>
                      <a:pPr algn="just"/>
                      <a:endParaRPr lang="en-IN" dirty="0"/>
                    </a:p>
                  </a:txBody>
                  <a:tcPr/>
                </a:tc>
                <a:tc>
                  <a:txBody>
                    <a:bodyPr/>
                    <a:lstStyle/>
                    <a:p>
                      <a:pPr algn="just"/>
                      <a:endParaRPr lang="en-IN" dirty="0"/>
                    </a:p>
                  </a:txBody>
                  <a:tcPr/>
                </a:tc>
                <a:extLst>
                  <a:ext uri="{0D108BD9-81ED-4DB2-BD59-A6C34878D82A}">
                    <a16:rowId xmlns:a16="http://schemas.microsoft.com/office/drawing/2014/main" val="3917762837"/>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49903-0FD5-F5F8-2298-67A851AA0EA3}"/>
            </a:ext>
          </a:extLst>
        </p:cNvPr>
        <p:cNvGrpSpPr/>
        <p:nvPr/>
      </p:nvGrpSpPr>
      <p:grpSpPr>
        <a:xfrm>
          <a:off x="0" y="0"/>
          <a:ext cx="0" cy="0"/>
          <a:chOff x="0" y="0"/>
          <a:chExt cx="0" cy="0"/>
        </a:xfrm>
      </p:grpSpPr>
      <p:sp>
        <p:nvSpPr>
          <p:cNvPr id="156" name="Slide Number">
            <a:extLst>
              <a:ext uri="{FF2B5EF4-FFF2-40B4-BE49-F238E27FC236}">
                <a16:creationId xmlns:a16="http://schemas.microsoft.com/office/drawing/2014/main" id="{5D4A3343-4FFD-F2B9-1A3B-538472AE0322}"/>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157" name="Motivation">
            <a:extLst>
              <a:ext uri="{FF2B5EF4-FFF2-40B4-BE49-F238E27FC236}">
                <a16:creationId xmlns:a16="http://schemas.microsoft.com/office/drawing/2014/main" id="{41C69797-022D-D21D-3B52-97C93A541480}"/>
              </a:ext>
            </a:extLst>
          </p:cNvPr>
          <p:cNvSpPr txBox="1">
            <a:spLocks noGrp="1"/>
          </p:cNvSpPr>
          <p:nvPr>
            <p:ph type="title"/>
          </p:nvPr>
        </p:nvSpPr>
        <p:spPr>
          <a:xfrm>
            <a:off x="1143000" y="367146"/>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a:t>
            </a:r>
            <a:endParaRPr sz="3200" dirty="0"/>
          </a:p>
        </p:txBody>
      </p:sp>
      <p:graphicFrame>
        <p:nvGraphicFramePr>
          <p:cNvPr id="2" name="Table 2">
            <a:extLst>
              <a:ext uri="{FF2B5EF4-FFF2-40B4-BE49-F238E27FC236}">
                <a16:creationId xmlns:a16="http://schemas.microsoft.com/office/drawing/2014/main" id="{E3F410F8-A85A-C39A-CFA4-8594E919CCC0}"/>
              </a:ext>
            </a:extLst>
          </p:cNvPr>
          <p:cNvGraphicFramePr>
            <a:graphicFrameLocks noGrp="1"/>
          </p:cNvGraphicFramePr>
          <p:nvPr>
            <p:extLst>
              <p:ext uri="{D42A27DB-BD31-4B8C-83A1-F6EECF244321}">
                <p14:modId xmlns:p14="http://schemas.microsoft.com/office/powerpoint/2010/main" val="2601846444"/>
              </p:ext>
            </p:extLst>
          </p:nvPr>
        </p:nvGraphicFramePr>
        <p:xfrm>
          <a:off x="509154" y="1537854"/>
          <a:ext cx="8151157" cy="4060415"/>
        </p:xfrm>
        <a:graphic>
          <a:graphicData uri="http://schemas.openxmlformats.org/drawingml/2006/table">
            <a:tbl>
              <a:tblPr firstRow="1" bandRow="1">
                <a:tableStyleId>{7DF18680-E054-41AD-8BC1-D1AEF772440D}</a:tableStyleId>
              </a:tblPr>
              <a:tblGrid>
                <a:gridCol w="643167">
                  <a:extLst>
                    <a:ext uri="{9D8B030D-6E8A-4147-A177-3AD203B41FA5}">
                      <a16:colId xmlns:a16="http://schemas.microsoft.com/office/drawing/2014/main" val="3359582560"/>
                    </a:ext>
                  </a:extLst>
                </a:gridCol>
                <a:gridCol w="1306804">
                  <a:extLst>
                    <a:ext uri="{9D8B030D-6E8A-4147-A177-3AD203B41FA5}">
                      <a16:colId xmlns:a16="http://schemas.microsoft.com/office/drawing/2014/main" val="246789036"/>
                    </a:ext>
                  </a:extLst>
                </a:gridCol>
                <a:gridCol w="1927456">
                  <a:extLst>
                    <a:ext uri="{9D8B030D-6E8A-4147-A177-3AD203B41FA5}">
                      <a16:colId xmlns:a16="http://schemas.microsoft.com/office/drawing/2014/main" val="2085544661"/>
                    </a:ext>
                  </a:extLst>
                </a:gridCol>
                <a:gridCol w="2143619">
                  <a:extLst>
                    <a:ext uri="{9D8B030D-6E8A-4147-A177-3AD203B41FA5}">
                      <a16:colId xmlns:a16="http://schemas.microsoft.com/office/drawing/2014/main" val="1277987297"/>
                    </a:ext>
                  </a:extLst>
                </a:gridCol>
                <a:gridCol w="2130111">
                  <a:extLst>
                    <a:ext uri="{9D8B030D-6E8A-4147-A177-3AD203B41FA5}">
                      <a16:colId xmlns:a16="http://schemas.microsoft.com/office/drawing/2014/main" val="3529693153"/>
                    </a:ext>
                  </a:extLst>
                </a:gridCol>
              </a:tblGrid>
              <a:tr h="568036">
                <a:tc>
                  <a:txBody>
                    <a:bodyPr/>
                    <a:lstStyle/>
                    <a:p>
                      <a:pPr algn="l"/>
                      <a:r>
                        <a:rPr lang="en-IN" sz="1400" dirty="0" err="1"/>
                        <a:t>S.No</a:t>
                      </a:r>
                      <a:r>
                        <a:rPr lang="en-IN" sz="1400" dirty="0"/>
                        <a:t>.</a:t>
                      </a:r>
                    </a:p>
                  </a:txBody>
                  <a:tcPr>
                    <a:solidFill>
                      <a:srgbClr val="4898CA"/>
                    </a:solidFill>
                  </a:tcPr>
                </a:tc>
                <a:tc>
                  <a:txBody>
                    <a:bodyPr/>
                    <a:lstStyle/>
                    <a:p>
                      <a:pPr algn="l"/>
                      <a:r>
                        <a:rPr lang="en-IN" sz="1500" dirty="0"/>
                        <a:t>Authors name(s)</a:t>
                      </a:r>
                    </a:p>
                  </a:txBody>
                  <a:tcPr>
                    <a:solidFill>
                      <a:srgbClr val="4898CA"/>
                    </a:solidFill>
                  </a:tcPr>
                </a:tc>
                <a:tc>
                  <a:txBody>
                    <a:bodyPr/>
                    <a:lstStyle/>
                    <a:p>
                      <a:pPr algn="l"/>
                      <a:r>
                        <a:rPr lang="en-IN" sz="1500" dirty="0"/>
                        <a:t>Full title of the paper with year</a:t>
                      </a:r>
                    </a:p>
                  </a:txBody>
                  <a:tcPr>
                    <a:solidFill>
                      <a:srgbClr val="4898CA"/>
                    </a:solidFill>
                  </a:tcPr>
                </a:tc>
                <a:tc>
                  <a:txBody>
                    <a:bodyPr/>
                    <a:lstStyle/>
                    <a:p>
                      <a:pPr algn="l"/>
                      <a:r>
                        <a:rPr lang="en-IN" sz="1500" dirty="0"/>
                        <a:t>Inference from the paper</a:t>
                      </a:r>
                    </a:p>
                  </a:txBody>
                  <a:tcPr>
                    <a:solidFill>
                      <a:srgbClr val="4898CA"/>
                    </a:solidFill>
                  </a:tcPr>
                </a:tc>
                <a:tc>
                  <a:txBody>
                    <a:bodyPr/>
                    <a:lstStyle/>
                    <a:p>
                      <a:pPr algn="l"/>
                      <a:r>
                        <a:rPr lang="en-IN" sz="1500" dirty="0"/>
                        <a:t>Open Problem (For proposed work)</a:t>
                      </a:r>
                    </a:p>
                  </a:txBody>
                  <a:tcPr>
                    <a:solidFill>
                      <a:srgbClr val="4898CA"/>
                    </a:solidFill>
                  </a:tcPr>
                </a:tc>
                <a:extLst>
                  <a:ext uri="{0D108BD9-81ED-4DB2-BD59-A6C34878D82A}">
                    <a16:rowId xmlns:a16="http://schemas.microsoft.com/office/drawing/2014/main" val="1015962150"/>
                  </a:ext>
                </a:extLst>
              </a:tr>
              <a:tr h="413899">
                <a:tc>
                  <a:txBody>
                    <a:bodyPr/>
                    <a:lstStyle/>
                    <a:p>
                      <a:pPr algn="just"/>
                      <a:r>
                        <a:rPr lang="en-IN" dirty="0"/>
                        <a:t>2</a:t>
                      </a:r>
                    </a:p>
                  </a:txBody>
                  <a:tcPr/>
                </a:tc>
                <a:tc>
                  <a:txBody>
                    <a:bodyPr/>
                    <a:lstStyle/>
                    <a:p>
                      <a:pPr algn="just"/>
                      <a:r>
                        <a:rPr lang="en-IN" dirty="0" err="1"/>
                        <a:t>Leandre</a:t>
                      </a:r>
                      <a:r>
                        <a:rPr lang="en-IN" dirty="0"/>
                        <a:t> </a:t>
                      </a:r>
                      <a:r>
                        <a:rPr lang="en-IN" dirty="0" err="1"/>
                        <a:t>Ngartera</a:t>
                      </a:r>
                      <a:r>
                        <a:rPr lang="en-IN" dirty="0"/>
                        <a:t>, Ahmed Abdelaziz, et al.</a:t>
                      </a:r>
                    </a:p>
                    <a:p>
                      <a:pPr algn="just"/>
                      <a:endParaRPr lang="en-IN" dirty="0"/>
                    </a:p>
                  </a:txBody>
                  <a:tcPr/>
                </a:tc>
                <a:tc>
                  <a:txBody>
                    <a:bodyPr/>
                    <a:lstStyle/>
                    <a:p>
                      <a:pPr algn="just"/>
                      <a:r>
                        <a:rPr lang="en-IN" i="1" dirty="0"/>
                        <a:t>Bayesian RAG: Uncertainty-Aware Retrieval for Reliable Financial Question Answering</a:t>
                      </a:r>
                      <a:r>
                        <a:rPr lang="en-IN" dirty="0"/>
                        <a:t>, 2026</a:t>
                      </a:r>
                    </a:p>
                    <a:p>
                      <a:pPr algn="just"/>
                      <a:endParaRPr lang="en-IN" dirty="0"/>
                    </a:p>
                  </a:txBody>
                  <a:tcPr/>
                </a:tc>
                <a:tc>
                  <a:txBody>
                    <a:bodyPr/>
                    <a:lstStyle/>
                    <a:p>
                      <a:pPr algn="just"/>
                      <a:r>
                        <a:rPr lang="en-IN" dirty="0"/>
                        <a:t>This paper introduces Bayesian RAG, which models retrieval uncertainty using Monte Carlo Dropout and probabilistic embeddings. It improves calibration and reduces hallucination rate significantly by incorporating uncertainty into document retrieval scoring.</a:t>
                      </a:r>
                    </a:p>
                    <a:p>
                      <a:pPr algn="just"/>
                      <a:endParaRPr lang="en-IN" dirty="0"/>
                    </a:p>
                  </a:txBody>
                  <a:tcPr/>
                </a:tc>
                <a:tc>
                  <a:txBody>
                    <a:bodyPr/>
                    <a:lstStyle/>
                    <a:p>
                      <a:pPr algn="just"/>
                      <a:r>
                        <a:rPr lang="en-IN" dirty="0"/>
                        <a:t>Bayesian RAG focuses only on retrieval uncertainty and does not consider generation instability, grounding verification, or adaptive system </a:t>
                      </a:r>
                      <a:r>
                        <a:rPr lang="en-IN" dirty="0" err="1"/>
                        <a:t>behavior</a:t>
                      </a:r>
                      <a:r>
                        <a:rPr lang="en-IN" dirty="0"/>
                        <a:t>. There is a need for a unified system that combines retrieval uncertainty, generation uncertainty, and adaptive decision control.</a:t>
                      </a:r>
                    </a:p>
                    <a:p>
                      <a:pPr algn="just"/>
                      <a:endParaRPr lang="en-IN" dirty="0"/>
                    </a:p>
                  </a:txBody>
                  <a:tcPr/>
                </a:tc>
                <a:extLst>
                  <a:ext uri="{0D108BD9-81ED-4DB2-BD59-A6C34878D82A}">
                    <a16:rowId xmlns:a16="http://schemas.microsoft.com/office/drawing/2014/main" val="3877509688"/>
                  </a:ext>
                </a:extLst>
              </a:tr>
              <a:tr h="413899">
                <a:tc>
                  <a:txBody>
                    <a:bodyPr/>
                    <a:lstStyle/>
                    <a:p>
                      <a:pPr algn="just"/>
                      <a:endParaRPr lang="en-IN" dirty="0"/>
                    </a:p>
                  </a:txBody>
                  <a:tcPr/>
                </a:tc>
                <a:tc>
                  <a:txBody>
                    <a:bodyPr/>
                    <a:lstStyle/>
                    <a:p>
                      <a:pPr algn="just"/>
                      <a:endParaRPr lang="en-IN" dirty="0"/>
                    </a:p>
                  </a:txBody>
                  <a:tcPr/>
                </a:tc>
                <a:tc>
                  <a:txBody>
                    <a:bodyPr/>
                    <a:lstStyle/>
                    <a:p>
                      <a:pPr algn="just"/>
                      <a:endParaRPr lang="en-IN" dirty="0"/>
                    </a:p>
                  </a:txBody>
                  <a:tcPr/>
                </a:tc>
                <a:tc>
                  <a:txBody>
                    <a:bodyPr/>
                    <a:lstStyle/>
                    <a:p>
                      <a:pPr algn="just"/>
                      <a:endParaRPr lang="en-IN" dirty="0"/>
                    </a:p>
                  </a:txBody>
                  <a:tcPr/>
                </a:tc>
                <a:tc>
                  <a:txBody>
                    <a:bodyPr/>
                    <a:lstStyle/>
                    <a:p>
                      <a:pPr algn="just"/>
                      <a:endParaRPr lang="en-IN" dirty="0"/>
                    </a:p>
                  </a:txBody>
                  <a:tcPr/>
                </a:tc>
                <a:extLst>
                  <a:ext uri="{0D108BD9-81ED-4DB2-BD59-A6C34878D82A}">
                    <a16:rowId xmlns:a16="http://schemas.microsoft.com/office/drawing/2014/main" val="3917762837"/>
                  </a:ext>
                </a:extLst>
              </a:tr>
            </a:tbl>
          </a:graphicData>
        </a:graphic>
      </p:graphicFrame>
    </p:spTree>
    <p:extLst>
      <p:ext uri="{BB962C8B-B14F-4D97-AF65-F5344CB8AC3E}">
        <p14:creationId xmlns:p14="http://schemas.microsoft.com/office/powerpoint/2010/main" val="159403637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772AA-49EF-BC25-D70B-591DD37FFB53}"/>
            </a:ext>
          </a:extLst>
        </p:cNvPr>
        <p:cNvGrpSpPr/>
        <p:nvPr/>
      </p:nvGrpSpPr>
      <p:grpSpPr>
        <a:xfrm>
          <a:off x="0" y="0"/>
          <a:ext cx="0" cy="0"/>
          <a:chOff x="0" y="0"/>
          <a:chExt cx="0" cy="0"/>
        </a:xfrm>
      </p:grpSpPr>
      <p:sp>
        <p:nvSpPr>
          <p:cNvPr id="156" name="Slide Number">
            <a:extLst>
              <a:ext uri="{FF2B5EF4-FFF2-40B4-BE49-F238E27FC236}">
                <a16:creationId xmlns:a16="http://schemas.microsoft.com/office/drawing/2014/main" id="{A0B71E34-7A8F-D95A-C0C3-0F7CF9979474}"/>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157" name="Motivation">
            <a:extLst>
              <a:ext uri="{FF2B5EF4-FFF2-40B4-BE49-F238E27FC236}">
                <a16:creationId xmlns:a16="http://schemas.microsoft.com/office/drawing/2014/main" id="{C77FD611-AEAF-37F6-81DE-E702DC9DBC38}"/>
              </a:ext>
            </a:extLst>
          </p:cNvPr>
          <p:cNvSpPr txBox="1">
            <a:spLocks noGrp="1"/>
          </p:cNvSpPr>
          <p:nvPr>
            <p:ph type="title"/>
          </p:nvPr>
        </p:nvSpPr>
        <p:spPr>
          <a:xfrm>
            <a:off x="1143000" y="367146"/>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a:t>
            </a:r>
            <a:endParaRPr sz="3200" dirty="0"/>
          </a:p>
        </p:txBody>
      </p:sp>
      <p:graphicFrame>
        <p:nvGraphicFramePr>
          <p:cNvPr id="2" name="Table 2">
            <a:extLst>
              <a:ext uri="{FF2B5EF4-FFF2-40B4-BE49-F238E27FC236}">
                <a16:creationId xmlns:a16="http://schemas.microsoft.com/office/drawing/2014/main" id="{6F7DDA8F-B897-4009-90A1-7C0A970D31DE}"/>
              </a:ext>
            </a:extLst>
          </p:cNvPr>
          <p:cNvGraphicFramePr>
            <a:graphicFrameLocks noGrp="1"/>
          </p:cNvGraphicFramePr>
          <p:nvPr>
            <p:extLst>
              <p:ext uri="{D42A27DB-BD31-4B8C-83A1-F6EECF244321}">
                <p14:modId xmlns:p14="http://schemas.microsoft.com/office/powerpoint/2010/main" val="3238004702"/>
              </p:ext>
            </p:extLst>
          </p:nvPr>
        </p:nvGraphicFramePr>
        <p:xfrm>
          <a:off x="547252" y="1537854"/>
          <a:ext cx="8113060" cy="4060415"/>
        </p:xfrm>
        <a:graphic>
          <a:graphicData uri="http://schemas.openxmlformats.org/drawingml/2006/table">
            <a:tbl>
              <a:tblPr firstRow="1" bandRow="1">
                <a:tableStyleId>{7DF18680-E054-41AD-8BC1-D1AEF772440D}</a:tableStyleId>
              </a:tblPr>
              <a:tblGrid>
                <a:gridCol w="640161">
                  <a:extLst>
                    <a:ext uri="{9D8B030D-6E8A-4147-A177-3AD203B41FA5}">
                      <a16:colId xmlns:a16="http://schemas.microsoft.com/office/drawing/2014/main" val="3359582560"/>
                    </a:ext>
                  </a:extLst>
                </a:gridCol>
                <a:gridCol w="1300697">
                  <a:extLst>
                    <a:ext uri="{9D8B030D-6E8A-4147-A177-3AD203B41FA5}">
                      <a16:colId xmlns:a16="http://schemas.microsoft.com/office/drawing/2014/main" val="246789036"/>
                    </a:ext>
                  </a:extLst>
                </a:gridCol>
                <a:gridCol w="1918447">
                  <a:extLst>
                    <a:ext uri="{9D8B030D-6E8A-4147-A177-3AD203B41FA5}">
                      <a16:colId xmlns:a16="http://schemas.microsoft.com/office/drawing/2014/main" val="2085544661"/>
                    </a:ext>
                  </a:extLst>
                </a:gridCol>
                <a:gridCol w="2133600">
                  <a:extLst>
                    <a:ext uri="{9D8B030D-6E8A-4147-A177-3AD203B41FA5}">
                      <a16:colId xmlns:a16="http://schemas.microsoft.com/office/drawing/2014/main" val="1277987297"/>
                    </a:ext>
                  </a:extLst>
                </a:gridCol>
                <a:gridCol w="2120155">
                  <a:extLst>
                    <a:ext uri="{9D8B030D-6E8A-4147-A177-3AD203B41FA5}">
                      <a16:colId xmlns:a16="http://schemas.microsoft.com/office/drawing/2014/main" val="3529693153"/>
                    </a:ext>
                  </a:extLst>
                </a:gridCol>
              </a:tblGrid>
              <a:tr h="568036">
                <a:tc>
                  <a:txBody>
                    <a:bodyPr/>
                    <a:lstStyle/>
                    <a:p>
                      <a:pPr algn="ctr"/>
                      <a:r>
                        <a:rPr lang="en-IN" sz="1400" dirty="0" err="1"/>
                        <a:t>S.No</a:t>
                      </a:r>
                      <a:r>
                        <a:rPr lang="en-IN" sz="1400" dirty="0"/>
                        <a:t>.</a:t>
                      </a:r>
                    </a:p>
                  </a:txBody>
                  <a:tcPr>
                    <a:solidFill>
                      <a:srgbClr val="4898CA"/>
                    </a:solidFill>
                  </a:tcPr>
                </a:tc>
                <a:tc>
                  <a:txBody>
                    <a:bodyPr/>
                    <a:lstStyle/>
                    <a:p>
                      <a:pPr algn="ctr"/>
                      <a:r>
                        <a:rPr lang="en-IN" sz="1500" dirty="0"/>
                        <a:t>Authors name(s)</a:t>
                      </a:r>
                    </a:p>
                  </a:txBody>
                  <a:tcPr>
                    <a:solidFill>
                      <a:srgbClr val="4898CA"/>
                    </a:solidFill>
                  </a:tcPr>
                </a:tc>
                <a:tc>
                  <a:txBody>
                    <a:bodyPr/>
                    <a:lstStyle/>
                    <a:p>
                      <a:pPr algn="ctr"/>
                      <a:r>
                        <a:rPr lang="en-IN" sz="1500" dirty="0"/>
                        <a:t>Full title of the paper with year</a:t>
                      </a:r>
                    </a:p>
                  </a:txBody>
                  <a:tcPr>
                    <a:solidFill>
                      <a:srgbClr val="4898CA"/>
                    </a:solidFill>
                  </a:tcPr>
                </a:tc>
                <a:tc>
                  <a:txBody>
                    <a:bodyPr/>
                    <a:lstStyle/>
                    <a:p>
                      <a:pPr algn="ctr"/>
                      <a:r>
                        <a:rPr lang="en-IN" sz="1500" dirty="0"/>
                        <a:t>Inference from the paper</a:t>
                      </a:r>
                    </a:p>
                  </a:txBody>
                  <a:tcPr>
                    <a:solidFill>
                      <a:srgbClr val="4898CA"/>
                    </a:solidFill>
                  </a:tcPr>
                </a:tc>
                <a:tc>
                  <a:txBody>
                    <a:bodyPr/>
                    <a:lstStyle/>
                    <a:p>
                      <a:pPr algn="ctr"/>
                      <a:r>
                        <a:rPr lang="en-IN" sz="1500" dirty="0"/>
                        <a:t>Open Problem (For proposed work)</a:t>
                      </a:r>
                    </a:p>
                  </a:txBody>
                  <a:tcPr>
                    <a:solidFill>
                      <a:srgbClr val="4898CA"/>
                    </a:solidFill>
                  </a:tcPr>
                </a:tc>
                <a:extLst>
                  <a:ext uri="{0D108BD9-81ED-4DB2-BD59-A6C34878D82A}">
                    <a16:rowId xmlns:a16="http://schemas.microsoft.com/office/drawing/2014/main" val="1015962150"/>
                  </a:ext>
                </a:extLst>
              </a:tr>
              <a:tr h="413899">
                <a:tc>
                  <a:txBody>
                    <a:bodyPr/>
                    <a:lstStyle/>
                    <a:p>
                      <a:pPr algn="ctr"/>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Michael </a:t>
                      </a:r>
                      <a:r>
                        <a:rPr lang="en-IN" dirty="0" err="1"/>
                        <a:t>Oehri</a:t>
                      </a:r>
                      <a:r>
                        <a:rPr lang="en-IN" dirty="0"/>
                        <a:t>, </a:t>
                      </a:r>
                      <a:r>
                        <a:rPr lang="en-IN" dirty="0" err="1"/>
                        <a:t>Jannis</a:t>
                      </a:r>
                      <a:r>
                        <a:rPr lang="en-IN" dirty="0"/>
                        <a:t> </a:t>
                      </a:r>
                      <a:r>
                        <a:rPr lang="en-IN" dirty="0" err="1"/>
                        <a:t>Vamvas</a:t>
                      </a:r>
                      <a:r>
                        <a:rPr lang="en-IN" dirty="0"/>
                        <a:t>, et al.</a:t>
                      </a:r>
                    </a:p>
                    <a:p>
                      <a:pPr algn="l"/>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i="1" dirty="0"/>
                        <a:t>Trusted Uncertainty in Large Language Models: A Unified Framework for Confidence Calibration and Risk-Controlled Refusal</a:t>
                      </a:r>
                      <a:r>
                        <a:rPr lang="en-IN" dirty="0"/>
                        <a:t>, 2025</a:t>
                      </a:r>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This paper proposes a unified framework combining sequence likelihood, semantic entropy, and self-consistency signals to produce calibrated confidence scores. It also introduces risk-controlled refusal mechanisms to avoid unreliable responses.</a:t>
                      </a:r>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The framework improves confidence calibration but does not integrate retrieval-aware uncertainty signals or adaptive retrieval mechanisms. There is a need for a RAG system that dynamically adjusts retrieval, generation, and response strategies based on confidence estimation.</a:t>
                      </a:r>
                    </a:p>
                    <a:p>
                      <a:pPr algn="just"/>
                      <a:endParaRPr lang="en-IN" dirty="0"/>
                    </a:p>
                  </a:txBody>
                  <a:tcPr/>
                </a:tc>
                <a:extLst>
                  <a:ext uri="{0D108BD9-81ED-4DB2-BD59-A6C34878D82A}">
                    <a16:rowId xmlns:a16="http://schemas.microsoft.com/office/drawing/2014/main" val="3877509688"/>
                  </a:ext>
                </a:extLst>
              </a:tr>
              <a:tr h="413899">
                <a:tc>
                  <a:txBody>
                    <a:bodyPr/>
                    <a:lstStyle/>
                    <a:p>
                      <a:pPr algn="ctr"/>
                      <a:endParaRPr lang="en-IN" dirty="0"/>
                    </a:p>
                  </a:txBody>
                  <a:tcPr/>
                </a:tc>
                <a:tc>
                  <a:txBody>
                    <a:bodyPr/>
                    <a:lstStyle/>
                    <a:p>
                      <a:pPr algn="l"/>
                      <a:endParaRPr lang="en-IN" dirty="0"/>
                    </a:p>
                  </a:txBody>
                  <a:tcPr/>
                </a:tc>
                <a:tc>
                  <a:txBody>
                    <a:bodyPr/>
                    <a:lstStyle/>
                    <a:p>
                      <a:pPr algn="just"/>
                      <a:endParaRPr lang="en-IN" dirty="0"/>
                    </a:p>
                  </a:txBody>
                  <a:tcPr/>
                </a:tc>
                <a:tc>
                  <a:txBody>
                    <a:bodyPr/>
                    <a:lstStyle/>
                    <a:p>
                      <a:pPr algn="just"/>
                      <a:endParaRPr lang="en-IN" dirty="0"/>
                    </a:p>
                  </a:txBody>
                  <a:tcPr/>
                </a:tc>
                <a:tc>
                  <a:txBody>
                    <a:bodyPr/>
                    <a:lstStyle/>
                    <a:p>
                      <a:pPr algn="just"/>
                      <a:endParaRPr lang="en-IN" dirty="0"/>
                    </a:p>
                  </a:txBody>
                  <a:tcPr/>
                </a:tc>
                <a:extLst>
                  <a:ext uri="{0D108BD9-81ED-4DB2-BD59-A6C34878D82A}">
                    <a16:rowId xmlns:a16="http://schemas.microsoft.com/office/drawing/2014/main" val="3917762837"/>
                  </a:ext>
                </a:extLst>
              </a:tr>
            </a:tbl>
          </a:graphicData>
        </a:graphic>
      </p:graphicFrame>
    </p:spTree>
    <p:extLst>
      <p:ext uri="{BB962C8B-B14F-4D97-AF65-F5344CB8AC3E}">
        <p14:creationId xmlns:p14="http://schemas.microsoft.com/office/powerpoint/2010/main" val="411904344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otivation"/>
          <p:cNvSpPr txBox="1">
            <a:spLocks noGrp="1"/>
          </p:cNvSpPr>
          <p:nvPr>
            <p:ph type="title"/>
          </p:nvPr>
        </p:nvSpPr>
        <p:spPr>
          <a:xfrm>
            <a:off x="1143000" y="1257300"/>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Justification for the Proposed Problem</a:t>
            </a:r>
            <a:endParaRPr sz="3200" dirty="0"/>
          </a:p>
        </p:txBody>
      </p:sp>
      <p:sp>
        <p:nvSpPr>
          <p:cNvPr id="4" name="Group"/>
          <p:cNvSpPr/>
          <p:nvPr/>
        </p:nvSpPr>
        <p:spPr>
          <a:xfrm>
            <a:off x="685800" y="1979124"/>
            <a:ext cx="7772400" cy="38100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lang="en-IN" sz="1600" dirty="0"/>
              <a:t>Existing RAG systems lack:</a:t>
            </a:r>
          </a:p>
          <a:p>
            <a:pPr marL="285750" indent="-285750">
              <a:buFont typeface="Arial" panose="020B0604020202020204" pitchFamily="34" charset="0"/>
              <a:buChar char="•"/>
            </a:pPr>
            <a:r>
              <a:rPr lang="en-IN" sz="1600" dirty="0"/>
              <a:t>failure detection capability</a:t>
            </a:r>
          </a:p>
          <a:p>
            <a:pPr marL="285750" indent="-285750">
              <a:buFont typeface="Arial" panose="020B0604020202020204" pitchFamily="34" charset="0"/>
              <a:buChar char="•"/>
            </a:pPr>
            <a:r>
              <a:rPr lang="en-IN" sz="1600" dirty="0"/>
              <a:t>confidence calibration mechanisms</a:t>
            </a:r>
          </a:p>
          <a:p>
            <a:pPr marL="285750" indent="-285750">
              <a:buFont typeface="Arial" panose="020B0604020202020204" pitchFamily="34" charset="0"/>
              <a:buChar char="•"/>
            </a:pPr>
            <a:r>
              <a:rPr lang="en-IN" sz="1600" dirty="0"/>
              <a:t>adaptive response control</a:t>
            </a:r>
          </a:p>
          <a:p>
            <a:r>
              <a:rPr lang="en-IN" sz="1600" dirty="0"/>
              <a:t>Major limitations identified:</a:t>
            </a:r>
          </a:p>
          <a:p>
            <a:pPr marL="285750" indent="-285750">
              <a:buFont typeface="Arial" panose="020B0604020202020204" pitchFamily="34" charset="0"/>
              <a:buChar char="•"/>
            </a:pPr>
            <a:r>
              <a:rPr lang="en-IN" sz="1600" dirty="0"/>
              <a:t>Retrieval uncertainty not quantified</a:t>
            </a:r>
          </a:p>
          <a:p>
            <a:pPr marL="285750" indent="-285750">
              <a:buFont typeface="Arial" panose="020B0604020202020204" pitchFamily="34" charset="0"/>
              <a:buChar char="•"/>
            </a:pPr>
            <a:r>
              <a:rPr lang="en-IN" sz="1600" dirty="0"/>
              <a:t>Generation confidence poorly calibrated</a:t>
            </a:r>
          </a:p>
          <a:p>
            <a:pPr marL="285750" indent="-285750">
              <a:buFont typeface="Arial" panose="020B0604020202020204" pitchFamily="34" charset="0"/>
              <a:buChar char="•"/>
            </a:pPr>
            <a:r>
              <a:rPr lang="en-IN" sz="1600" dirty="0"/>
              <a:t>Systems cannot abstain when uncertain</a:t>
            </a:r>
          </a:p>
          <a:p>
            <a:r>
              <a:rPr lang="en-IN" sz="1600" dirty="0"/>
              <a:t>This leads to:</a:t>
            </a:r>
          </a:p>
          <a:p>
            <a:pPr marL="285750" indent="-285750">
              <a:buFont typeface="Arial" panose="020B0604020202020204" pitchFamily="34" charset="0"/>
              <a:buChar char="•"/>
            </a:pPr>
            <a:r>
              <a:rPr lang="en-IN" sz="1600" dirty="0"/>
              <a:t>hallucinations</a:t>
            </a:r>
          </a:p>
          <a:p>
            <a:pPr marL="285750" indent="-285750">
              <a:buFont typeface="Arial" panose="020B0604020202020204" pitchFamily="34" charset="0"/>
              <a:buChar char="•"/>
            </a:pPr>
            <a:r>
              <a:rPr lang="en-IN" sz="1600" dirty="0"/>
              <a:t>incorrect answers with high confidence</a:t>
            </a:r>
          </a:p>
          <a:p>
            <a:r>
              <a:rPr lang="en-IN" sz="1600" dirty="0"/>
              <a:t>Existing UE methods do not satisfy uncertainty estimation constraints in RAG environments  </a:t>
            </a:r>
          </a:p>
          <a:p>
            <a:r>
              <a:rPr lang="en-IN" sz="1600" dirty="0"/>
              <a:t>Therefore, there is a need for a system that:</a:t>
            </a:r>
          </a:p>
          <a:p>
            <a:pPr marL="285750" indent="-285750">
              <a:buFont typeface="Arial" panose="020B0604020202020204" pitchFamily="34" charset="0"/>
              <a:buChar char="•"/>
            </a:pPr>
            <a:r>
              <a:rPr lang="en-IN" sz="1600" dirty="0"/>
              <a:t>detects failures</a:t>
            </a:r>
          </a:p>
          <a:p>
            <a:pPr marL="285750" indent="-285750">
              <a:buFont typeface="Arial" panose="020B0604020202020204" pitchFamily="34" charset="0"/>
              <a:buChar char="•"/>
            </a:pPr>
            <a:r>
              <a:rPr lang="en-IN" sz="1600" dirty="0"/>
              <a:t>estimates confidence accurately</a:t>
            </a:r>
          </a:p>
          <a:p>
            <a:pPr marL="285750" indent="-285750">
              <a:buFont typeface="Arial" panose="020B0604020202020204" pitchFamily="34" charset="0"/>
              <a:buChar char="•"/>
            </a:pPr>
            <a:r>
              <a:rPr lang="en-IN" sz="1600" dirty="0"/>
              <a:t>adapts system </a:t>
            </a:r>
            <a:r>
              <a:rPr lang="en-IN" sz="1600" dirty="0" err="1"/>
              <a:t>behavior</a:t>
            </a:r>
            <a:r>
              <a:rPr lang="en-IN" sz="1600" dirty="0"/>
              <a:t> dynamically</a:t>
            </a:r>
          </a:p>
        </p:txBody>
      </p:sp>
      <p:sp>
        <p:nvSpPr>
          <p:cNvPr id="5" name="Slide Number"/>
          <p:cNvSpPr txBox="1">
            <a:spLocks noGrp="1"/>
          </p:cNvSpPr>
          <p:nvPr>
            <p:ph type="sldNum" sz="quarter" idx="2"/>
          </p:nvPr>
        </p:nvSpPr>
        <p:spPr>
          <a:xfrm>
            <a:off x="8418883" y="381000"/>
            <a:ext cx="191717"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6</a:t>
            </a:r>
            <a:endParaRPr dirty="0"/>
          </a:p>
        </p:txBody>
      </p:sp>
    </p:spTree>
    <p:extLst>
      <p:ext uri="{BB962C8B-B14F-4D97-AF65-F5344CB8AC3E}">
        <p14:creationId xmlns:p14="http://schemas.microsoft.com/office/powerpoint/2010/main" val="91841883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2D82-46EE-2093-23DE-59DF4F1A589C}"/>
            </a:ext>
          </a:extLst>
        </p:cNvPr>
        <p:cNvGrpSpPr/>
        <p:nvPr/>
      </p:nvGrpSpPr>
      <p:grpSpPr>
        <a:xfrm>
          <a:off x="0" y="0"/>
          <a:ext cx="0" cy="0"/>
          <a:chOff x="0" y="0"/>
          <a:chExt cx="0" cy="0"/>
        </a:xfrm>
      </p:grpSpPr>
      <p:sp>
        <p:nvSpPr>
          <p:cNvPr id="3" name="Motivation">
            <a:extLst>
              <a:ext uri="{FF2B5EF4-FFF2-40B4-BE49-F238E27FC236}">
                <a16:creationId xmlns:a16="http://schemas.microsoft.com/office/drawing/2014/main" id="{146BAA89-B74B-EE35-7828-5DD58A0AFC65}"/>
              </a:ext>
            </a:extLst>
          </p:cNvPr>
          <p:cNvSpPr txBox="1">
            <a:spLocks noGrp="1"/>
          </p:cNvSpPr>
          <p:nvPr>
            <p:ph type="title"/>
          </p:nvPr>
        </p:nvSpPr>
        <p:spPr>
          <a:xfrm>
            <a:off x="1000991" y="1236519"/>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Architecture of the Proposed System</a:t>
            </a:r>
            <a:endParaRPr sz="3200" dirty="0"/>
          </a:p>
        </p:txBody>
      </p:sp>
      <p:sp>
        <p:nvSpPr>
          <p:cNvPr id="4" name="Group">
            <a:extLst>
              <a:ext uri="{FF2B5EF4-FFF2-40B4-BE49-F238E27FC236}">
                <a16:creationId xmlns:a16="http://schemas.microsoft.com/office/drawing/2014/main" id="{3E0AF3FE-C812-196D-3A19-7BFE5E6508CA}"/>
              </a:ext>
            </a:extLst>
          </p:cNvPr>
          <p:cNvSpPr/>
          <p:nvPr/>
        </p:nvSpPr>
        <p:spPr>
          <a:xfrm>
            <a:off x="685800" y="2249287"/>
            <a:ext cx="7772400" cy="38100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lang="en-IN" sz="1600" dirty="0"/>
              <a:t>Architecture components:</a:t>
            </a:r>
          </a:p>
          <a:p>
            <a:pPr>
              <a:buFont typeface="+mj-lt"/>
              <a:buAutoNum type="arabicPeriod"/>
            </a:pPr>
            <a:r>
              <a:rPr lang="en-IN" sz="1600" dirty="0"/>
              <a:t>Query Input Module</a:t>
            </a:r>
          </a:p>
          <a:p>
            <a:pPr>
              <a:buFont typeface="+mj-lt"/>
              <a:buAutoNum type="arabicPeriod"/>
            </a:pPr>
            <a:r>
              <a:rPr lang="en-IN" sz="1600" dirty="0"/>
              <a:t>Accepts user query</a:t>
            </a:r>
          </a:p>
          <a:p>
            <a:pPr>
              <a:buFont typeface="+mj-lt"/>
              <a:buAutoNum type="arabicPeriod"/>
            </a:pPr>
            <a:r>
              <a:rPr lang="en-IN" sz="1600" dirty="0"/>
              <a:t>Retriever Module</a:t>
            </a:r>
          </a:p>
          <a:p>
            <a:pPr>
              <a:buFont typeface="+mj-lt"/>
              <a:buAutoNum type="arabicPeriod"/>
            </a:pPr>
            <a:r>
              <a:rPr lang="en-IN" sz="1600" dirty="0"/>
              <a:t>Retrieves relevant documents</a:t>
            </a:r>
          </a:p>
          <a:p>
            <a:pPr>
              <a:buFont typeface="+mj-lt"/>
              <a:buAutoNum type="arabicPeriod"/>
            </a:pPr>
            <a:r>
              <a:rPr lang="en-IN" sz="1600" dirty="0"/>
              <a:t>Failure Signal Extractor</a:t>
            </a:r>
          </a:p>
          <a:p>
            <a:pPr>
              <a:buFont typeface="+mj-lt"/>
              <a:buAutoNum type="arabicPeriod"/>
            </a:pPr>
            <a:r>
              <a:rPr lang="en-IN" sz="1600" dirty="0"/>
              <a:t>Extracts signals such as:</a:t>
            </a:r>
          </a:p>
          <a:p>
            <a:pPr>
              <a:buFont typeface="+mj-lt"/>
              <a:buAutoNum type="arabicPeriod"/>
            </a:pPr>
            <a:r>
              <a:rPr lang="en-IN" sz="1600" dirty="0"/>
              <a:t>similarity score</a:t>
            </a:r>
          </a:p>
          <a:p>
            <a:pPr>
              <a:buFont typeface="+mj-lt"/>
              <a:buAutoNum type="arabicPeriod"/>
            </a:pPr>
            <a:r>
              <a:rPr lang="en-IN" sz="1600" dirty="0"/>
              <a:t>contradiction detection</a:t>
            </a:r>
          </a:p>
          <a:p>
            <a:pPr>
              <a:buFont typeface="+mj-lt"/>
              <a:buAutoNum type="arabicPeriod"/>
            </a:pPr>
            <a:r>
              <a:rPr lang="en-IN" sz="1600" dirty="0"/>
              <a:t>retrieval consistency</a:t>
            </a:r>
          </a:p>
          <a:p>
            <a:pPr>
              <a:buFont typeface="+mj-lt"/>
              <a:buAutoNum type="arabicPeriod"/>
            </a:pPr>
            <a:r>
              <a:rPr lang="en-IN" sz="1600" dirty="0"/>
              <a:t>Confidence Estimation Model</a:t>
            </a:r>
          </a:p>
          <a:p>
            <a:pPr>
              <a:buFont typeface="+mj-lt"/>
              <a:buAutoNum type="arabicPeriod"/>
            </a:pPr>
            <a:r>
              <a:rPr lang="en-IN" sz="1600" dirty="0"/>
              <a:t>Predicts probability of correctness</a:t>
            </a:r>
          </a:p>
          <a:p>
            <a:pPr>
              <a:buFont typeface="+mj-lt"/>
              <a:buAutoNum type="arabicPeriod"/>
            </a:pPr>
            <a:r>
              <a:rPr lang="en-IN" sz="1600" dirty="0"/>
              <a:t>Adaptive Decision Controller</a:t>
            </a:r>
          </a:p>
          <a:p>
            <a:pPr>
              <a:buFont typeface="+mj-lt"/>
              <a:buAutoNum type="arabicPeriod"/>
            </a:pPr>
            <a:r>
              <a:rPr lang="en-IN" sz="1600" dirty="0"/>
              <a:t>Determines system action:</a:t>
            </a:r>
          </a:p>
          <a:p>
            <a:pPr>
              <a:buFont typeface="+mj-lt"/>
              <a:buAutoNum type="arabicPeriod"/>
            </a:pPr>
            <a:r>
              <a:rPr lang="en-IN" sz="1600" dirty="0"/>
              <a:t>answer normally</a:t>
            </a:r>
          </a:p>
          <a:p>
            <a:pPr>
              <a:buFont typeface="+mj-lt"/>
              <a:buAutoNum type="arabicPeriod"/>
            </a:pPr>
            <a:r>
              <a:rPr lang="en-IN" sz="1600" dirty="0"/>
              <a:t>retrieve more evidence</a:t>
            </a:r>
          </a:p>
          <a:p>
            <a:pPr>
              <a:buFont typeface="+mj-lt"/>
              <a:buAutoNum type="arabicPeriod"/>
            </a:pPr>
            <a:r>
              <a:rPr lang="en-IN" sz="1600" dirty="0"/>
              <a:t>ask clarification</a:t>
            </a:r>
          </a:p>
          <a:p>
            <a:pPr>
              <a:buFont typeface="+mj-lt"/>
              <a:buAutoNum type="arabicPeriod"/>
            </a:pPr>
            <a:r>
              <a:rPr lang="en-IN" sz="1600" dirty="0"/>
              <a:t>abstain</a:t>
            </a:r>
          </a:p>
          <a:p>
            <a:pPr>
              <a:buFont typeface="+mj-lt"/>
              <a:buAutoNum type="arabicPeriod"/>
            </a:pPr>
            <a:r>
              <a:rPr lang="en-IN" sz="1600" dirty="0"/>
              <a:t>Generator Module</a:t>
            </a:r>
          </a:p>
          <a:p>
            <a:pPr>
              <a:buFont typeface="+mj-lt"/>
              <a:buAutoNum type="arabicPeriod"/>
            </a:pPr>
            <a:r>
              <a:rPr lang="en-IN" sz="1600" dirty="0"/>
              <a:t>Generates final response</a:t>
            </a:r>
          </a:p>
        </p:txBody>
      </p:sp>
      <p:sp>
        <p:nvSpPr>
          <p:cNvPr id="5" name="Slide Number">
            <a:extLst>
              <a:ext uri="{FF2B5EF4-FFF2-40B4-BE49-F238E27FC236}">
                <a16:creationId xmlns:a16="http://schemas.microsoft.com/office/drawing/2014/main" id="{E1FB37A6-CE63-6151-FB8A-912ED19A837F}"/>
              </a:ext>
            </a:extLst>
          </p:cNvPr>
          <p:cNvSpPr txBox="1">
            <a:spLocks noGrp="1"/>
          </p:cNvSpPr>
          <p:nvPr>
            <p:ph type="sldNum" sz="quarter" idx="2"/>
          </p:nvPr>
        </p:nvSpPr>
        <p:spPr>
          <a:xfrm>
            <a:off x="8418883" y="381000"/>
            <a:ext cx="191717"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6</a:t>
            </a:r>
            <a:endParaRPr dirty="0"/>
          </a:p>
        </p:txBody>
      </p:sp>
    </p:spTree>
    <p:extLst>
      <p:ext uri="{BB962C8B-B14F-4D97-AF65-F5344CB8AC3E}">
        <p14:creationId xmlns:p14="http://schemas.microsoft.com/office/powerpoint/2010/main" val="187521188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C526-5B57-0192-D28A-0854D02C036A}"/>
            </a:ext>
          </a:extLst>
        </p:cNvPr>
        <p:cNvGrpSpPr/>
        <p:nvPr/>
      </p:nvGrpSpPr>
      <p:grpSpPr>
        <a:xfrm>
          <a:off x="0" y="0"/>
          <a:ext cx="0" cy="0"/>
          <a:chOff x="0" y="0"/>
          <a:chExt cx="0" cy="0"/>
        </a:xfrm>
      </p:grpSpPr>
      <p:sp>
        <p:nvSpPr>
          <p:cNvPr id="3" name="Motivation">
            <a:extLst>
              <a:ext uri="{FF2B5EF4-FFF2-40B4-BE49-F238E27FC236}">
                <a16:creationId xmlns:a16="http://schemas.microsoft.com/office/drawing/2014/main" id="{A952378B-D46F-88F6-E6B5-A939B3714CA6}"/>
              </a:ext>
            </a:extLst>
          </p:cNvPr>
          <p:cNvSpPr txBox="1">
            <a:spLocks noGrp="1"/>
          </p:cNvSpPr>
          <p:nvPr>
            <p:ph type="title"/>
          </p:nvPr>
        </p:nvSpPr>
        <p:spPr>
          <a:xfrm>
            <a:off x="1143000" y="1257300"/>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Functionalities of the Proposed System</a:t>
            </a:r>
            <a:endParaRPr sz="3200" dirty="0"/>
          </a:p>
        </p:txBody>
      </p:sp>
      <p:sp>
        <p:nvSpPr>
          <p:cNvPr id="4" name="Group">
            <a:extLst>
              <a:ext uri="{FF2B5EF4-FFF2-40B4-BE49-F238E27FC236}">
                <a16:creationId xmlns:a16="http://schemas.microsoft.com/office/drawing/2014/main" id="{8FC8B824-A607-F0BA-61F1-6F8A38484007}"/>
              </a:ext>
            </a:extLst>
          </p:cNvPr>
          <p:cNvSpPr/>
          <p:nvPr/>
        </p:nvSpPr>
        <p:spPr>
          <a:xfrm>
            <a:off x="685800" y="2249287"/>
            <a:ext cx="7772400" cy="38100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lang="en-IN" sz="1600" dirty="0"/>
              <a:t>System capabilities:</a:t>
            </a:r>
          </a:p>
          <a:p>
            <a:pPr marL="342900" indent="-342900">
              <a:buFont typeface="Arial" panose="020B0604020202020204" pitchFamily="34" charset="0"/>
              <a:buChar char="•"/>
            </a:pPr>
            <a:r>
              <a:rPr lang="en-IN" sz="1600" dirty="0"/>
              <a:t>Detect weak or incorrect retrieval</a:t>
            </a:r>
          </a:p>
          <a:p>
            <a:pPr marL="342900" indent="-342900">
              <a:buFont typeface="Arial" panose="020B0604020202020204" pitchFamily="34" charset="0"/>
              <a:buChar char="•"/>
            </a:pPr>
            <a:r>
              <a:rPr lang="en-IN" sz="1600" dirty="0"/>
              <a:t>Estimate confidence score of generated answers</a:t>
            </a:r>
          </a:p>
          <a:p>
            <a:pPr marL="342900" indent="-342900">
              <a:buFont typeface="Arial" panose="020B0604020202020204" pitchFamily="34" charset="0"/>
              <a:buChar char="•"/>
            </a:pPr>
            <a:r>
              <a:rPr lang="en-IN" sz="1600" dirty="0"/>
              <a:t>Identify hallucinations</a:t>
            </a:r>
          </a:p>
          <a:p>
            <a:pPr marL="342900" indent="-342900">
              <a:buFont typeface="Arial" panose="020B0604020202020204" pitchFamily="34" charset="0"/>
              <a:buChar char="•"/>
            </a:pPr>
            <a:r>
              <a:rPr lang="en-IN" sz="1600" dirty="0"/>
              <a:t>Trigger re-retrieval when needed</a:t>
            </a:r>
          </a:p>
          <a:p>
            <a:pPr marL="342900" indent="-342900">
              <a:buFont typeface="Arial" panose="020B0604020202020204" pitchFamily="34" charset="0"/>
              <a:buChar char="•"/>
            </a:pPr>
            <a:r>
              <a:rPr lang="en-IN" sz="1600" dirty="0"/>
              <a:t>Abstain from answering when confidence is low</a:t>
            </a:r>
          </a:p>
          <a:p>
            <a:pPr marL="342900" indent="-342900">
              <a:buFont typeface="Arial" panose="020B0604020202020204" pitchFamily="34" charset="0"/>
              <a:buChar char="•"/>
            </a:pPr>
            <a:r>
              <a:rPr lang="en-IN" sz="1600" dirty="0"/>
              <a:t>Improve reliability over time</a:t>
            </a:r>
          </a:p>
        </p:txBody>
      </p:sp>
      <p:sp>
        <p:nvSpPr>
          <p:cNvPr id="5" name="Slide Number">
            <a:extLst>
              <a:ext uri="{FF2B5EF4-FFF2-40B4-BE49-F238E27FC236}">
                <a16:creationId xmlns:a16="http://schemas.microsoft.com/office/drawing/2014/main" id="{42D54671-AAB9-65C1-4E77-0685C97E739B}"/>
              </a:ext>
            </a:extLst>
          </p:cNvPr>
          <p:cNvSpPr txBox="1">
            <a:spLocks noGrp="1"/>
          </p:cNvSpPr>
          <p:nvPr>
            <p:ph type="sldNum" sz="quarter" idx="2"/>
          </p:nvPr>
        </p:nvSpPr>
        <p:spPr>
          <a:xfrm>
            <a:off x="8418883" y="381000"/>
            <a:ext cx="191717"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6</a:t>
            </a:r>
            <a:endParaRPr dirty="0"/>
          </a:p>
        </p:txBody>
      </p:sp>
    </p:spTree>
    <p:extLst>
      <p:ext uri="{BB962C8B-B14F-4D97-AF65-F5344CB8AC3E}">
        <p14:creationId xmlns:p14="http://schemas.microsoft.com/office/powerpoint/2010/main" val="318182784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589" y="1333045"/>
            <a:ext cx="7315200" cy="887641"/>
          </a:xfrm>
        </p:spPr>
        <p:txBody>
          <a:bodyPr/>
          <a:lstStyle/>
          <a:p>
            <a:r>
              <a:rPr lang="en-US" sz="3200" dirty="0">
                <a:latin typeface="Times New Roman" panose="02020603050405020304" pitchFamily="18" charset="0"/>
                <a:cs typeface="Times New Roman" panose="02020603050405020304" pitchFamily="18" charset="0"/>
              </a:rPr>
              <a:t>Software/Tools Requirements</a:t>
            </a:r>
            <a:endParaRPr lang="en-IN" sz="3200" dirty="0">
              <a:latin typeface="Times New Roman" panose="02020603050405020304" pitchFamily="18" charset="0"/>
              <a:cs typeface="Times New Roman" panose="02020603050405020304" pitchFamily="18" charset="0"/>
            </a:endParaRP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13</a:t>
            </a:r>
            <a:endParaRPr dirty="0"/>
          </a:p>
        </p:txBody>
      </p:sp>
      <p:sp>
        <p:nvSpPr>
          <p:cNvPr id="6" name="TextBox 5">
            <a:extLst>
              <a:ext uri="{FF2B5EF4-FFF2-40B4-BE49-F238E27FC236}">
                <a16:creationId xmlns:a16="http://schemas.microsoft.com/office/drawing/2014/main" id="{B5BCF543-D5EA-F2DB-982E-FA7241D57B82}"/>
              </a:ext>
            </a:extLst>
          </p:cNvPr>
          <p:cNvSpPr txBox="1"/>
          <p:nvPr/>
        </p:nvSpPr>
        <p:spPr>
          <a:xfrm>
            <a:off x="1901536" y="2220686"/>
            <a:ext cx="457200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1800" dirty="0"/>
              <a:t>Programming language:</a:t>
            </a:r>
          </a:p>
          <a:p>
            <a:r>
              <a:rPr lang="en-IN" sz="1800" dirty="0"/>
              <a:t>Python</a:t>
            </a:r>
            <a:br>
              <a:rPr lang="en-IN" sz="1800" dirty="0"/>
            </a:br>
            <a:endParaRPr lang="en-IN" sz="1800" dirty="0"/>
          </a:p>
          <a:p>
            <a:r>
              <a:rPr lang="en-IN" sz="1800" dirty="0"/>
              <a:t>Frameworks:</a:t>
            </a:r>
          </a:p>
          <a:p>
            <a:pPr>
              <a:buFont typeface="Arial" panose="020B0604020202020204" pitchFamily="34" charset="0"/>
              <a:buChar char="•"/>
            </a:pPr>
            <a:r>
              <a:rPr lang="en-IN" sz="1800" dirty="0" err="1"/>
              <a:t>HuggingFace</a:t>
            </a:r>
            <a:r>
              <a:rPr lang="en-IN" sz="1800" dirty="0"/>
              <a:t> Transformers</a:t>
            </a:r>
          </a:p>
          <a:p>
            <a:pPr>
              <a:buFont typeface="Arial" panose="020B0604020202020204" pitchFamily="34" charset="0"/>
              <a:buChar char="•"/>
            </a:pPr>
            <a:r>
              <a:rPr lang="en-IN" sz="1800" dirty="0" err="1"/>
              <a:t>LangChain</a:t>
            </a:r>
            <a:r>
              <a:rPr lang="en-IN" sz="1800" dirty="0"/>
              <a:t> / </a:t>
            </a:r>
            <a:r>
              <a:rPr lang="en-IN" sz="1800" dirty="0" err="1"/>
              <a:t>LlamaIndex</a:t>
            </a:r>
            <a:br>
              <a:rPr lang="en-IN" sz="1800" dirty="0"/>
            </a:br>
            <a:endParaRPr lang="en-IN" sz="1800" dirty="0"/>
          </a:p>
          <a:p>
            <a:r>
              <a:rPr lang="en-IN" sz="1800" dirty="0"/>
              <a:t>Models:</a:t>
            </a:r>
          </a:p>
          <a:p>
            <a:pPr>
              <a:buFont typeface="Arial" panose="020B0604020202020204" pitchFamily="34" charset="0"/>
              <a:buChar char="•"/>
            </a:pPr>
            <a:r>
              <a:rPr lang="en-IN" sz="1800" dirty="0"/>
              <a:t>Embedding model: BGE-large or </a:t>
            </a:r>
            <a:r>
              <a:rPr lang="en-IN" sz="1800" dirty="0" err="1"/>
              <a:t>MiniLM</a:t>
            </a:r>
            <a:endParaRPr lang="en-IN" sz="1800" dirty="0"/>
          </a:p>
          <a:p>
            <a:pPr>
              <a:buFont typeface="Arial" panose="020B0604020202020204" pitchFamily="34" charset="0"/>
              <a:buChar char="•"/>
            </a:pPr>
            <a:r>
              <a:rPr lang="en-IN" sz="1800" dirty="0"/>
              <a:t>Generator model: Mistral-7B</a:t>
            </a:r>
            <a:br>
              <a:rPr lang="en-IN" sz="1800" dirty="0"/>
            </a:br>
            <a:endParaRPr lang="en-IN" sz="1800" dirty="0"/>
          </a:p>
          <a:p>
            <a:r>
              <a:rPr lang="en-IN" sz="1800" dirty="0"/>
              <a:t>Development platform:</a:t>
            </a:r>
          </a:p>
          <a:p>
            <a:r>
              <a:rPr lang="en-IN" sz="1800" dirty="0"/>
              <a:t>Kaggle GPU environment</a:t>
            </a:r>
          </a:p>
        </p:txBody>
      </p:sp>
    </p:spTree>
    <p:extLst>
      <p:ext uri="{BB962C8B-B14F-4D97-AF65-F5344CB8AC3E}">
        <p14:creationId xmlns:p14="http://schemas.microsoft.com/office/powerpoint/2010/main" val="24165294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953589" y="1010911"/>
            <a:ext cx="7315200" cy="887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a:lstStyle>
          <a:p>
            <a:pPr hangingPunct="1"/>
            <a:r>
              <a:rPr lang="en-IN" sz="3200" dirty="0">
                <a:latin typeface="Times New Roman" panose="02020603050405020304" pitchFamily="18" charset="0"/>
                <a:cs typeface="Times New Roman" panose="02020603050405020304" pitchFamily="18" charset="0"/>
              </a:rPr>
              <a:t>Data Set </a:t>
            </a:r>
            <a:r>
              <a:rPr lang="en-IN" sz="2400" dirty="0">
                <a:solidFill>
                  <a:srgbClr val="FF0000"/>
                </a:solidFill>
                <a:latin typeface="Times New Roman" panose="02020603050405020304" pitchFamily="18" charset="0"/>
                <a:cs typeface="Times New Roman" panose="02020603050405020304" pitchFamily="18" charset="0"/>
              </a:rPr>
              <a:t>&lt;&lt;optional&gt;&gt;</a:t>
            </a:r>
          </a:p>
        </p:txBody>
      </p:sp>
      <p:sp>
        <p:nvSpPr>
          <p:cNvPr id="4" name="TextBox 3"/>
          <p:cNvSpPr txBox="1"/>
          <p:nvPr/>
        </p:nvSpPr>
        <p:spPr>
          <a:xfrm>
            <a:off x="627017" y="1690289"/>
            <a:ext cx="7968343"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IN" sz="2400" dirty="0"/>
              <a:t>Source of data set: </a:t>
            </a:r>
          </a:p>
          <a:p>
            <a:r>
              <a:rPr lang="en-IN" sz="2000" dirty="0">
                <a:solidFill>
                  <a:srgbClr val="FF0000"/>
                </a:solidFill>
              </a:rPr>
              <a:t>&lt;&lt;URL of the website from where data set is obtained&gt;&gt;</a:t>
            </a:r>
          </a:p>
          <a:p>
            <a:r>
              <a:rPr lang="en-US" sz="2000" dirty="0">
                <a:solidFill>
                  <a:srgbClr val="FF0000"/>
                </a:solidFill>
              </a:rPr>
              <a:t>&lt;&lt;Description&gt;&gt;</a:t>
            </a:r>
            <a:endParaRPr lang="en-IN" sz="2000" dirty="0">
              <a:solidFill>
                <a:srgbClr val="FF0000"/>
              </a:solidFill>
            </a:endParaRP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14</a:t>
            </a:r>
            <a:endParaRPr dirty="0"/>
          </a:p>
        </p:txBody>
      </p:sp>
    </p:spTree>
    <p:extLst>
      <p:ext uri="{BB962C8B-B14F-4D97-AF65-F5344CB8AC3E}">
        <p14:creationId xmlns:p14="http://schemas.microsoft.com/office/powerpoint/2010/main" val="8480680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96E9-382B-B84C-AAC3-46A960F0BB12}"/>
              </a:ext>
            </a:extLst>
          </p:cNvPr>
          <p:cNvSpPr>
            <a:spLocks noGrp="1"/>
          </p:cNvSpPr>
          <p:nvPr>
            <p:ph type="title"/>
          </p:nvPr>
        </p:nvSpPr>
        <p:spPr>
          <a:xfrm>
            <a:off x="381001" y="955885"/>
            <a:ext cx="8229600" cy="740439"/>
          </a:xfrm>
        </p:spPr>
        <p:txBody>
          <a:bodyPr/>
          <a:lstStyle/>
          <a:p>
            <a:r>
              <a:rPr lang="en-US" sz="3200" dirty="0">
                <a:latin typeface="Times New Roman"/>
                <a:cs typeface="Times New Roman"/>
                <a:sym typeface="Times New Roman"/>
              </a:rPr>
              <a:t>Timeline</a:t>
            </a:r>
          </a:p>
        </p:txBody>
      </p:sp>
      <p:graphicFrame>
        <p:nvGraphicFramePr>
          <p:cNvPr id="3" name="Diagram 2">
            <a:extLst>
              <a:ext uri="{FF2B5EF4-FFF2-40B4-BE49-F238E27FC236}">
                <a16:creationId xmlns:a16="http://schemas.microsoft.com/office/drawing/2014/main" id="{8A60269A-FA76-F14A-9D24-81B24F1694DD}"/>
              </a:ext>
            </a:extLst>
          </p:cNvPr>
          <p:cNvGraphicFramePr/>
          <p:nvPr>
            <p:extLst>
              <p:ext uri="{D42A27DB-BD31-4B8C-83A1-F6EECF244321}">
                <p14:modId xmlns:p14="http://schemas.microsoft.com/office/powerpoint/2010/main" val="1947624463"/>
              </p:ext>
            </p:extLst>
          </p:nvPr>
        </p:nvGraphicFramePr>
        <p:xfrm>
          <a:off x="143436" y="1532966"/>
          <a:ext cx="8794376" cy="478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80FACD9C-967E-6147-9271-D86550BAFC15}"/>
              </a:ext>
            </a:extLst>
          </p:cNvPr>
          <p:cNvSpPr>
            <a:spLocks noGrp="1"/>
          </p:cNvSpPr>
          <p:nvPr>
            <p:ph type="sldNum" sz="quarter" idx="2"/>
          </p:nvPr>
        </p:nvSpPr>
        <p:spPr/>
        <p:txBody>
          <a:bodyPr/>
          <a:lstStyle/>
          <a:p>
            <a:fld id="{86CB4B4D-7CA3-9044-876B-883B54F8677D}" type="slidenum">
              <a:rPr lang="en-IN" smtClean="0"/>
              <a:t>12</a:t>
            </a:fld>
            <a:endParaRPr lang="en-IN"/>
          </a:p>
        </p:txBody>
      </p:sp>
    </p:spTree>
    <p:extLst>
      <p:ext uri="{BB962C8B-B14F-4D97-AF65-F5344CB8AC3E}">
        <p14:creationId xmlns:p14="http://schemas.microsoft.com/office/powerpoint/2010/main" val="12076176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7" y="1137103"/>
            <a:ext cx="8229600" cy="1005206"/>
          </a:xfrm>
        </p:spPr>
        <p:txBody>
          <a:bodyPr/>
          <a:lstStyle/>
          <a:p>
            <a:r>
              <a:rPr lang="en-US" sz="3200" dirty="0">
                <a:latin typeface="Times New Roman"/>
                <a:cs typeface="Times New Roman"/>
              </a:rPr>
              <a:t>Conclusion</a:t>
            </a:r>
            <a:endParaRPr lang="en-IN" sz="3200" dirty="0">
              <a:latin typeface="Times New Roman"/>
              <a:cs typeface="Times New Roman"/>
            </a:endParaRPr>
          </a:p>
        </p:txBody>
      </p:sp>
      <p:sp>
        <p:nvSpPr>
          <p:cNvPr id="3" name="Slide Number Placeholder 2">
            <a:extLst>
              <a:ext uri="{FF2B5EF4-FFF2-40B4-BE49-F238E27FC236}">
                <a16:creationId xmlns:a16="http://schemas.microsoft.com/office/drawing/2014/main" id="{3068D77C-120F-6344-B7B5-1FCADC3AAC31}"/>
              </a:ext>
            </a:extLst>
          </p:cNvPr>
          <p:cNvSpPr>
            <a:spLocks noGrp="1"/>
          </p:cNvSpPr>
          <p:nvPr>
            <p:ph type="sldNum" sz="quarter" idx="2"/>
          </p:nvPr>
        </p:nvSpPr>
        <p:spPr/>
        <p:txBody>
          <a:bodyPr/>
          <a:lstStyle/>
          <a:p>
            <a:fld id="{86CB4B4D-7CA3-9044-876B-883B54F8677D}" type="slidenum">
              <a:rPr lang="en-IN" smtClean="0"/>
              <a:t>13</a:t>
            </a:fld>
            <a:endParaRPr lang="en-IN"/>
          </a:p>
        </p:txBody>
      </p:sp>
      <p:sp>
        <p:nvSpPr>
          <p:cNvPr id="5" name="TextBox 4">
            <a:extLst>
              <a:ext uri="{FF2B5EF4-FFF2-40B4-BE49-F238E27FC236}">
                <a16:creationId xmlns:a16="http://schemas.microsoft.com/office/drawing/2014/main" id="{EEA1CEA2-3F60-CCBD-0352-543935BA1F1B}"/>
              </a:ext>
            </a:extLst>
          </p:cNvPr>
          <p:cNvSpPr txBox="1"/>
          <p:nvPr/>
        </p:nvSpPr>
        <p:spPr>
          <a:xfrm>
            <a:off x="1396636" y="2416103"/>
            <a:ext cx="6324601" cy="2585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1800" dirty="0"/>
              <a:t>This project proposes a failure-aware adaptive RAG system that:</a:t>
            </a:r>
          </a:p>
          <a:p>
            <a:pPr>
              <a:buFont typeface="Arial" panose="020B0604020202020204" pitchFamily="34" charset="0"/>
              <a:buChar char="•"/>
            </a:pPr>
            <a:r>
              <a:rPr lang="en-IN" sz="1800" dirty="0"/>
              <a:t>Detects unreliable responses</a:t>
            </a:r>
          </a:p>
          <a:p>
            <a:pPr>
              <a:buFont typeface="Arial" panose="020B0604020202020204" pitchFamily="34" charset="0"/>
              <a:buChar char="•"/>
            </a:pPr>
            <a:r>
              <a:rPr lang="en-IN" sz="1800" dirty="0"/>
              <a:t>Estimates confidence accurately</a:t>
            </a:r>
          </a:p>
          <a:p>
            <a:pPr>
              <a:buFont typeface="Arial" panose="020B0604020202020204" pitchFamily="34" charset="0"/>
              <a:buChar char="•"/>
            </a:pPr>
            <a:r>
              <a:rPr lang="en-IN" sz="1800" dirty="0"/>
              <a:t>Reduces hallucinations</a:t>
            </a:r>
          </a:p>
          <a:p>
            <a:pPr>
              <a:buFont typeface="Arial" panose="020B0604020202020204" pitchFamily="34" charset="0"/>
              <a:buChar char="•"/>
            </a:pPr>
            <a:r>
              <a:rPr lang="en-IN" sz="1800" dirty="0"/>
              <a:t>Improves reliability and trustworthiness</a:t>
            </a:r>
          </a:p>
          <a:p>
            <a:br>
              <a:rPr lang="en-IN" sz="1800" dirty="0"/>
            </a:br>
            <a:endParaRPr lang="en-IN" sz="1800" dirty="0"/>
          </a:p>
          <a:p>
            <a:r>
              <a:rPr lang="en-IN" sz="1800" dirty="0"/>
              <a:t>This system addresses critical limitations of existing RAG systems and enables safe deployment in real-world applications.</a:t>
            </a:r>
          </a:p>
        </p:txBody>
      </p:sp>
    </p:spTree>
    <p:extLst>
      <p:ext uri="{BB962C8B-B14F-4D97-AF65-F5344CB8AC3E}">
        <p14:creationId xmlns:p14="http://schemas.microsoft.com/office/powerpoint/2010/main" val="320774424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sp>
        <p:nvSpPr>
          <p:cNvPr id="210" name="References"/>
          <p:cNvSpPr txBox="1">
            <a:spLocks noGrp="1"/>
          </p:cNvSpPr>
          <p:nvPr>
            <p:ph type="title"/>
          </p:nvPr>
        </p:nvSpPr>
        <p:spPr>
          <a:xfrm>
            <a:off x="977537" y="1036320"/>
            <a:ext cx="6858000" cy="808038"/>
          </a:xfrm>
          <a:prstGeom prst="rect">
            <a:avLst/>
          </a:prstGeom>
        </p:spPr>
        <p:txBody>
          <a:bodyPr>
            <a:normAutofit/>
          </a:bodyPr>
          <a:lstStyle/>
          <a:p>
            <a:r>
              <a:rPr sz="3200" dirty="0">
                <a:latin typeface="Times New Roman"/>
                <a:cs typeface="Times New Roman"/>
              </a:rPr>
              <a:t>References</a:t>
            </a:r>
          </a:p>
        </p:txBody>
      </p:sp>
      <p:sp>
        <p:nvSpPr>
          <p:cNvPr id="3" name="TextBox 2">
            <a:extLst>
              <a:ext uri="{FF2B5EF4-FFF2-40B4-BE49-F238E27FC236}">
                <a16:creationId xmlns:a16="http://schemas.microsoft.com/office/drawing/2014/main" id="{20969E78-3C83-13C3-8700-6481BB45ACF0}"/>
              </a:ext>
            </a:extLst>
          </p:cNvPr>
          <p:cNvSpPr txBox="1"/>
          <p:nvPr/>
        </p:nvSpPr>
        <p:spPr>
          <a:xfrm>
            <a:off x="543683" y="1844358"/>
            <a:ext cx="8184776" cy="21698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GB" sz="1700" b="0" dirty="0">
                <a:solidFill>
                  <a:srgbClr val="222222"/>
                </a:solidFill>
                <a:effectLst/>
                <a:latin typeface="Times New Roman" panose="02020603050405020304" pitchFamily="18" charset="0"/>
                <a:cs typeface="Times New Roman" panose="02020603050405020304" pitchFamily="18" charset="0"/>
              </a:rPr>
              <a:t>[1] Ezekiel, P., O. Taylor, and D. </a:t>
            </a:r>
            <a:r>
              <a:rPr lang="en-GB" sz="1700" b="0" dirty="0" err="1">
                <a:solidFill>
                  <a:srgbClr val="222222"/>
                </a:solidFill>
                <a:effectLst/>
                <a:latin typeface="Times New Roman" panose="02020603050405020304" pitchFamily="18" charset="0"/>
                <a:cs typeface="Times New Roman" panose="02020603050405020304" pitchFamily="18" charset="0"/>
              </a:rPr>
              <a:t>Sako</a:t>
            </a:r>
            <a:r>
              <a:rPr lang="en-GB" sz="1700" b="0" dirty="0">
                <a:solidFill>
                  <a:srgbClr val="222222"/>
                </a:solidFill>
                <a:effectLst/>
                <a:latin typeface="Times New Roman" panose="02020603050405020304" pitchFamily="18" charset="0"/>
                <a:cs typeface="Times New Roman" panose="02020603050405020304" pitchFamily="18" charset="0"/>
              </a:rPr>
              <a:t>. “Smart system for potholes detection using computer vision with transfer learning”, International J</a:t>
            </a:r>
            <a:r>
              <a:rPr lang="en-GB" sz="1700" dirty="0">
                <a:solidFill>
                  <a:srgbClr val="222222"/>
                </a:solidFill>
                <a:latin typeface="Times New Roman" panose="02020603050405020304" pitchFamily="18" charset="0"/>
                <a:cs typeface="Times New Roman" panose="02020603050405020304" pitchFamily="18" charset="0"/>
              </a:rPr>
              <a:t>ournal of </a:t>
            </a:r>
            <a:r>
              <a:rPr lang="en-GB" sz="1700" b="0" dirty="0">
                <a:solidFill>
                  <a:srgbClr val="222222"/>
                </a:solidFill>
                <a:effectLst/>
                <a:latin typeface="Times New Roman" panose="02020603050405020304" pitchFamily="18" charset="0"/>
                <a:cs typeface="Times New Roman" panose="02020603050405020304" pitchFamily="18" charset="0"/>
              </a:rPr>
              <a:t>Innov</a:t>
            </a:r>
            <a:r>
              <a:rPr lang="en-GB" sz="1700" dirty="0">
                <a:solidFill>
                  <a:srgbClr val="222222"/>
                </a:solidFill>
                <a:latin typeface="Times New Roman" panose="02020603050405020304" pitchFamily="18" charset="0"/>
                <a:cs typeface="Times New Roman" panose="02020603050405020304" pitchFamily="18" charset="0"/>
              </a:rPr>
              <a:t>ation</a:t>
            </a:r>
            <a:r>
              <a:rPr lang="en-GB" sz="1700" b="0" dirty="0">
                <a:solidFill>
                  <a:srgbClr val="222222"/>
                </a:solidFill>
                <a:effectLst/>
                <a:latin typeface="Times New Roman" panose="02020603050405020304" pitchFamily="18" charset="0"/>
                <a:cs typeface="Times New Roman" panose="02020603050405020304" pitchFamily="18" charset="0"/>
              </a:rPr>
              <a:t> Science Res</a:t>
            </a:r>
            <a:r>
              <a:rPr lang="en-GB" sz="1700" dirty="0">
                <a:solidFill>
                  <a:srgbClr val="222222"/>
                </a:solidFill>
                <a:latin typeface="Times New Roman" panose="02020603050405020304" pitchFamily="18" charset="0"/>
                <a:cs typeface="Times New Roman" panose="02020603050405020304" pitchFamily="18" charset="0"/>
              </a:rPr>
              <a:t>earch &amp;</a:t>
            </a:r>
            <a:r>
              <a:rPr lang="en-GB" sz="1700" b="0" dirty="0">
                <a:solidFill>
                  <a:srgbClr val="222222"/>
                </a:solidFill>
                <a:effectLst/>
                <a:latin typeface="Times New Roman" panose="02020603050405020304" pitchFamily="18" charset="0"/>
                <a:cs typeface="Times New Roman" panose="02020603050405020304" pitchFamily="18" charset="0"/>
              </a:rPr>
              <a:t> Technology</a:t>
            </a:r>
            <a:r>
              <a:rPr lang="en-GB" sz="1700" dirty="0">
                <a:solidFill>
                  <a:srgbClr val="222222"/>
                </a:solidFill>
                <a:latin typeface="Times New Roman" panose="02020603050405020304" pitchFamily="18" charset="0"/>
                <a:cs typeface="Times New Roman" panose="02020603050405020304" pitchFamily="18" charset="0"/>
              </a:rPr>
              <a:t>, Vol. </a:t>
            </a:r>
            <a:r>
              <a:rPr lang="en-GB" sz="1700" b="0" dirty="0">
                <a:solidFill>
                  <a:srgbClr val="222222"/>
                </a:solidFill>
                <a:effectLst/>
                <a:latin typeface="Times New Roman" panose="02020603050405020304" pitchFamily="18" charset="0"/>
                <a:cs typeface="Times New Roman" panose="02020603050405020304" pitchFamily="18" charset="0"/>
              </a:rPr>
              <a:t>6, No. 7, pp.: 1385-1393, 2021. </a:t>
            </a:r>
            <a:r>
              <a:rPr lang="en-GB" sz="1600" b="0" dirty="0">
                <a:solidFill>
                  <a:srgbClr val="FF0000"/>
                </a:solidFill>
                <a:effectLst/>
                <a:latin typeface="Times New Roman" panose="02020603050405020304" pitchFamily="18" charset="0"/>
                <a:cs typeface="Times New Roman" panose="02020603050405020304" pitchFamily="18" charset="0"/>
              </a:rPr>
              <a:t>&lt;&lt;Strictly follow this format - IEEE format&gt;&gt;</a:t>
            </a:r>
          </a:p>
          <a:p>
            <a:pPr algn="just"/>
            <a:endParaRPr lang="en-GB" sz="1700" dirty="0">
              <a:solidFill>
                <a:srgbClr val="222222"/>
              </a:solidFill>
              <a:latin typeface="Times New Roman" panose="02020603050405020304" pitchFamily="18" charset="0"/>
              <a:cs typeface="Times New Roman" panose="02020603050405020304" pitchFamily="18" charset="0"/>
            </a:endParaRPr>
          </a:p>
          <a:p>
            <a:pPr algn="just"/>
            <a:r>
              <a:rPr lang="en-GB" sz="1700" dirty="0">
                <a:solidFill>
                  <a:srgbClr val="222222"/>
                </a:solidFill>
                <a:latin typeface="Times New Roman" panose="02020603050405020304" pitchFamily="18" charset="0"/>
                <a:cs typeface="Times New Roman" panose="02020603050405020304" pitchFamily="18" charset="0"/>
              </a:rPr>
              <a:t>[2] </a:t>
            </a:r>
          </a:p>
          <a:p>
            <a:pPr algn="just"/>
            <a:endParaRPr lang="en-GB" sz="1700" dirty="0">
              <a:solidFill>
                <a:srgbClr val="222222"/>
              </a:solidFill>
              <a:latin typeface="Times New Roman" panose="02020603050405020304" pitchFamily="18" charset="0"/>
              <a:cs typeface="Times New Roman" panose="02020603050405020304" pitchFamily="18" charset="0"/>
            </a:endParaRPr>
          </a:p>
          <a:p>
            <a:pPr algn="just"/>
            <a:r>
              <a:rPr lang="en-US" sz="1700" dirty="0">
                <a:latin typeface="Times New Roman" panose="02020603050405020304" pitchFamily="18" charset="0"/>
                <a:cs typeface="Times New Roman" panose="02020603050405020304" pitchFamily="18" charset="0"/>
              </a:rPr>
              <a:t>[3]</a:t>
            </a:r>
            <a:endParaRPr lang="en-IN" sz="17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809149"/>
            <a:ext cx="8229600" cy="1508126"/>
          </a:xfrm>
        </p:spPr>
        <p:txBody>
          <a:bodyPr/>
          <a:lstStyle/>
          <a:p>
            <a:r>
              <a:rPr lang="en-US" sz="4400" dirty="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721A96B-8B05-BD49-B6F0-8D4DA60AFD49}"/>
              </a:ext>
            </a:extLst>
          </p:cNvPr>
          <p:cNvSpPr>
            <a:spLocks noGrp="1"/>
          </p:cNvSpPr>
          <p:nvPr>
            <p:ph type="sldNum" sz="quarter" idx="2"/>
          </p:nvPr>
        </p:nvSpPr>
        <p:spPr/>
        <p:txBody>
          <a:bodyPr/>
          <a:lstStyle/>
          <a:p>
            <a:fld id="{86CB4B4D-7CA3-9044-876B-883B54F8677D}" type="slidenum">
              <a:rPr lang="en-IN" smtClean="0"/>
              <a:t>15</a:t>
            </a:fld>
            <a:endParaRPr lang="en-IN"/>
          </a:p>
        </p:txBody>
      </p:sp>
    </p:spTree>
    <p:extLst>
      <p:ext uri="{BB962C8B-B14F-4D97-AF65-F5344CB8AC3E}">
        <p14:creationId xmlns:p14="http://schemas.microsoft.com/office/powerpoint/2010/main" val="2290172774"/>
      </p:ext>
    </p:extLst>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8022</TotalTime>
  <Words>987</Words>
  <Application>Microsoft Macintosh PowerPoint</Application>
  <PresentationFormat>On-screen Show (4:3)</PresentationFormat>
  <Paragraphs>172</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11_Default Design</vt:lpstr>
      <vt:lpstr>Failure-Aware and Confidence-Calibrated Adaptive Retrieval-Augmented Generation System 23CSE399 Project Phase 1 – Approval Presentation  Team ID: 23UG031   Panel No.:20 </vt:lpstr>
      <vt:lpstr>Screenshot of your guides’ approval mail (to go ahead with the presentation)</vt:lpstr>
      <vt:lpstr>Problem Definition</vt:lpstr>
      <vt:lpstr>Literature Survey</vt:lpstr>
      <vt:lpstr>Literature Survey</vt:lpstr>
      <vt:lpstr>Literature Survey</vt:lpstr>
      <vt:lpstr>Justification for the Proposed Problem</vt:lpstr>
      <vt:lpstr>Architecture of the Proposed System</vt:lpstr>
      <vt:lpstr>Functionalities of the Proposed System</vt:lpstr>
      <vt:lpstr>Software/Tools Requirements</vt:lpstr>
      <vt:lpstr>PowerPoint Presentation</vt:lpstr>
      <vt:lpstr>Timeline</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RAVVA SIDDHARTHA-[BL.EN.U4CSE23246]</cp:lastModifiedBy>
  <cp:revision>168</cp:revision>
  <dcterms:modified xsi:type="dcterms:W3CDTF">2026-02-18T01:53:35Z</dcterms:modified>
</cp:coreProperties>
</file>